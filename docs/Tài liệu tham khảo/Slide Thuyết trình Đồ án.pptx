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8" r:id="rId14"/>
    <p:sldId id="269" r:id="rId15"/>
    <p:sldId id="270" r:id="rId16"/>
    <p:sldId id="271" r:id="rId17"/>
    <p:sldId id="272" r:id="rId18"/>
    <p:sldId id="273" r:id="rId19"/>
    <p:sldId id="274" r:id="rId20"/>
    <p:sldId id="275" r:id="rId21"/>
    <p:sldId id="276" r:id="rId22"/>
    <p:sldId id="277" r:id="rId23"/>
    <p:sldId id="278" r:id="rId24"/>
    <p:sldId id="289" r:id="rId25"/>
    <p:sldId id="29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9E2AE6-FD0E-45BC-A1D3-26FC2DE18439}" v="49" dt="2026-06-04T03:07:08.9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90" d="100"/>
          <a:sy n="90" d="100"/>
        </p:scale>
        <p:origin x="8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ơn Nguyễn Tư" userId="b5c3540c197f31ba" providerId="LiveId" clId="{88B85307-4E71-4835-8D5D-0384D6F49E9B}"/>
    <pc:docChg chg="undo custSel addSld delSld modSld sldOrd modMainMaster">
      <pc:chgData name="Sơn Nguyễn Tư" userId="b5c3540c197f31ba" providerId="LiveId" clId="{88B85307-4E71-4835-8D5D-0384D6F49E9B}" dt="2026-06-04T03:07:08.916" v="1005"/>
      <pc:docMkLst>
        <pc:docMk/>
      </pc:docMkLst>
      <pc:sldChg chg="modTransition">
        <pc:chgData name="Sơn Nguyễn Tư" userId="b5c3540c197f31ba" providerId="LiveId" clId="{88B85307-4E71-4835-8D5D-0384D6F49E9B}" dt="2026-06-04T03:07:08.916" v="1005"/>
        <pc:sldMkLst>
          <pc:docMk/>
          <pc:sldMk cId="0" sldId="256"/>
        </pc:sldMkLst>
      </pc:sldChg>
      <pc:sldChg chg="modSp mod modTransition">
        <pc:chgData name="Sơn Nguyễn Tư" userId="b5c3540c197f31ba" providerId="LiveId" clId="{88B85307-4E71-4835-8D5D-0384D6F49E9B}" dt="2026-06-04T03:07:08.916" v="1005"/>
        <pc:sldMkLst>
          <pc:docMk/>
          <pc:sldMk cId="0" sldId="257"/>
        </pc:sldMkLst>
        <pc:spChg chg="mod">
          <ac:chgData name="Sơn Nguyễn Tư" userId="b5c3540c197f31ba" providerId="LiveId" clId="{88B85307-4E71-4835-8D5D-0384D6F49E9B}" dt="2026-05-30T03:14:15.200" v="248" actId="20577"/>
          <ac:spMkLst>
            <pc:docMk/>
            <pc:sldMk cId="0" sldId="257"/>
            <ac:spMk id="15" creationId="{00000000-0000-0000-0000-000000000000}"/>
          </ac:spMkLst>
        </pc:spChg>
      </pc:sldChg>
      <pc:sldChg chg="modTransition">
        <pc:chgData name="Sơn Nguyễn Tư" userId="b5c3540c197f31ba" providerId="LiveId" clId="{88B85307-4E71-4835-8D5D-0384D6F49E9B}" dt="2026-06-04T03:07:08.916" v="1005"/>
        <pc:sldMkLst>
          <pc:docMk/>
          <pc:sldMk cId="0" sldId="258"/>
        </pc:sldMkLst>
      </pc:sldChg>
      <pc:sldChg chg="modTransition">
        <pc:chgData name="Sơn Nguyễn Tư" userId="b5c3540c197f31ba" providerId="LiveId" clId="{88B85307-4E71-4835-8D5D-0384D6F49E9B}" dt="2026-06-04T03:07:08.916" v="1005"/>
        <pc:sldMkLst>
          <pc:docMk/>
          <pc:sldMk cId="0" sldId="259"/>
        </pc:sldMkLst>
      </pc:sldChg>
      <pc:sldChg chg="delSp modSp mod modTransition">
        <pc:chgData name="Sơn Nguyễn Tư" userId="b5c3540c197f31ba" providerId="LiveId" clId="{88B85307-4E71-4835-8D5D-0384D6F49E9B}" dt="2026-06-04T03:07:08.916" v="1005"/>
        <pc:sldMkLst>
          <pc:docMk/>
          <pc:sldMk cId="0" sldId="260"/>
        </pc:sldMkLst>
        <pc:spChg chg="del">
          <ac:chgData name="Sơn Nguyễn Tư" userId="b5c3540c197f31ba" providerId="LiveId" clId="{88B85307-4E71-4835-8D5D-0384D6F49E9B}" dt="2026-06-03T05:08:15.866" v="411" actId="478"/>
          <ac:spMkLst>
            <pc:docMk/>
            <pc:sldMk cId="0" sldId="260"/>
            <ac:spMk id="5" creationId="{00000000-0000-0000-0000-000000000000}"/>
          </ac:spMkLst>
        </pc:spChg>
        <pc:spChg chg="mod">
          <ac:chgData name="Sơn Nguyễn Tư" userId="b5c3540c197f31ba" providerId="LiveId" clId="{88B85307-4E71-4835-8D5D-0384D6F49E9B}" dt="2026-06-03T05:08:03.010" v="408" actId="1037"/>
          <ac:spMkLst>
            <pc:docMk/>
            <pc:sldMk cId="0" sldId="260"/>
            <ac:spMk id="7" creationId="{00000000-0000-0000-0000-000000000000}"/>
          </ac:spMkLst>
        </pc:spChg>
        <pc:spChg chg="mod">
          <ac:chgData name="Sơn Nguyễn Tư" userId="b5c3540c197f31ba" providerId="LiveId" clId="{88B85307-4E71-4835-8D5D-0384D6F49E9B}" dt="2026-06-03T05:08:03.010" v="408" actId="1037"/>
          <ac:spMkLst>
            <pc:docMk/>
            <pc:sldMk cId="0" sldId="260"/>
            <ac:spMk id="8" creationId="{00000000-0000-0000-0000-000000000000}"/>
          </ac:spMkLst>
        </pc:spChg>
        <pc:spChg chg="mod">
          <ac:chgData name="Sơn Nguyễn Tư" userId="b5c3540c197f31ba" providerId="LiveId" clId="{88B85307-4E71-4835-8D5D-0384D6F49E9B}" dt="2026-06-03T05:08:03.010" v="408" actId="1037"/>
          <ac:spMkLst>
            <pc:docMk/>
            <pc:sldMk cId="0" sldId="260"/>
            <ac:spMk id="9" creationId="{00000000-0000-0000-0000-000000000000}"/>
          </ac:spMkLst>
        </pc:spChg>
        <pc:spChg chg="mod">
          <ac:chgData name="Sơn Nguyễn Tư" userId="b5c3540c197f31ba" providerId="LiveId" clId="{88B85307-4E71-4835-8D5D-0384D6F49E9B}" dt="2026-06-03T05:08:03.010" v="408" actId="1037"/>
          <ac:spMkLst>
            <pc:docMk/>
            <pc:sldMk cId="0" sldId="260"/>
            <ac:spMk id="10" creationId="{00000000-0000-0000-0000-000000000000}"/>
          </ac:spMkLst>
        </pc:spChg>
        <pc:spChg chg="mod">
          <ac:chgData name="Sơn Nguyễn Tư" userId="b5c3540c197f31ba" providerId="LiveId" clId="{88B85307-4E71-4835-8D5D-0384D6F49E9B}" dt="2026-05-30T03:03:27.205" v="226" actId="20577"/>
          <ac:spMkLst>
            <pc:docMk/>
            <pc:sldMk cId="0" sldId="260"/>
            <ac:spMk id="12" creationId="{00000000-0000-0000-0000-000000000000}"/>
          </ac:spMkLst>
        </pc:spChg>
        <pc:spChg chg="mod">
          <ac:chgData name="Sơn Nguyễn Tư" userId="b5c3540c197f31ba" providerId="LiveId" clId="{88B85307-4E71-4835-8D5D-0384D6F49E9B}" dt="2026-06-03T05:08:03.010" v="408" actId="1037"/>
          <ac:spMkLst>
            <pc:docMk/>
            <pc:sldMk cId="0" sldId="260"/>
            <ac:spMk id="13" creationId="{00000000-0000-0000-0000-000000000000}"/>
          </ac:spMkLst>
        </pc:spChg>
        <pc:spChg chg="mod">
          <ac:chgData name="Sơn Nguyễn Tư" userId="b5c3540c197f31ba" providerId="LiveId" clId="{88B85307-4E71-4835-8D5D-0384D6F49E9B}" dt="2026-06-03T05:08:03.010" v="408" actId="1037"/>
          <ac:spMkLst>
            <pc:docMk/>
            <pc:sldMk cId="0" sldId="260"/>
            <ac:spMk id="14" creationId="{00000000-0000-0000-0000-000000000000}"/>
          </ac:spMkLst>
        </pc:spChg>
        <pc:spChg chg="mod">
          <ac:chgData name="Sơn Nguyễn Tư" userId="b5c3540c197f31ba" providerId="LiveId" clId="{88B85307-4E71-4835-8D5D-0384D6F49E9B}" dt="2026-06-03T05:08:03.010" v="408" actId="1037"/>
          <ac:spMkLst>
            <pc:docMk/>
            <pc:sldMk cId="0" sldId="260"/>
            <ac:spMk id="15" creationId="{00000000-0000-0000-0000-000000000000}"/>
          </ac:spMkLst>
        </pc:spChg>
        <pc:spChg chg="mod">
          <ac:chgData name="Sơn Nguyễn Tư" userId="b5c3540c197f31ba" providerId="LiveId" clId="{88B85307-4E71-4835-8D5D-0384D6F49E9B}" dt="2026-06-03T05:08:03.010" v="408" actId="1037"/>
          <ac:spMkLst>
            <pc:docMk/>
            <pc:sldMk cId="0" sldId="260"/>
            <ac:spMk id="16" creationId="{00000000-0000-0000-0000-000000000000}"/>
          </ac:spMkLst>
        </pc:spChg>
        <pc:spChg chg="mod">
          <ac:chgData name="Sơn Nguyễn Tư" userId="b5c3540c197f31ba" providerId="LiveId" clId="{88B85307-4E71-4835-8D5D-0384D6F49E9B}" dt="2026-06-03T05:08:03.010" v="408" actId="1037"/>
          <ac:spMkLst>
            <pc:docMk/>
            <pc:sldMk cId="0" sldId="260"/>
            <ac:spMk id="17" creationId="{00000000-0000-0000-0000-000000000000}"/>
          </ac:spMkLst>
        </pc:spChg>
        <pc:spChg chg="mod">
          <ac:chgData name="Sơn Nguyễn Tư" userId="b5c3540c197f31ba" providerId="LiveId" clId="{88B85307-4E71-4835-8D5D-0384D6F49E9B}" dt="2026-06-03T05:08:03.010" v="408" actId="1037"/>
          <ac:spMkLst>
            <pc:docMk/>
            <pc:sldMk cId="0" sldId="260"/>
            <ac:spMk id="18" creationId="{00000000-0000-0000-0000-000000000000}"/>
          </ac:spMkLst>
        </pc:spChg>
        <pc:spChg chg="mod">
          <ac:chgData name="Sơn Nguyễn Tư" userId="b5c3540c197f31ba" providerId="LiveId" clId="{88B85307-4E71-4835-8D5D-0384D6F49E9B}" dt="2026-06-04T01:22:23.015" v="994" actId="1036"/>
          <ac:spMkLst>
            <pc:docMk/>
            <pc:sldMk cId="0" sldId="260"/>
            <ac:spMk id="19" creationId="{00000000-0000-0000-0000-000000000000}"/>
          </ac:spMkLst>
        </pc:spChg>
        <pc:picChg chg="mod">
          <ac:chgData name="Sơn Nguyễn Tư" userId="b5c3540c197f31ba" providerId="LiveId" clId="{88B85307-4E71-4835-8D5D-0384D6F49E9B}" dt="2026-06-04T01:22:37.671" v="996" actId="1076"/>
          <ac:picMkLst>
            <pc:docMk/>
            <pc:sldMk cId="0" sldId="260"/>
            <ac:picMk id="6" creationId="{00000000-0000-0000-0000-000000000000}"/>
          </ac:picMkLst>
        </pc:picChg>
      </pc:sldChg>
      <pc:sldChg chg="modTransition">
        <pc:chgData name="Sơn Nguyễn Tư" userId="b5c3540c197f31ba" providerId="LiveId" clId="{88B85307-4E71-4835-8D5D-0384D6F49E9B}" dt="2026-06-04T03:07:08.916" v="1005"/>
        <pc:sldMkLst>
          <pc:docMk/>
          <pc:sldMk cId="0" sldId="261"/>
        </pc:sldMkLst>
      </pc:sldChg>
      <pc:sldChg chg="modTransition">
        <pc:chgData name="Sơn Nguyễn Tư" userId="b5c3540c197f31ba" providerId="LiveId" clId="{88B85307-4E71-4835-8D5D-0384D6F49E9B}" dt="2026-06-04T03:07:08.916" v="1005"/>
        <pc:sldMkLst>
          <pc:docMk/>
          <pc:sldMk cId="0" sldId="262"/>
        </pc:sldMkLst>
      </pc:sldChg>
      <pc:sldChg chg="modSp mod modTransition">
        <pc:chgData name="Sơn Nguyễn Tư" userId="b5c3540c197f31ba" providerId="LiveId" clId="{88B85307-4E71-4835-8D5D-0384D6F49E9B}" dt="2026-06-04T03:07:08.916" v="1005"/>
        <pc:sldMkLst>
          <pc:docMk/>
          <pc:sldMk cId="0" sldId="263"/>
        </pc:sldMkLst>
        <pc:spChg chg="mod">
          <ac:chgData name="Sơn Nguyễn Tư" userId="b5c3540c197f31ba" providerId="LiveId" clId="{88B85307-4E71-4835-8D5D-0384D6F49E9B}" dt="2026-05-30T02:23:40.117" v="86" actId="20577"/>
          <ac:spMkLst>
            <pc:docMk/>
            <pc:sldMk cId="0" sldId="263"/>
            <ac:spMk id="4" creationId="{00000000-0000-0000-0000-000000000000}"/>
          </ac:spMkLst>
        </pc:spChg>
        <pc:spChg chg="mod">
          <ac:chgData name="Sơn Nguyễn Tư" userId="b5c3540c197f31ba" providerId="LiveId" clId="{88B85307-4E71-4835-8D5D-0384D6F49E9B}" dt="2026-05-30T04:15:41.239" v="344" actId="20577"/>
          <ac:spMkLst>
            <pc:docMk/>
            <pc:sldMk cId="0" sldId="263"/>
            <ac:spMk id="10" creationId="{00000000-0000-0000-0000-000000000000}"/>
          </ac:spMkLst>
        </pc:spChg>
        <pc:picChg chg="mod">
          <ac:chgData name="Sơn Nguyễn Tư" userId="b5c3540c197f31ba" providerId="LiveId" clId="{88B85307-4E71-4835-8D5D-0384D6F49E9B}" dt="2026-05-30T02:23:16.506" v="29" actId="14100"/>
          <ac:picMkLst>
            <pc:docMk/>
            <pc:sldMk cId="0" sldId="263"/>
            <ac:picMk id="6" creationId="{00000000-0000-0000-0000-000000000000}"/>
          </ac:picMkLst>
        </pc:picChg>
      </pc:sldChg>
      <pc:sldChg chg="modTransition">
        <pc:chgData name="Sơn Nguyễn Tư" userId="b5c3540c197f31ba" providerId="LiveId" clId="{88B85307-4E71-4835-8D5D-0384D6F49E9B}" dt="2026-06-04T03:07:08.916" v="1005"/>
        <pc:sldMkLst>
          <pc:docMk/>
          <pc:sldMk cId="0" sldId="264"/>
        </pc:sldMkLst>
      </pc:sldChg>
      <pc:sldChg chg="modTransition">
        <pc:chgData name="Sơn Nguyễn Tư" userId="b5c3540c197f31ba" providerId="LiveId" clId="{88B85307-4E71-4835-8D5D-0384D6F49E9B}" dt="2026-06-04T03:07:08.916" v="1005"/>
        <pc:sldMkLst>
          <pc:docMk/>
          <pc:sldMk cId="0" sldId="265"/>
        </pc:sldMkLst>
      </pc:sldChg>
      <pc:sldChg chg="modTransition">
        <pc:chgData name="Sơn Nguyễn Tư" userId="b5c3540c197f31ba" providerId="LiveId" clId="{88B85307-4E71-4835-8D5D-0384D6F49E9B}" dt="2026-06-04T03:07:08.916" v="1005"/>
        <pc:sldMkLst>
          <pc:docMk/>
          <pc:sldMk cId="0" sldId="266"/>
        </pc:sldMkLst>
      </pc:sldChg>
      <pc:sldChg chg="modTransition">
        <pc:chgData name="Sơn Nguyễn Tư" userId="b5c3540c197f31ba" providerId="LiveId" clId="{88B85307-4E71-4835-8D5D-0384D6F49E9B}" dt="2026-06-04T03:07:08.916" v="1005"/>
        <pc:sldMkLst>
          <pc:docMk/>
          <pc:sldMk cId="0" sldId="267"/>
        </pc:sldMkLst>
      </pc:sldChg>
      <pc:sldChg chg="modSp mod modTransition">
        <pc:chgData name="Sơn Nguyễn Tư" userId="b5c3540c197f31ba" providerId="LiveId" clId="{88B85307-4E71-4835-8D5D-0384D6F49E9B}" dt="2026-06-04T03:07:08.916" v="1005"/>
        <pc:sldMkLst>
          <pc:docMk/>
          <pc:sldMk cId="0" sldId="269"/>
        </pc:sldMkLst>
        <pc:spChg chg="mod">
          <ac:chgData name="Sơn Nguyễn Tư" userId="b5c3540c197f31ba" providerId="LiveId" clId="{88B85307-4E71-4835-8D5D-0384D6F49E9B}" dt="2026-05-30T04:16:53.101" v="383" actId="20577"/>
          <ac:spMkLst>
            <pc:docMk/>
            <pc:sldMk cId="0" sldId="269"/>
            <ac:spMk id="2" creationId="{00000000-0000-0000-0000-000000000000}"/>
          </ac:spMkLst>
        </pc:spChg>
        <pc:spChg chg="mod">
          <ac:chgData name="Sơn Nguyễn Tư" userId="b5c3540c197f31ba" providerId="LiveId" clId="{88B85307-4E71-4835-8D5D-0384D6F49E9B}" dt="2026-06-03T05:10:43.060" v="533" actId="1037"/>
          <ac:spMkLst>
            <pc:docMk/>
            <pc:sldMk cId="0" sldId="269"/>
            <ac:spMk id="5" creationId="{00000000-0000-0000-0000-000000000000}"/>
          </ac:spMkLst>
        </pc:spChg>
        <pc:spChg chg="mod">
          <ac:chgData name="Sơn Nguyễn Tư" userId="b5c3540c197f31ba" providerId="LiveId" clId="{88B85307-4E71-4835-8D5D-0384D6F49E9B}" dt="2026-06-03T05:10:43.060" v="533" actId="1037"/>
          <ac:spMkLst>
            <pc:docMk/>
            <pc:sldMk cId="0" sldId="269"/>
            <ac:spMk id="7" creationId="{00000000-0000-0000-0000-000000000000}"/>
          </ac:spMkLst>
        </pc:spChg>
        <pc:spChg chg="mod">
          <ac:chgData name="Sơn Nguyễn Tư" userId="b5c3540c197f31ba" providerId="LiveId" clId="{88B85307-4E71-4835-8D5D-0384D6F49E9B}" dt="2026-06-03T05:10:43.060" v="533" actId="1037"/>
          <ac:spMkLst>
            <pc:docMk/>
            <pc:sldMk cId="0" sldId="269"/>
            <ac:spMk id="27" creationId="{4C8F19C6-C770-56D9-E257-C06A80CC0010}"/>
          </ac:spMkLst>
        </pc:spChg>
        <pc:spChg chg="mod">
          <ac:chgData name="Sơn Nguyễn Tư" userId="b5c3540c197f31ba" providerId="LiveId" clId="{88B85307-4E71-4835-8D5D-0384D6F49E9B}" dt="2026-06-03T05:10:43.060" v="533" actId="1037"/>
          <ac:spMkLst>
            <pc:docMk/>
            <pc:sldMk cId="0" sldId="269"/>
            <ac:spMk id="31" creationId="{A589E53B-4757-E913-465D-DDCA13A92751}"/>
          </ac:spMkLst>
        </pc:spChg>
        <pc:picChg chg="mod">
          <ac:chgData name="Sơn Nguyễn Tư" userId="b5c3540c197f31ba" providerId="LiveId" clId="{88B85307-4E71-4835-8D5D-0384D6F49E9B}" dt="2026-06-03T05:10:43.060" v="533" actId="1037"/>
          <ac:picMkLst>
            <pc:docMk/>
            <pc:sldMk cId="0" sldId="269"/>
            <ac:picMk id="6" creationId="{00000000-0000-0000-0000-000000000000}"/>
          </ac:picMkLst>
        </pc:picChg>
        <pc:picChg chg="mod">
          <ac:chgData name="Sơn Nguyễn Tư" userId="b5c3540c197f31ba" providerId="LiveId" clId="{88B85307-4E71-4835-8D5D-0384D6F49E9B}" dt="2026-06-03T05:10:43.060" v="533" actId="1037"/>
          <ac:picMkLst>
            <pc:docMk/>
            <pc:sldMk cId="0" sldId="269"/>
            <ac:picMk id="8" creationId="{00000000-0000-0000-0000-000000000000}"/>
          </ac:picMkLst>
        </pc:picChg>
        <pc:picChg chg="mod">
          <ac:chgData name="Sơn Nguyễn Tư" userId="b5c3540c197f31ba" providerId="LiveId" clId="{88B85307-4E71-4835-8D5D-0384D6F49E9B}" dt="2026-06-03T05:10:43.060" v="533" actId="1037"/>
          <ac:picMkLst>
            <pc:docMk/>
            <pc:sldMk cId="0" sldId="269"/>
            <ac:picMk id="29" creationId="{7749CC95-4418-318B-F25F-06D919D8D404}"/>
          </ac:picMkLst>
        </pc:picChg>
        <pc:picChg chg="mod">
          <ac:chgData name="Sơn Nguyễn Tư" userId="b5c3540c197f31ba" providerId="LiveId" clId="{88B85307-4E71-4835-8D5D-0384D6F49E9B}" dt="2026-06-03T05:10:43.060" v="533" actId="1037"/>
          <ac:picMkLst>
            <pc:docMk/>
            <pc:sldMk cId="0" sldId="269"/>
            <ac:picMk id="33" creationId="{8FEE232A-3901-2BFF-C8F4-394A2E0386E6}"/>
          </ac:picMkLst>
        </pc:picChg>
      </pc:sldChg>
      <pc:sldChg chg="modTransition">
        <pc:chgData name="Sơn Nguyễn Tư" userId="b5c3540c197f31ba" providerId="LiveId" clId="{88B85307-4E71-4835-8D5D-0384D6F49E9B}" dt="2026-06-04T03:07:08.916" v="1005"/>
        <pc:sldMkLst>
          <pc:docMk/>
          <pc:sldMk cId="0" sldId="270"/>
        </pc:sldMkLst>
      </pc:sldChg>
      <pc:sldChg chg="modSp mod modTransition">
        <pc:chgData name="Sơn Nguyễn Tư" userId="b5c3540c197f31ba" providerId="LiveId" clId="{88B85307-4E71-4835-8D5D-0384D6F49E9B}" dt="2026-06-04T03:07:08.916" v="1005"/>
        <pc:sldMkLst>
          <pc:docMk/>
          <pc:sldMk cId="0" sldId="271"/>
        </pc:sldMkLst>
        <pc:spChg chg="mod">
          <ac:chgData name="Sơn Nguyễn Tư" userId="b5c3540c197f31ba" providerId="LiveId" clId="{88B85307-4E71-4835-8D5D-0384D6F49E9B}" dt="2026-06-03T05:13:11.450" v="574" actId="1036"/>
          <ac:spMkLst>
            <pc:docMk/>
            <pc:sldMk cId="0" sldId="271"/>
            <ac:spMk id="5" creationId="{00000000-0000-0000-0000-000000000000}"/>
          </ac:spMkLst>
        </pc:spChg>
        <pc:picChg chg="mod">
          <ac:chgData name="Sơn Nguyễn Tư" userId="b5c3540c197f31ba" providerId="LiveId" clId="{88B85307-4E71-4835-8D5D-0384D6F49E9B}" dt="2026-06-03T05:13:11.450" v="574" actId="1036"/>
          <ac:picMkLst>
            <pc:docMk/>
            <pc:sldMk cId="0" sldId="271"/>
            <ac:picMk id="6" creationId="{00000000-0000-0000-0000-000000000000}"/>
          </ac:picMkLst>
        </pc:picChg>
      </pc:sldChg>
      <pc:sldChg chg="modTransition">
        <pc:chgData name="Sơn Nguyễn Tư" userId="b5c3540c197f31ba" providerId="LiveId" clId="{88B85307-4E71-4835-8D5D-0384D6F49E9B}" dt="2026-06-04T03:07:08.916" v="1005"/>
        <pc:sldMkLst>
          <pc:docMk/>
          <pc:sldMk cId="0" sldId="272"/>
        </pc:sldMkLst>
      </pc:sldChg>
      <pc:sldChg chg="modSp mod modTransition">
        <pc:chgData name="Sơn Nguyễn Tư" userId="b5c3540c197f31ba" providerId="LiveId" clId="{88B85307-4E71-4835-8D5D-0384D6F49E9B}" dt="2026-06-04T03:07:08.916" v="1005"/>
        <pc:sldMkLst>
          <pc:docMk/>
          <pc:sldMk cId="0" sldId="273"/>
        </pc:sldMkLst>
        <pc:spChg chg="mod">
          <ac:chgData name="Sơn Nguyễn Tư" userId="b5c3540c197f31ba" providerId="LiveId" clId="{88B85307-4E71-4835-8D5D-0384D6F49E9B}" dt="2026-06-03T05:11:13.207" v="534" actId="20577"/>
          <ac:spMkLst>
            <pc:docMk/>
            <pc:sldMk cId="0" sldId="273"/>
            <ac:spMk id="2" creationId="{00000000-0000-0000-0000-000000000000}"/>
          </ac:spMkLst>
        </pc:spChg>
        <pc:graphicFrameChg chg="mod">
          <ac:chgData name="Sơn Nguyễn Tư" userId="b5c3540c197f31ba" providerId="LiveId" clId="{88B85307-4E71-4835-8D5D-0384D6F49E9B}" dt="2026-05-30T02:46:56.284" v="153" actId="1036"/>
          <ac:graphicFrameMkLst>
            <pc:docMk/>
            <pc:sldMk cId="0" sldId="273"/>
            <ac:graphicFrameMk id="19" creationId="{00000000-0000-0000-0000-000000000000}"/>
          </ac:graphicFrameMkLst>
        </pc:graphicFrameChg>
      </pc:sldChg>
      <pc:sldChg chg="delSp modSp mod modTransition">
        <pc:chgData name="Sơn Nguyễn Tư" userId="b5c3540c197f31ba" providerId="LiveId" clId="{88B85307-4E71-4835-8D5D-0384D6F49E9B}" dt="2026-06-04T03:07:08.916" v="1005"/>
        <pc:sldMkLst>
          <pc:docMk/>
          <pc:sldMk cId="0" sldId="274"/>
        </pc:sldMkLst>
        <pc:spChg chg="mod">
          <ac:chgData name="Sơn Nguyễn Tư" userId="b5c3540c197f31ba" providerId="LiveId" clId="{88B85307-4E71-4835-8D5D-0384D6F49E9B}" dt="2026-06-03T05:11:27.269" v="535" actId="20577"/>
          <ac:spMkLst>
            <pc:docMk/>
            <pc:sldMk cId="0" sldId="274"/>
            <ac:spMk id="2" creationId="{00000000-0000-0000-0000-000000000000}"/>
          </ac:spMkLst>
        </pc:spChg>
        <pc:spChg chg="mod">
          <ac:chgData name="Sơn Nguyễn Tư" userId="b5c3540c197f31ba" providerId="LiveId" clId="{88B85307-4E71-4835-8D5D-0384D6F49E9B}" dt="2026-05-30T03:20:52.954" v="262" actId="20577"/>
          <ac:spMkLst>
            <pc:docMk/>
            <pc:sldMk cId="0" sldId="274"/>
            <ac:spMk id="4" creationId="{00000000-0000-0000-0000-000000000000}"/>
          </ac:spMkLst>
        </pc:spChg>
        <pc:spChg chg="mod">
          <ac:chgData name="Sơn Nguyễn Tư" userId="b5c3540c197f31ba" providerId="LiveId" clId="{88B85307-4E71-4835-8D5D-0384D6F49E9B}" dt="2026-06-03T05:11:54.726" v="566" actId="1036"/>
          <ac:spMkLst>
            <pc:docMk/>
            <pc:sldMk cId="0" sldId="274"/>
            <ac:spMk id="5" creationId="{00000000-0000-0000-0000-000000000000}"/>
          </ac:spMkLst>
        </pc:spChg>
        <pc:spChg chg="mod">
          <ac:chgData name="Sơn Nguyễn Tư" userId="b5c3540c197f31ba" providerId="LiveId" clId="{88B85307-4E71-4835-8D5D-0384D6F49E9B}" dt="2026-06-03T05:11:54.726" v="566" actId="1036"/>
          <ac:spMkLst>
            <pc:docMk/>
            <pc:sldMk cId="0" sldId="274"/>
            <ac:spMk id="7" creationId="{00000000-0000-0000-0000-000000000000}"/>
          </ac:spMkLst>
        </pc:spChg>
        <pc:spChg chg="mod">
          <ac:chgData name="Sơn Nguyễn Tư" userId="b5c3540c197f31ba" providerId="LiveId" clId="{88B85307-4E71-4835-8D5D-0384D6F49E9B}" dt="2026-06-03T05:11:54.726" v="566" actId="1036"/>
          <ac:spMkLst>
            <pc:docMk/>
            <pc:sldMk cId="0" sldId="274"/>
            <ac:spMk id="8" creationId="{00000000-0000-0000-0000-000000000000}"/>
          </ac:spMkLst>
        </pc:spChg>
        <pc:spChg chg="mod">
          <ac:chgData name="Sơn Nguyễn Tư" userId="b5c3540c197f31ba" providerId="LiveId" clId="{88B85307-4E71-4835-8D5D-0384D6F49E9B}" dt="2026-06-03T05:11:54.726" v="566" actId="1036"/>
          <ac:spMkLst>
            <pc:docMk/>
            <pc:sldMk cId="0" sldId="274"/>
            <ac:spMk id="9" creationId="{00000000-0000-0000-0000-000000000000}"/>
          </ac:spMkLst>
        </pc:spChg>
        <pc:spChg chg="mod">
          <ac:chgData name="Sơn Nguyễn Tư" userId="b5c3540c197f31ba" providerId="LiveId" clId="{88B85307-4E71-4835-8D5D-0384D6F49E9B}" dt="2026-06-03T05:11:54.726" v="566" actId="1036"/>
          <ac:spMkLst>
            <pc:docMk/>
            <pc:sldMk cId="0" sldId="274"/>
            <ac:spMk id="10" creationId="{00000000-0000-0000-0000-000000000000}"/>
          </ac:spMkLst>
        </pc:spChg>
        <pc:spChg chg="mod">
          <ac:chgData name="Sơn Nguyễn Tư" userId="b5c3540c197f31ba" providerId="LiveId" clId="{88B85307-4E71-4835-8D5D-0384D6F49E9B}" dt="2026-06-03T05:11:54.726" v="566" actId="1036"/>
          <ac:spMkLst>
            <pc:docMk/>
            <pc:sldMk cId="0" sldId="274"/>
            <ac:spMk id="12" creationId="{00000000-0000-0000-0000-000000000000}"/>
          </ac:spMkLst>
        </pc:spChg>
        <pc:spChg chg="mod">
          <ac:chgData name="Sơn Nguyễn Tư" userId="b5c3540c197f31ba" providerId="LiveId" clId="{88B85307-4E71-4835-8D5D-0384D6F49E9B}" dt="2026-06-03T05:11:54.726" v="566" actId="1036"/>
          <ac:spMkLst>
            <pc:docMk/>
            <pc:sldMk cId="0" sldId="274"/>
            <ac:spMk id="13" creationId="{00000000-0000-0000-0000-000000000000}"/>
          </ac:spMkLst>
        </pc:spChg>
        <pc:spChg chg="mod">
          <ac:chgData name="Sơn Nguyễn Tư" userId="b5c3540c197f31ba" providerId="LiveId" clId="{88B85307-4E71-4835-8D5D-0384D6F49E9B}" dt="2026-06-03T05:11:54.726" v="566" actId="1036"/>
          <ac:spMkLst>
            <pc:docMk/>
            <pc:sldMk cId="0" sldId="274"/>
            <ac:spMk id="14" creationId="{00000000-0000-0000-0000-000000000000}"/>
          </ac:spMkLst>
        </pc:spChg>
        <pc:spChg chg="mod">
          <ac:chgData name="Sơn Nguyễn Tư" userId="b5c3540c197f31ba" providerId="LiveId" clId="{88B85307-4E71-4835-8D5D-0384D6F49E9B}" dt="2026-06-03T05:11:54.726" v="566" actId="1036"/>
          <ac:spMkLst>
            <pc:docMk/>
            <pc:sldMk cId="0" sldId="274"/>
            <ac:spMk id="15" creationId="{00000000-0000-0000-0000-000000000000}"/>
          </ac:spMkLst>
        </pc:spChg>
        <pc:spChg chg="mod">
          <ac:chgData name="Sơn Nguyễn Tư" userId="b5c3540c197f31ba" providerId="LiveId" clId="{88B85307-4E71-4835-8D5D-0384D6F49E9B}" dt="2026-06-03T05:11:54.726" v="566" actId="1036"/>
          <ac:spMkLst>
            <pc:docMk/>
            <pc:sldMk cId="0" sldId="274"/>
            <ac:spMk id="16" creationId="{00000000-0000-0000-0000-000000000000}"/>
          </ac:spMkLst>
        </pc:spChg>
        <pc:spChg chg="del">
          <ac:chgData name="Sơn Nguyễn Tư" userId="b5c3540c197f31ba" providerId="LiveId" clId="{88B85307-4E71-4835-8D5D-0384D6F49E9B}" dt="2026-06-03T05:11:41.716" v="536" actId="478"/>
          <ac:spMkLst>
            <pc:docMk/>
            <pc:sldMk cId="0" sldId="274"/>
            <ac:spMk id="17" creationId="{00000000-0000-0000-0000-000000000000}"/>
          </ac:spMkLst>
        </pc:spChg>
        <pc:spChg chg="del">
          <ac:chgData name="Sơn Nguyễn Tư" userId="b5c3540c197f31ba" providerId="LiveId" clId="{88B85307-4E71-4835-8D5D-0384D6F49E9B}" dt="2026-06-03T05:11:46.504" v="537" actId="478"/>
          <ac:spMkLst>
            <pc:docMk/>
            <pc:sldMk cId="0" sldId="274"/>
            <ac:spMk id="18" creationId="{00000000-0000-0000-0000-000000000000}"/>
          </ac:spMkLst>
        </pc:spChg>
        <pc:spChg chg="del">
          <ac:chgData name="Sơn Nguyễn Tư" userId="b5c3540c197f31ba" providerId="LiveId" clId="{88B85307-4E71-4835-8D5D-0384D6F49E9B}" dt="2026-06-03T05:11:46.504" v="537" actId="478"/>
          <ac:spMkLst>
            <pc:docMk/>
            <pc:sldMk cId="0" sldId="274"/>
            <ac:spMk id="19" creationId="{00000000-0000-0000-0000-000000000000}"/>
          </ac:spMkLst>
        </pc:spChg>
      </pc:sldChg>
      <pc:sldChg chg="modSp mod modTransition">
        <pc:chgData name="Sơn Nguyễn Tư" userId="b5c3540c197f31ba" providerId="LiveId" clId="{88B85307-4E71-4835-8D5D-0384D6F49E9B}" dt="2026-06-04T03:07:08.916" v="1005"/>
        <pc:sldMkLst>
          <pc:docMk/>
          <pc:sldMk cId="0" sldId="275"/>
        </pc:sldMkLst>
        <pc:spChg chg="mod">
          <ac:chgData name="Sơn Nguyễn Tư" userId="b5c3540c197f31ba" providerId="LiveId" clId="{88B85307-4E71-4835-8D5D-0384D6F49E9B}" dt="2026-05-30T02:45:16.718" v="135" actId="20577"/>
          <ac:spMkLst>
            <pc:docMk/>
            <pc:sldMk cId="0" sldId="275"/>
            <ac:spMk id="2" creationId="{00000000-0000-0000-0000-000000000000}"/>
          </ac:spMkLst>
        </pc:spChg>
      </pc:sldChg>
      <pc:sldChg chg="modSp mod modTransition">
        <pc:chgData name="Sơn Nguyễn Tư" userId="b5c3540c197f31ba" providerId="LiveId" clId="{88B85307-4E71-4835-8D5D-0384D6F49E9B}" dt="2026-06-04T03:07:08.916" v="1005"/>
        <pc:sldMkLst>
          <pc:docMk/>
          <pc:sldMk cId="0" sldId="276"/>
        </pc:sldMkLst>
        <pc:spChg chg="mod">
          <ac:chgData name="Sơn Nguyễn Tư" userId="b5c3540c197f31ba" providerId="LiveId" clId="{88B85307-4E71-4835-8D5D-0384D6F49E9B}" dt="2026-06-03T05:33:05.116" v="977" actId="1036"/>
          <ac:spMkLst>
            <pc:docMk/>
            <pc:sldMk cId="0" sldId="276"/>
            <ac:spMk id="5" creationId="{00000000-0000-0000-0000-000000000000}"/>
          </ac:spMkLst>
        </pc:spChg>
        <pc:spChg chg="mod">
          <ac:chgData name="Sơn Nguyễn Tư" userId="b5c3540c197f31ba" providerId="LiveId" clId="{88B85307-4E71-4835-8D5D-0384D6F49E9B}" dt="2026-06-03T05:33:05.116" v="977" actId="1036"/>
          <ac:spMkLst>
            <pc:docMk/>
            <pc:sldMk cId="0" sldId="276"/>
            <ac:spMk id="7" creationId="{00000000-0000-0000-0000-000000000000}"/>
          </ac:spMkLst>
        </pc:spChg>
        <pc:spChg chg="mod">
          <ac:chgData name="Sơn Nguyễn Tư" userId="b5c3540c197f31ba" providerId="LiveId" clId="{88B85307-4E71-4835-8D5D-0384D6F49E9B}" dt="2026-06-03T05:33:21.284" v="982" actId="1036"/>
          <ac:spMkLst>
            <pc:docMk/>
            <pc:sldMk cId="0" sldId="276"/>
            <ac:spMk id="9" creationId="{00000000-0000-0000-0000-000000000000}"/>
          </ac:spMkLst>
        </pc:spChg>
        <pc:spChg chg="mod">
          <ac:chgData name="Sơn Nguyễn Tư" userId="b5c3540c197f31ba" providerId="LiveId" clId="{88B85307-4E71-4835-8D5D-0384D6F49E9B}" dt="2026-06-03T05:33:21.284" v="982" actId="1036"/>
          <ac:spMkLst>
            <pc:docMk/>
            <pc:sldMk cId="0" sldId="276"/>
            <ac:spMk id="10" creationId="{00000000-0000-0000-0000-000000000000}"/>
          </ac:spMkLst>
        </pc:spChg>
        <pc:spChg chg="mod">
          <ac:chgData name="Sơn Nguyễn Tư" userId="b5c3540c197f31ba" providerId="LiveId" clId="{88B85307-4E71-4835-8D5D-0384D6F49E9B}" dt="2026-06-03T05:33:05.116" v="977" actId="1036"/>
          <ac:spMkLst>
            <pc:docMk/>
            <pc:sldMk cId="0" sldId="276"/>
            <ac:spMk id="11" creationId="{00000000-0000-0000-0000-000000000000}"/>
          </ac:spMkLst>
        </pc:spChg>
        <pc:picChg chg="mod">
          <ac:chgData name="Sơn Nguyễn Tư" userId="b5c3540c197f31ba" providerId="LiveId" clId="{88B85307-4E71-4835-8D5D-0384D6F49E9B}" dt="2026-06-03T05:33:05.116" v="977" actId="1036"/>
          <ac:picMkLst>
            <pc:docMk/>
            <pc:sldMk cId="0" sldId="276"/>
            <ac:picMk id="6" creationId="{00000000-0000-0000-0000-000000000000}"/>
          </ac:picMkLst>
        </pc:picChg>
        <pc:picChg chg="mod">
          <ac:chgData name="Sơn Nguyễn Tư" userId="b5c3540c197f31ba" providerId="LiveId" clId="{88B85307-4E71-4835-8D5D-0384D6F49E9B}" dt="2026-06-03T05:33:05.116" v="977" actId="1036"/>
          <ac:picMkLst>
            <pc:docMk/>
            <pc:sldMk cId="0" sldId="276"/>
            <ac:picMk id="8" creationId="{00000000-0000-0000-0000-000000000000}"/>
          </ac:picMkLst>
        </pc:picChg>
      </pc:sldChg>
      <pc:sldChg chg="modSp mod modTransition">
        <pc:chgData name="Sơn Nguyễn Tư" userId="b5c3540c197f31ba" providerId="LiveId" clId="{88B85307-4E71-4835-8D5D-0384D6F49E9B}" dt="2026-06-04T03:07:08.916" v="1005"/>
        <pc:sldMkLst>
          <pc:docMk/>
          <pc:sldMk cId="0" sldId="277"/>
        </pc:sldMkLst>
        <pc:spChg chg="mod">
          <ac:chgData name="Sơn Nguyễn Tư" userId="b5c3540c197f31ba" providerId="LiveId" clId="{88B85307-4E71-4835-8D5D-0384D6F49E9B}" dt="2026-06-03T05:18:36.446" v="683" actId="20577"/>
          <ac:spMkLst>
            <pc:docMk/>
            <pc:sldMk cId="0" sldId="277"/>
            <ac:spMk id="2" creationId="{00000000-0000-0000-0000-000000000000}"/>
          </ac:spMkLst>
        </pc:spChg>
        <pc:spChg chg="mod">
          <ac:chgData name="Sơn Nguyễn Tư" userId="b5c3540c197f31ba" providerId="LiveId" clId="{88B85307-4E71-4835-8D5D-0384D6F49E9B}" dt="2026-06-03T05:17:44.771" v="598" actId="1036"/>
          <ac:spMkLst>
            <pc:docMk/>
            <pc:sldMk cId="0" sldId="277"/>
            <ac:spMk id="5" creationId="{00000000-0000-0000-0000-000000000000}"/>
          </ac:spMkLst>
        </pc:spChg>
        <pc:spChg chg="mod">
          <ac:chgData name="Sơn Nguyễn Tư" userId="b5c3540c197f31ba" providerId="LiveId" clId="{88B85307-4E71-4835-8D5D-0384D6F49E9B}" dt="2026-06-03T05:17:44.771" v="598" actId="1036"/>
          <ac:spMkLst>
            <pc:docMk/>
            <pc:sldMk cId="0" sldId="277"/>
            <ac:spMk id="7" creationId="{00000000-0000-0000-0000-000000000000}"/>
          </ac:spMkLst>
        </pc:spChg>
        <pc:spChg chg="mod">
          <ac:chgData name="Sơn Nguyễn Tư" userId="b5c3540c197f31ba" providerId="LiveId" clId="{88B85307-4E71-4835-8D5D-0384D6F49E9B}" dt="2026-06-03T05:17:44.771" v="598" actId="1036"/>
          <ac:spMkLst>
            <pc:docMk/>
            <pc:sldMk cId="0" sldId="277"/>
            <ac:spMk id="9" creationId="{00000000-0000-0000-0000-000000000000}"/>
          </ac:spMkLst>
        </pc:spChg>
        <pc:spChg chg="mod">
          <ac:chgData name="Sơn Nguyễn Tư" userId="b5c3540c197f31ba" providerId="LiveId" clId="{88B85307-4E71-4835-8D5D-0384D6F49E9B}" dt="2026-06-03T05:17:44.771" v="598" actId="1036"/>
          <ac:spMkLst>
            <pc:docMk/>
            <pc:sldMk cId="0" sldId="277"/>
            <ac:spMk id="11" creationId="{00000000-0000-0000-0000-000000000000}"/>
          </ac:spMkLst>
        </pc:spChg>
        <pc:spChg chg="mod">
          <ac:chgData name="Sơn Nguyễn Tư" userId="b5c3540c197f31ba" providerId="LiveId" clId="{88B85307-4E71-4835-8D5D-0384D6F49E9B}" dt="2026-06-03T05:18:19.839" v="628"/>
          <ac:spMkLst>
            <pc:docMk/>
            <pc:sldMk cId="0" sldId="277"/>
            <ac:spMk id="12" creationId="{00000000-0000-0000-0000-000000000000}"/>
          </ac:spMkLst>
        </pc:spChg>
        <pc:spChg chg="mod">
          <ac:chgData name="Sơn Nguyễn Tư" userId="b5c3540c197f31ba" providerId="LiveId" clId="{88B85307-4E71-4835-8D5D-0384D6F49E9B}" dt="2026-06-03T05:17:44.771" v="598" actId="1036"/>
          <ac:spMkLst>
            <pc:docMk/>
            <pc:sldMk cId="0" sldId="277"/>
            <ac:spMk id="13" creationId="{00000000-0000-0000-0000-000000000000}"/>
          </ac:spMkLst>
        </pc:spChg>
        <pc:spChg chg="mod">
          <ac:chgData name="Sơn Nguyễn Tư" userId="b5c3540c197f31ba" providerId="LiveId" clId="{88B85307-4E71-4835-8D5D-0384D6F49E9B}" dt="2026-06-03T05:17:44.771" v="598" actId="1036"/>
          <ac:spMkLst>
            <pc:docMk/>
            <pc:sldMk cId="0" sldId="277"/>
            <ac:spMk id="14" creationId="{00000000-0000-0000-0000-000000000000}"/>
          </ac:spMkLst>
        </pc:spChg>
        <pc:spChg chg="mod">
          <ac:chgData name="Sơn Nguyễn Tư" userId="b5c3540c197f31ba" providerId="LiveId" clId="{88B85307-4E71-4835-8D5D-0384D6F49E9B}" dt="2026-06-03T05:17:44.771" v="598" actId="1036"/>
          <ac:spMkLst>
            <pc:docMk/>
            <pc:sldMk cId="0" sldId="277"/>
            <ac:spMk id="15" creationId="{00000000-0000-0000-0000-000000000000}"/>
          </ac:spMkLst>
        </pc:spChg>
        <pc:picChg chg="mod">
          <ac:chgData name="Sơn Nguyễn Tư" userId="b5c3540c197f31ba" providerId="LiveId" clId="{88B85307-4E71-4835-8D5D-0384D6F49E9B}" dt="2026-06-03T05:17:44.771" v="598" actId="1036"/>
          <ac:picMkLst>
            <pc:docMk/>
            <pc:sldMk cId="0" sldId="277"/>
            <ac:picMk id="8" creationId="{00000000-0000-0000-0000-000000000000}"/>
          </ac:picMkLst>
        </pc:picChg>
        <pc:picChg chg="mod">
          <ac:chgData name="Sơn Nguyễn Tư" userId="b5c3540c197f31ba" providerId="LiveId" clId="{88B85307-4E71-4835-8D5D-0384D6F49E9B}" dt="2026-06-03T05:17:44.771" v="598" actId="1036"/>
          <ac:picMkLst>
            <pc:docMk/>
            <pc:sldMk cId="0" sldId="277"/>
            <ac:picMk id="10" creationId="{00000000-0000-0000-0000-000000000000}"/>
          </ac:picMkLst>
        </pc:picChg>
      </pc:sldChg>
      <pc:sldChg chg="modSp mod modTransition">
        <pc:chgData name="Sơn Nguyễn Tư" userId="b5c3540c197f31ba" providerId="LiveId" clId="{88B85307-4E71-4835-8D5D-0384D6F49E9B}" dt="2026-06-04T03:07:08.916" v="1005"/>
        <pc:sldMkLst>
          <pc:docMk/>
          <pc:sldMk cId="0" sldId="278"/>
        </pc:sldMkLst>
        <pc:spChg chg="mod">
          <ac:chgData name="Sơn Nguyễn Tư" userId="b5c3540c197f31ba" providerId="LiveId" clId="{88B85307-4E71-4835-8D5D-0384D6F49E9B}" dt="2026-05-30T02:44:53.151" v="105" actId="20577"/>
          <ac:spMkLst>
            <pc:docMk/>
            <pc:sldMk cId="0" sldId="278"/>
            <ac:spMk id="2" creationId="{00000000-0000-0000-0000-000000000000}"/>
          </ac:spMkLst>
        </pc:spChg>
      </pc:sldChg>
      <pc:sldChg chg="delSp modSp del mod ord">
        <pc:chgData name="Sơn Nguyễn Tư" userId="b5c3540c197f31ba" providerId="LiveId" clId="{88B85307-4E71-4835-8D5D-0384D6F49E9B}" dt="2026-06-03T05:26:11.282" v="858" actId="47"/>
        <pc:sldMkLst>
          <pc:docMk/>
          <pc:sldMk cId="0" sldId="279"/>
        </pc:sldMkLst>
        <pc:spChg chg="mod">
          <ac:chgData name="Sơn Nguyễn Tư" userId="b5c3540c197f31ba" providerId="LiveId" clId="{88B85307-4E71-4835-8D5D-0384D6F49E9B}" dt="2026-06-03T05:20:00.148" v="734" actId="20577"/>
          <ac:spMkLst>
            <pc:docMk/>
            <pc:sldMk cId="0" sldId="279"/>
            <ac:spMk id="2" creationId="{00000000-0000-0000-0000-000000000000}"/>
          </ac:spMkLst>
        </pc:spChg>
        <pc:picChg chg="mod">
          <ac:chgData name="Sơn Nguyễn Tư" userId="b5c3540c197f31ba" providerId="LiveId" clId="{88B85307-4E71-4835-8D5D-0384D6F49E9B}" dt="2026-06-03T05:20:01.473" v="736" actId="1076"/>
          <ac:picMkLst>
            <pc:docMk/>
            <pc:sldMk cId="0" sldId="279"/>
            <ac:picMk id="6" creationId="{00000000-0000-0000-0000-000000000000}"/>
          </ac:picMkLst>
        </pc:picChg>
      </pc:sldChg>
      <pc:sldChg chg="modSp del mod">
        <pc:chgData name="Sơn Nguyễn Tư" userId="b5c3540c197f31ba" providerId="LiveId" clId="{88B85307-4E71-4835-8D5D-0384D6F49E9B}" dt="2026-06-03T05:29:33.619" v="971" actId="47"/>
        <pc:sldMkLst>
          <pc:docMk/>
          <pc:sldMk cId="0" sldId="280"/>
        </pc:sldMkLst>
        <pc:picChg chg="mod">
          <ac:chgData name="Sơn Nguyễn Tư" userId="b5c3540c197f31ba" providerId="LiveId" clId="{88B85307-4E71-4835-8D5D-0384D6F49E9B}" dt="2026-06-03T05:19:08.525" v="684" actId="1076"/>
          <ac:picMkLst>
            <pc:docMk/>
            <pc:sldMk cId="0" sldId="280"/>
            <ac:picMk id="6" creationId="{00000000-0000-0000-0000-000000000000}"/>
          </ac:picMkLst>
        </pc:picChg>
      </pc:sldChg>
      <pc:sldChg chg="modSp mod modTransition">
        <pc:chgData name="Sơn Nguyễn Tư" userId="b5c3540c197f31ba" providerId="LiveId" clId="{88B85307-4E71-4835-8D5D-0384D6F49E9B}" dt="2026-06-04T03:07:08.916" v="1005"/>
        <pc:sldMkLst>
          <pc:docMk/>
          <pc:sldMk cId="0" sldId="281"/>
        </pc:sldMkLst>
        <pc:spChg chg="mod">
          <ac:chgData name="Sơn Nguyễn Tư" userId="b5c3540c197f31ba" providerId="LiveId" clId="{88B85307-4E71-4835-8D5D-0384D6F49E9B}" dt="2026-05-30T02:45:01.166" v="120" actId="20577"/>
          <ac:spMkLst>
            <pc:docMk/>
            <pc:sldMk cId="0" sldId="281"/>
            <ac:spMk id="2" creationId="{00000000-0000-0000-0000-000000000000}"/>
          </ac:spMkLst>
        </pc:spChg>
        <pc:spChg chg="mod">
          <ac:chgData name="Sơn Nguyễn Tư" userId="b5c3540c197f31ba" providerId="LiveId" clId="{88B85307-4E71-4835-8D5D-0384D6F49E9B}" dt="2026-06-03T05:28:19.534" v="929" actId="1036"/>
          <ac:spMkLst>
            <pc:docMk/>
            <pc:sldMk cId="0" sldId="281"/>
            <ac:spMk id="29" creationId="{00000000-0000-0000-0000-000000000000}"/>
          </ac:spMkLst>
        </pc:spChg>
        <pc:spChg chg="mod">
          <ac:chgData name="Sơn Nguyễn Tư" userId="b5c3540c197f31ba" providerId="LiveId" clId="{88B85307-4E71-4835-8D5D-0384D6F49E9B}" dt="2026-06-03T05:28:19.534" v="929" actId="1036"/>
          <ac:spMkLst>
            <pc:docMk/>
            <pc:sldMk cId="0" sldId="281"/>
            <ac:spMk id="30" creationId="{00000000-0000-0000-0000-000000000000}"/>
          </ac:spMkLst>
        </pc:spChg>
        <pc:spChg chg="mod">
          <ac:chgData name="Sơn Nguyễn Tư" userId="b5c3540c197f31ba" providerId="LiveId" clId="{88B85307-4E71-4835-8D5D-0384D6F49E9B}" dt="2026-06-03T05:28:25.017" v="939" actId="1036"/>
          <ac:spMkLst>
            <pc:docMk/>
            <pc:sldMk cId="0" sldId="281"/>
            <ac:spMk id="31" creationId="{00000000-0000-0000-0000-000000000000}"/>
          </ac:spMkLst>
        </pc:spChg>
      </pc:sldChg>
      <pc:sldChg chg="modSp mod modTransition">
        <pc:chgData name="Sơn Nguyễn Tư" userId="b5c3540c197f31ba" providerId="LiveId" clId="{88B85307-4E71-4835-8D5D-0384D6F49E9B}" dt="2026-06-04T03:07:08.916" v="1005"/>
        <pc:sldMkLst>
          <pc:docMk/>
          <pc:sldMk cId="0" sldId="282"/>
        </pc:sldMkLst>
        <pc:spChg chg="mod">
          <ac:chgData name="Sơn Nguyễn Tư" userId="b5c3540c197f31ba" providerId="LiveId" clId="{88B85307-4E71-4835-8D5D-0384D6F49E9B}" dt="2026-06-03T05:28:36.073" v="943" actId="20577"/>
          <ac:spMkLst>
            <pc:docMk/>
            <pc:sldMk cId="0" sldId="282"/>
            <ac:spMk id="2" creationId="{00000000-0000-0000-0000-000000000000}"/>
          </ac:spMkLst>
        </pc:spChg>
        <pc:spChg chg="mod">
          <ac:chgData name="Sơn Nguyễn Tư" userId="b5c3540c197f31ba" providerId="LiveId" clId="{88B85307-4E71-4835-8D5D-0384D6F49E9B}" dt="2026-06-03T05:28:47.791" v="970"/>
          <ac:spMkLst>
            <pc:docMk/>
            <pc:sldMk cId="0" sldId="282"/>
            <ac:spMk id="12" creationId="{00000000-0000-0000-0000-000000000000}"/>
          </ac:spMkLst>
        </pc:spChg>
      </pc:sldChg>
      <pc:sldChg chg="modSp mod modTransition">
        <pc:chgData name="Sơn Nguyễn Tư" userId="b5c3540c197f31ba" providerId="LiveId" clId="{88B85307-4E71-4835-8D5D-0384D6F49E9B}" dt="2026-06-04T03:07:08.916" v="1005"/>
        <pc:sldMkLst>
          <pc:docMk/>
          <pc:sldMk cId="0" sldId="283"/>
        </pc:sldMkLst>
        <pc:spChg chg="mod">
          <ac:chgData name="Sơn Nguyễn Tư" userId="b5c3540c197f31ba" providerId="LiveId" clId="{88B85307-4E71-4835-8D5D-0384D6F49E9B}" dt="2026-05-30T02:45:35.898" v="148" actId="20577"/>
          <ac:spMkLst>
            <pc:docMk/>
            <pc:sldMk cId="0" sldId="283"/>
            <ac:spMk id="2" creationId="{00000000-0000-0000-0000-000000000000}"/>
          </ac:spMkLst>
        </pc:spChg>
      </pc:sldChg>
      <pc:sldChg chg="modTransition">
        <pc:chgData name="Sơn Nguyễn Tư" userId="b5c3540c197f31ba" providerId="LiveId" clId="{88B85307-4E71-4835-8D5D-0384D6F49E9B}" dt="2026-06-04T03:07:08.916" v="1005"/>
        <pc:sldMkLst>
          <pc:docMk/>
          <pc:sldMk cId="0" sldId="284"/>
        </pc:sldMkLst>
      </pc:sldChg>
      <pc:sldChg chg="modTransition">
        <pc:chgData name="Sơn Nguyễn Tư" userId="b5c3540c197f31ba" providerId="LiveId" clId="{88B85307-4E71-4835-8D5D-0384D6F49E9B}" dt="2026-06-04T03:07:08.916" v="1005"/>
        <pc:sldMkLst>
          <pc:docMk/>
          <pc:sldMk cId="0" sldId="285"/>
        </pc:sldMkLst>
      </pc:sldChg>
      <pc:sldChg chg="modTransition">
        <pc:chgData name="Sơn Nguyễn Tư" userId="b5c3540c197f31ba" providerId="LiveId" clId="{88B85307-4E71-4835-8D5D-0384D6F49E9B}" dt="2026-06-04T03:07:08.916" v="1005"/>
        <pc:sldMkLst>
          <pc:docMk/>
          <pc:sldMk cId="0" sldId="286"/>
        </pc:sldMkLst>
      </pc:sldChg>
      <pc:sldChg chg="delSp modSp mod modTransition">
        <pc:chgData name="Sơn Nguyễn Tư" userId="b5c3540c197f31ba" providerId="LiveId" clId="{88B85307-4E71-4835-8D5D-0384D6F49E9B}" dt="2026-06-04T03:07:08.916" v="1005"/>
        <pc:sldMkLst>
          <pc:docMk/>
          <pc:sldMk cId="0" sldId="287"/>
        </pc:sldMkLst>
        <pc:spChg chg="mod">
          <ac:chgData name="Sơn Nguyễn Tư" userId="b5c3540c197f31ba" providerId="LiveId" clId="{88B85307-4E71-4835-8D5D-0384D6F49E9B}" dt="2026-06-03T05:09:30.272" v="447" actId="1076"/>
          <ac:spMkLst>
            <pc:docMk/>
            <pc:sldMk cId="0" sldId="287"/>
            <ac:spMk id="2" creationId="{00000000-0000-0000-0000-000000000000}"/>
          </ac:spMkLst>
        </pc:spChg>
        <pc:spChg chg="del">
          <ac:chgData name="Sơn Nguyễn Tư" userId="b5c3540c197f31ba" providerId="LiveId" clId="{88B85307-4E71-4835-8D5D-0384D6F49E9B}" dt="2026-06-03T05:09:15.860" v="444" actId="478"/>
          <ac:spMkLst>
            <pc:docMk/>
            <pc:sldMk cId="0" sldId="287"/>
            <ac:spMk id="3" creationId="{00000000-0000-0000-0000-000000000000}"/>
          </ac:spMkLst>
        </pc:spChg>
        <pc:spChg chg="del">
          <ac:chgData name="Sơn Nguyễn Tư" userId="b5c3540c197f31ba" providerId="LiveId" clId="{88B85307-4E71-4835-8D5D-0384D6F49E9B}" dt="2026-06-03T05:09:21.502" v="445" actId="478"/>
          <ac:spMkLst>
            <pc:docMk/>
            <pc:sldMk cId="0" sldId="287"/>
            <ac:spMk id="4" creationId="{00000000-0000-0000-0000-000000000000}"/>
          </ac:spMkLst>
        </pc:spChg>
        <pc:spChg chg="del">
          <ac:chgData name="Sơn Nguyễn Tư" userId="b5c3540c197f31ba" providerId="LiveId" clId="{88B85307-4E71-4835-8D5D-0384D6F49E9B}" dt="2026-06-03T05:09:33.382" v="448" actId="478"/>
          <ac:spMkLst>
            <pc:docMk/>
            <pc:sldMk cId="0" sldId="287"/>
            <ac:spMk id="5" creationId="{00000000-0000-0000-0000-000000000000}"/>
          </ac:spMkLst>
        </pc:spChg>
        <pc:spChg chg="del">
          <ac:chgData name="Sơn Nguyễn Tư" userId="b5c3540c197f31ba" providerId="LiveId" clId="{88B85307-4E71-4835-8D5D-0384D6F49E9B}" dt="2026-06-03T05:09:24.193" v="446" actId="478"/>
          <ac:spMkLst>
            <pc:docMk/>
            <pc:sldMk cId="0" sldId="287"/>
            <ac:spMk id="6" creationId="{00000000-0000-0000-0000-000000000000}"/>
          </ac:spMkLst>
        </pc:spChg>
      </pc:sldChg>
      <pc:sldChg chg="modSp mod modTransition">
        <pc:chgData name="Sơn Nguyễn Tư" userId="b5c3540c197f31ba" providerId="LiveId" clId="{88B85307-4E71-4835-8D5D-0384D6F49E9B}" dt="2026-06-04T03:07:08.916" v="1005"/>
        <pc:sldMkLst>
          <pc:docMk/>
          <pc:sldMk cId="2973790323" sldId="288"/>
        </pc:sldMkLst>
        <pc:spChg chg="mod">
          <ac:chgData name="Sơn Nguyễn Tư" userId="b5c3540c197f31ba" providerId="LiveId" clId="{88B85307-4E71-4835-8D5D-0384D6F49E9B}" dt="2026-06-03T05:10:29.179" v="449" actId="20577"/>
          <ac:spMkLst>
            <pc:docMk/>
            <pc:sldMk cId="2973790323" sldId="288"/>
            <ac:spMk id="2" creationId="{0697DF2E-05E3-3D6B-AD71-EA1110EB203F}"/>
          </ac:spMkLst>
        </pc:spChg>
        <pc:spChg chg="mod">
          <ac:chgData name="Sơn Nguyễn Tư" userId="b5c3540c197f31ba" providerId="LiveId" clId="{88B85307-4E71-4835-8D5D-0384D6F49E9B}" dt="2026-05-30T04:16:21.705" v="345" actId="14100"/>
          <ac:spMkLst>
            <pc:docMk/>
            <pc:sldMk cId="2973790323" sldId="288"/>
            <ac:spMk id="7" creationId="{ED8C4FD0-8B3E-F24F-E86B-C89FC4304139}"/>
          </ac:spMkLst>
        </pc:spChg>
        <pc:spChg chg="mod">
          <ac:chgData name="Sơn Nguyễn Tư" userId="b5c3540c197f31ba" providerId="LiveId" clId="{88B85307-4E71-4835-8D5D-0384D6F49E9B}" dt="2026-05-30T04:16:30.816" v="356" actId="1036"/>
          <ac:spMkLst>
            <pc:docMk/>
            <pc:sldMk cId="2973790323" sldId="288"/>
            <ac:spMk id="11" creationId="{4BF90584-92B2-9AD2-A246-3C0C72EBCC81}"/>
          </ac:spMkLst>
        </pc:spChg>
      </pc:sldChg>
      <pc:sldChg chg="addSp delSp modSp add mod ord modTransition">
        <pc:chgData name="Sơn Nguyễn Tư" userId="b5c3540c197f31ba" providerId="LiveId" clId="{88B85307-4E71-4835-8D5D-0384D6F49E9B}" dt="2026-06-04T03:07:08.916" v="1005"/>
        <pc:sldMkLst>
          <pc:docMk/>
          <pc:sldMk cId="1048648057" sldId="289"/>
        </pc:sldMkLst>
        <pc:spChg chg="mod">
          <ac:chgData name="Sơn Nguyễn Tư" userId="b5c3540c197f31ba" providerId="LiveId" clId="{88B85307-4E71-4835-8D5D-0384D6F49E9B}" dt="2026-06-03T05:21:52.055" v="750"/>
          <ac:spMkLst>
            <pc:docMk/>
            <pc:sldMk cId="1048648057" sldId="289"/>
            <ac:spMk id="2" creationId="{206E5908-BAD1-A726-3A36-CC8BD8C1D90B}"/>
          </ac:spMkLst>
        </pc:spChg>
        <pc:spChg chg="mod">
          <ac:chgData name="Sơn Nguyễn Tư" userId="b5c3540c197f31ba" providerId="LiveId" clId="{88B85307-4E71-4835-8D5D-0384D6F49E9B}" dt="2026-06-03T05:23:07.273" v="830" actId="20577"/>
          <ac:spMkLst>
            <pc:docMk/>
            <pc:sldMk cId="1048648057" sldId="289"/>
            <ac:spMk id="4" creationId="{6EB7D51C-64B3-0EF5-7E9A-00A300872AC3}"/>
          </ac:spMkLst>
        </pc:spChg>
        <pc:spChg chg="mod">
          <ac:chgData name="Sơn Nguyễn Tư" userId="b5c3540c197f31ba" providerId="LiveId" clId="{88B85307-4E71-4835-8D5D-0384D6F49E9B}" dt="2026-06-03T05:22:00.152" v="756" actId="1036"/>
          <ac:spMkLst>
            <pc:docMk/>
            <pc:sldMk cId="1048648057" sldId="289"/>
            <ac:spMk id="5" creationId="{EE00F216-B514-780D-9963-9F992019EA8C}"/>
          </ac:spMkLst>
        </pc:spChg>
        <pc:spChg chg="mod">
          <ac:chgData name="Sơn Nguyễn Tư" userId="b5c3540c197f31ba" providerId="LiveId" clId="{88B85307-4E71-4835-8D5D-0384D6F49E9B}" dt="2026-06-03T05:22:00.152" v="756" actId="1036"/>
          <ac:spMkLst>
            <pc:docMk/>
            <pc:sldMk cId="1048648057" sldId="289"/>
            <ac:spMk id="7" creationId="{4BF7019E-8883-A9F2-BB8B-5AE8BEBA34EF}"/>
          </ac:spMkLst>
        </pc:spChg>
        <pc:spChg chg="mod">
          <ac:chgData name="Sơn Nguyễn Tư" userId="b5c3540c197f31ba" providerId="LiveId" clId="{88B85307-4E71-4835-8D5D-0384D6F49E9B}" dt="2026-06-03T05:22:25.388" v="763" actId="14100"/>
          <ac:spMkLst>
            <pc:docMk/>
            <pc:sldMk cId="1048648057" sldId="289"/>
            <ac:spMk id="9" creationId="{F7C22787-5695-0C83-31F6-975365E9F442}"/>
          </ac:spMkLst>
        </pc:spChg>
        <pc:spChg chg="mod">
          <ac:chgData name="Sơn Nguyễn Tư" userId="b5c3540c197f31ba" providerId="LiveId" clId="{88B85307-4E71-4835-8D5D-0384D6F49E9B}" dt="2026-06-03T05:22:30.087" v="764" actId="14100"/>
          <ac:spMkLst>
            <pc:docMk/>
            <pc:sldMk cId="1048648057" sldId="289"/>
            <ac:spMk id="10" creationId="{02CDD145-D516-03B3-D2E9-0E38C42EA055}"/>
          </ac:spMkLst>
        </pc:spChg>
        <pc:picChg chg="del">
          <ac:chgData name="Sơn Nguyễn Tư" userId="b5c3540c197f31ba" providerId="LiveId" clId="{88B85307-4E71-4835-8D5D-0384D6F49E9B}" dt="2026-06-03T05:20:06.265" v="737" actId="478"/>
          <ac:picMkLst>
            <pc:docMk/>
            <pc:sldMk cId="1048648057" sldId="289"/>
            <ac:picMk id="6" creationId="{091BD2A5-1A25-E49D-983E-541BD9DF79E3}"/>
          </ac:picMkLst>
        </pc:picChg>
        <pc:picChg chg="del">
          <ac:chgData name="Sơn Nguyễn Tư" userId="b5c3540c197f31ba" providerId="LiveId" clId="{88B85307-4E71-4835-8D5D-0384D6F49E9B}" dt="2026-06-03T05:20:08.017" v="738" actId="478"/>
          <ac:picMkLst>
            <pc:docMk/>
            <pc:sldMk cId="1048648057" sldId="289"/>
            <ac:picMk id="8" creationId="{F6D11A7B-0DF0-0FC3-79C8-29D7D7706D5A}"/>
          </ac:picMkLst>
        </pc:picChg>
        <pc:picChg chg="add mod">
          <ac:chgData name="Sơn Nguyễn Tư" userId="b5c3540c197f31ba" providerId="LiveId" clId="{88B85307-4E71-4835-8D5D-0384D6F49E9B}" dt="2026-06-03T05:22:00.152" v="756" actId="1036"/>
          <ac:picMkLst>
            <pc:docMk/>
            <pc:sldMk cId="1048648057" sldId="289"/>
            <ac:picMk id="17" creationId="{8BBB95E9-0B15-99D4-F70B-65921FF428A4}"/>
          </ac:picMkLst>
        </pc:picChg>
        <pc:picChg chg="add mod">
          <ac:chgData name="Sơn Nguyễn Tư" userId="b5c3540c197f31ba" providerId="LiveId" clId="{88B85307-4E71-4835-8D5D-0384D6F49E9B}" dt="2026-06-03T05:22:00.152" v="756" actId="1036"/>
          <ac:picMkLst>
            <pc:docMk/>
            <pc:sldMk cId="1048648057" sldId="289"/>
            <ac:picMk id="19" creationId="{37B4EA4F-2B37-6DCB-04C0-B122258DCC9C}"/>
          </ac:picMkLst>
        </pc:picChg>
      </pc:sldChg>
      <pc:sldChg chg="addSp delSp modSp add mod ord modTransition">
        <pc:chgData name="Sơn Nguyễn Tư" userId="b5c3540c197f31ba" providerId="LiveId" clId="{88B85307-4E71-4835-8D5D-0384D6F49E9B}" dt="2026-06-04T03:07:08.916" v="1005"/>
        <pc:sldMkLst>
          <pc:docMk/>
          <pc:sldMk cId="2563436468" sldId="290"/>
        </pc:sldMkLst>
        <pc:spChg chg="mod">
          <ac:chgData name="Sơn Nguyễn Tư" userId="b5c3540c197f31ba" providerId="LiveId" clId="{88B85307-4E71-4835-8D5D-0384D6F49E9B}" dt="2026-06-03T05:26:25.208" v="859"/>
          <ac:spMkLst>
            <pc:docMk/>
            <pc:sldMk cId="2563436468" sldId="290"/>
            <ac:spMk id="2" creationId="{A585B563-C97C-4342-3EFF-B184F3A2562B}"/>
          </ac:spMkLst>
        </pc:spChg>
        <pc:spChg chg="mod">
          <ac:chgData name="Sơn Nguyễn Tư" userId="b5c3540c197f31ba" providerId="LiveId" clId="{88B85307-4E71-4835-8D5D-0384D6F49E9B}" dt="2026-06-03T05:26:41.880" v="860"/>
          <ac:spMkLst>
            <pc:docMk/>
            <pc:sldMk cId="2563436468" sldId="290"/>
            <ac:spMk id="4" creationId="{2BDEAE21-852C-113C-CC29-DE74335E53DF}"/>
          </ac:spMkLst>
        </pc:spChg>
        <pc:spChg chg="mod">
          <ac:chgData name="Sơn Nguyễn Tư" userId="b5c3540c197f31ba" providerId="LiveId" clId="{88B85307-4E71-4835-8D5D-0384D6F49E9B}" dt="2026-06-03T05:27:03.466" v="875" actId="1036"/>
          <ac:spMkLst>
            <pc:docMk/>
            <pc:sldMk cId="2563436468" sldId="290"/>
            <ac:spMk id="5" creationId="{69CAE9B0-2562-E4F3-72A1-A9F98DBDD448}"/>
          </ac:spMkLst>
        </pc:spChg>
        <pc:spChg chg="mod">
          <ac:chgData name="Sơn Nguyễn Tư" userId="b5c3540c197f31ba" providerId="LiveId" clId="{88B85307-4E71-4835-8D5D-0384D6F49E9B}" dt="2026-06-03T05:27:03.466" v="875" actId="1036"/>
          <ac:spMkLst>
            <pc:docMk/>
            <pc:sldMk cId="2563436468" sldId="290"/>
            <ac:spMk id="7" creationId="{AA3C7356-893B-2540-5EB6-40697FF6AD7F}"/>
          </ac:spMkLst>
        </pc:spChg>
        <pc:spChg chg="mod">
          <ac:chgData name="Sơn Nguyễn Tư" userId="b5c3540c197f31ba" providerId="LiveId" clId="{88B85307-4E71-4835-8D5D-0384D6F49E9B}" dt="2026-06-03T05:27:03.466" v="875" actId="1036"/>
          <ac:spMkLst>
            <pc:docMk/>
            <pc:sldMk cId="2563436468" sldId="290"/>
            <ac:spMk id="9" creationId="{B47E42D4-E486-11CC-CE70-502AA1359E88}"/>
          </ac:spMkLst>
        </pc:spChg>
        <pc:spChg chg="del">
          <ac:chgData name="Sơn Nguyễn Tư" userId="b5c3540c197f31ba" providerId="LiveId" clId="{88B85307-4E71-4835-8D5D-0384D6F49E9B}" dt="2026-06-03T05:26:56.967" v="861" actId="478"/>
          <ac:spMkLst>
            <pc:docMk/>
            <pc:sldMk cId="2563436468" sldId="290"/>
            <ac:spMk id="14" creationId="{FC0BD9CC-2A9B-5122-5010-8B921D244FC1}"/>
          </ac:spMkLst>
        </pc:spChg>
        <pc:spChg chg="del">
          <ac:chgData name="Sơn Nguyễn Tư" userId="b5c3540c197f31ba" providerId="LiveId" clId="{88B85307-4E71-4835-8D5D-0384D6F49E9B}" dt="2026-06-03T05:26:56.967" v="861" actId="478"/>
          <ac:spMkLst>
            <pc:docMk/>
            <pc:sldMk cId="2563436468" sldId="290"/>
            <ac:spMk id="15" creationId="{44D27C5E-2B66-A595-71C3-9EA0DA12BFCC}"/>
          </ac:spMkLst>
        </pc:spChg>
        <pc:spChg chg="add mod">
          <ac:chgData name="Sơn Nguyễn Tư" userId="b5c3540c197f31ba" providerId="LiveId" clId="{88B85307-4E71-4835-8D5D-0384D6F49E9B}" dt="2026-06-03T05:27:08.522" v="900" actId="1035"/>
          <ac:spMkLst>
            <pc:docMk/>
            <pc:sldMk cId="2563436468" sldId="290"/>
            <ac:spMk id="26" creationId="{707362ED-B984-C97C-6B22-F0290BC090ED}"/>
          </ac:spMkLst>
        </pc:spChg>
        <pc:spChg chg="add mod">
          <ac:chgData name="Sơn Nguyễn Tư" userId="b5c3540c197f31ba" providerId="LiveId" clId="{88B85307-4E71-4835-8D5D-0384D6F49E9B}" dt="2026-06-03T05:27:08.522" v="900" actId="1035"/>
          <ac:spMkLst>
            <pc:docMk/>
            <pc:sldMk cId="2563436468" sldId="290"/>
            <ac:spMk id="28" creationId="{B7A30ADD-8369-736E-FBF1-C5A3E70FD179}"/>
          </ac:spMkLst>
        </pc:spChg>
        <pc:picChg chg="del">
          <ac:chgData name="Sơn Nguyễn Tư" userId="b5c3540c197f31ba" providerId="LiveId" clId="{88B85307-4E71-4835-8D5D-0384D6F49E9B}" dt="2026-06-03T05:24:48.045" v="845" actId="478"/>
          <ac:picMkLst>
            <pc:docMk/>
            <pc:sldMk cId="2563436468" sldId="290"/>
            <ac:picMk id="6" creationId="{672ABDAB-77ED-5531-A99C-16C987500029}"/>
          </ac:picMkLst>
        </pc:picChg>
        <pc:picChg chg="del">
          <ac:chgData name="Sơn Nguyễn Tư" userId="b5c3540c197f31ba" providerId="LiveId" clId="{88B85307-4E71-4835-8D5D-0384D6F49E9B}" dt="2026-06-03T05:25:09.475" v="850" actId="478"/>
          <ac:picMkLst>
            <pc:docMk/>
            <pc:sldMk cId="2563436468" sldId="290"/>
            <ac:picMk id="8" creationId="{59DB3261-E6D6-5F71-E945-20CCEFB52E29}"/>
          </ac:picMkLst>
        </pc:picChg>
        <pc:picChg chg="del">
          <ac:chgData name="Sơn Nguyễn Tư" userId="b5c3540c197f31ba" providerId="LiveId" clId="{88B85307-4E71-4835-8D5D-0384D6F49E9B}" dt="2026-06-03T05:23:54.950" v="834" actId="478"/>
          <ac:picMkLst>
            <pc:docMk/>
            <pc:sldMk cId="2563436468" sldId="290"/>
            <ac:picMk id="10" creationId="{B203DF26-5472-1EDF-E15E-513C5BB39939}"/>
          </ac:picMkLst>
        </pc:picChg>
        <pc:picChg chg="add mod">
          <ac:chgData name="Sơn Nguyễn Tư" userId="b5c3540c197f31ba" providerId="LiveId" clId="{88B85307-4E71-4835-8D5D-0384D6F49E9B}" dt="2026-06-03T05:27:03.466" v="875" actId="1036"/>
          <ac:picMkLst>
            <pc:docMk/>
            <pc:sldMk cId="2563436468" sldId="290"/>
            <ac:picMk id="20" creationId="{01B7EF78-09C6-A862-07EA-63DACE17AAEE}"/>
          </ac:picMkLst>
        </pc:picChg>
        <pc:picChg chg="add mod">
          <ac:chgData name="Sơn Nguyễn Tư" userId="b5c3540c197f31ba" providerId="LiveId" clId="{88B85307-4E71-4835-8D5D-0384D6F49E9B}" dt="2026-06-03T05:27:03.466" v="875" actId="1036"/>
          <ac:picMkLst>
            <pc:docMk/>
            <pc:sldMk cId="2563436468" sldId="290"/>
            <ac:picMk id="22" creationId="{346D3F41-B337-32B7-0FA9-1FAF475A13F2}"/>
          </ac:picMkLst>
        </pc:picChg>
        <pc:picChg chg="add mod">
          <ac:chgData name="Sơn Nguyễn Tư" userId="b5c3540c197f31ba" providerId="LiveId" clId="{88B85307-4E71-4835-8D5D-0384D6F49E9B}" dt="2026-06-03T05:27:03.466" v="875" actId="1036"/>
          <ac:picMkLst>
            <pc:docMk/>
            <pc:sldMk cId="2563436468" sldId="290"/>
            <ac:picMk id="24" creationId="{B5AB8408-1374-F71D-D83E-CE6E9ADA2B08}"/>
          </ac:picMkLst>
        </pc:picChg>
      </pc:sldChg>
      <pc:sldMasterChg chg="modTransition modSldLayout">
        <pc:chgData name="Sơn Nguyễn Tư" userId="b5c3540c197f31ba" providerId="LiveId" clId="{88B85307-4E71-4835-8D5D-0384D6F49E9B}" dt="2026-06-04T03:07:08.916" v="1005"/>
        <pc:sldMasterMkLst>
          <pc:docMk/>
          <pc:sldMasterMk cId="0" sldId="2147483648"/>
        </pc:sldMasterMkLst>
        <pc:sldLayoutChg chg="modTransition">
          <pc:chgData name="Sơn Nguyễn Tư" userId="b5c3540c197f31ba" providerId="LiveId" clId="{88B85307-4E71-4835-8D5D-0384D6F49E9B}" dt="2026-06-04T03:07:08.916" v="1005"/>
          <pc:sldLayoutMkLst>
            <pc:docMk/>
            <pc:sldMasterMk cId="0" sldId="2147483648"/>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491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Kính thưa thầy cô trong hội đồng, kính thưa thầy hướng dẫn.</a:t>
            </a:r>
            <a:br>
              <a:rPr lang="vi-VN" sz="1200" kern="1200" dirty="0">
                <a:solidFill>
                  <a:schemeClr val="tx1"/>
                </a:solidFill>
                <a:effectLst/>
                <a:latin typeface="+mn-lt"/>
                <a:ea typeface="+mn-ea"/>
                <a:cs typeface="+mn-cs"/>
              </a:rPr>
            </a:br>
            <a:r>
              <a:rPr lang="vi-VN" sz="1200" kern="1200" dirty="0">
                <a:solidFill>
                  <a:schemeClr val="tx1"/>
                </a:solidFill>
                <a:effectLst/>
                <a:latin typeface="+mn-lt"/>
                <a:ea typeface="+mn-ea"/>
                <a:cs typeface="+mn-cs"/>
              </a:rPr>
              <a:t>Em là Nguyễn Tư Sơn, hôm nay em xin trình bày đồ án tốt nghiệp với đề tài: “Nghiên cứu ứng dụng viễn thám và học máy trong thành lập bản đồ độ sâu ngập lụt tại tỉnh Thừa Thiên Huế”.</a:t>
            </a:r>
          </a:p>
          <a:p>
            <a:r>
              <a:rPr lang="vi-VN" sz="1200" kern="1200" dirty="0">
                <a:solidFill>
                  <a:schemeClr val="tx1"/>
                </a:solidFill>
                <a:effectLst/>
                <a:latin typeface="+mn-lt"/>
                <a:ea typeface="+mn-ea"/>
                <a:cs typeface="+mn-cs"/>
              </a:rPr>
              <a:t>Trọng tâm của đồ án là xây dựng một quy trình kết hợp dữ liệu viễn thám, GIS và các mô hình học máy để dự báo độ sâu ngập lụt theo từng điểm ảnh, lấy trận lũ lịch sử tháng 11 năm 1999 tại Huế làm kịch bản tham chiếu.</a:t>
            </a:r>
          </a:p>
          <a:p>
            <a:r>
              <a:rPr lang="vi-VN" sz="1200" kern="1200" dirty="0">
                <a:solidFill>
                  <a:schemeClr val="tx1"/>
                </a:solidFill>
                <a:effectLst/>
                <a:latin typeface="+mn-lt"/>
                <a:ea typeface="+mn-ea"/>
                <a:cs typeface="+mn-cs"/>
              </a:rPr>
              <a:t>Chuyển ý: Trước hết, em xin trình bày cấu trúc chính của bài báo cáo.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Bài trình bày của em gồm bốn phần chính.</a:t>
            </a:r>
            <a:br>
              <a:rPr lang="vi-VN" sz="1200" kern="1200" dirty="0">
                <a:solidFill>
                  <a:schemeClr val="tx1"/>
                </a:solidFill>
                <a:effectLst/>
                <a:latin typeface="+mn-lt"/>
                <a:ea typeface="+mn-ea"/>
                <a:cs typeface="+mn-cs"/>
              </a:rPr>
            </a:br>
            <a:r>
              <a:rPr lang="vi-VN" sz="1200" kern="1200" dirty="0">
                <a:solidFill>
                  <a:schemeClr val="tx1"/>
                </a:solidFill>
                <a:effectLst/>
                <a:latin typeface="+mn-lt"/>
                <a:ea typeface="+mn-ea"/>
                <a:cs typeface="+mn-cs"/>
              </a:rPr>
              <a:t>Thứ nhất là bối cảnh và mục tiêu nghiên cứu.</a:t>
            </a:r>
            <a:br>
              <a:rPr lang="vi-VN" sz="1200" kern="1200" dirty="0">
                <a:solidFill>
                  <a:schemeClr val="tx1"/>
                </a:solidFill>
                <a:effectLst/>
                <a:latin typeface="+mn-lt"/>
                <a:ea typeface="+mn-ea"/>
                <a:cs typeface="+mn-cs"/>
              </a:rPr>
            </a:br>
            <a:r>
              <a:rPr lang="vi-VN" sz="1200" kern="1200" dirty="0">
                <a:solidFill>
                  <a:schemeClr val="tx1"/>
                </a:solidFill>
                <a:effectLst/>
                <a:latin typeface="+mn-lt"/>
                <a:ea typeface="+mn-ea"/>
                <a:cs typeface="+mn-cs"/>
              </a:rPr>
              <a:t>Thứ hai là bộ dữ liệu và quy trình tiền xử lý.</a:t>
            </a:r>
            <a:br>
              <a:rPr lang="vi-VN" sz="1200" kern="1200" dirty="0">
                <a:solidFill>
                  <a:schemeClr val="tx1"/>
                </a:solidFill>
                <a:effectLst/>
                <a:latin typeface="+mn-lt"/>
                <a:ea typeface="+mn-ea"/>
                <a:cs typeface="+mn-cs"/>
              </a:rPr>
            </a:br>
            <a:r>
              <a:rPr lang="vi-VN" sz="1200" kern="1200" dirty="0">
                <a:solidFill>
                  <a:schemeClr val="tx1"/>
                </a:solidFill>
                <a:effectLst/>
                <a:latin typeface="+mn-lt"/>
                <a:ea typeface="+mn-ea"/>
                <a:cs typeface="+mn-cs"/>
              </a:rPr>
              <a:t>Thứ ba là các mô hình học máy được sử dụng.</a:t>
            </a:r>
            <a:br>
              <a:rPr lang="vi-VN" sz="1200" kern="1200" dirty="0">
                <a:solidFill>
                  <a:schemeClr val="tx1"/>
                </a:solidFill>
                <a:effectLst/>
                <a:latin typeface="+mn-lt"/>
                <a:ea typeface="+mn-ea"/>
                <a:cs typeface="+mn-cs"/>
              </a:rPr>
            </a:br>
            <a:r>
              <a:rPr lang="vi-VN" sz="1200" kern="1200" dirty="0">
                <a:solidFill>
                  <a:schemeClr val="tx1"/>
                </a:solidFill>
                <a:effectLst/>
                <a:latin typeface="+mn-lt"/>
                <a:ea typeface="+mn-ea"/>
                <a:cs typeface="+mn-cs"/>
              </a:rPr>
              <a:t>Cuối cùng là kết quả thực nghiệm, bản đồ đầu ra, đóng góp và hạn chế của đồ án.</a:t>
            </a:r>
          </a:p>
          <a:p>
            <a:r>
              <a:rPr lang="vi-VN" sz="1200" kern="1200" dirty="0">
                <a:solidFill>
                  <a:schemeClr val="tx1"/>
                </a:solidFill>
                <a:effectLst/>
                <a:latin typeface="+mn-lt"/>
                <a:ea typeface="+mn-ea"/>
                <a:cs typeface="+mn-cs"/>
              </a:rPr>
              <a:t>Chuyển ý: Em bắt đầu từ lý do vì sao đề tài này cần thiết.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Thừa Thiên Huế là khu vực thường xuyên chịu ảnh hưởng của lũ lớn do địa hình hẹp, dốc, hệ thống sông ngắn và mưa bão tập trung. Trận lũ tháng 11 năm 1999 là một sự kiện cực đoan, với mực nước tại Kim Long đạt 5,81 m.</a:t>
            </a:r>
          </a:p>
          <a:p>
            <a:r>
              <a:rPr lang="vi-VN" sz="1200" kern="1200" dirty="0">
                <a:solidFill>
                  <a:schemeClr val="tx1"/>
                </a:solidFill>
                <a:effectLst/>
                <a:latin typeface="+mn-lt"/>
                <a:ea typeface="+mn-ea"/>
                <a:cs typeface="+mn-cs"/>
              </a:rPr>
              <a:t>Trong thực tế, bản đồ ngập lụt không chỉ cần biết khu vực nào bị ngập, mà còn cần biết ngập sâu bao nhiêu để phục vụ sơ tán, quy hoạch và bảo vệ di sản. Tuy nhiên, nhiều nghiên cứu học máy hiện nay mới dừng lại ở phân loại ngập hoặc không ngập.</a:t>
            </a:r>
          </a:p>
          <a:p>
            <a:r>
              <a:rPr lang="vi-VN" sz="1200" kern="1200" dirty="0">
                <a:solidFill>
                  <a:schemeClr val="tx1"/>
                </a:solidFill>
                <a:effectLst/>
                <a:latin typeface="+mn-lt"/>
                <a:ea typeface="+mn-ea"/>
                <a:cs typeface="+mn-cs"/>
              </a:rPr>
              <a:t>Vì vậy, đồ án của em lựa chọn bài toán khó hơn: dự báo định lượng độ sâu ngập lụt, bằng cách kết hợp viễn thám, GIS, học máy và tri thức thủy văn.</a:t>
            </a:r>
          </a:p>
          <a:p>
            <a:r>
              <a:rPr lang="vi-VN" sz="1200" kern="1200" dirty="0">
                <a:solidFill>
                  <a:schemeClr val="tx1"/>
                </a:solidFill>
                <a:effectLst/>
                <a:latin typeface="+mn-lt"/>
                <a:ea typeface="+mn-ea"/>
                <a:cs typeface="+mn-cs"/>
              </a:rPr>
              <a:t>Chuyển ý: Để hiểu vì sao Huế là khu vực nghiên cứu phù hợp, em xin trình bày đặc điểm địa hình – thủy văn của khu vực.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Khu vực nghiên cứu là thành phố Huế, với diện tích khoảng 4.947,1 km². Địa hình Huế phân hóa rất rõ theo hướng Tây – Đông: phía Tây là vùng núi cao, tiếp đến là đồi trung du, và phía Đông là đồng bằng thấp, đầm phá và ven biển.</a:t>
            </a:r>
          </a:p>
          <a:p>
            <a:r>
              <a:rPr lang="vi-VN" sz="1200" kern="1200" dirty="0">
                <a:solidFill>
                  <a:schemeClr val="tx1"/>
                </a:solidFill>
                <a:effectLst/>
                <a:latin typeface="+mn-lt"/>
                <a:ea typeface="+mn-ea"/>
                <a:cs typeface="+mn-cs"/>
              </a:rPr>
              <a:t>Đây là đặc điểm rất quan trọng đối với bài toán ngập lụt. Vùng núi dốc tạo dòng chảy nhanh, trong khi vùng đồng bằng và đầm phá phía Đông là nơi nước dễ tích tụ. Ngoài ra, hệ thống sông Hương, sông Bồ và sông Ô Lâu cũng làm cho ngập lụt ở Huế có tính liên kết mạnh với địa hình và thủy văn.</a:t>
            </a:r>
          </a:p>
          <a:p>
            <a:r>
              <a:rPr lang="vi-VN" sz="1200" kern="1200" dirty="0">
                <a:solidFill>
                  <a:schemeClr val="tx1"/>
                </a:solidFill>
                <a:effectLst/>
                <a:latin typeface="+mn-lt"/>
                <a:ea typeface="+mn-ea"/>
                <a:cs typeface="+mn-cs"/>
              </a:rPr>
              <a:t>Chuyển ý: Từ đặc điểm đó, em xây dựng một quy trình nghiên cứu gồm bốn bước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Quy trình nghiên cứu bắt đầu từ việc chuẩn hóa các dữ liệu đầu vào: tái chiếu, cắt theo ranh giới Huế, đưa về cùng độ phân giải 30 m và xử lý </a:t>
            </a:r>
            <a:r>
              <a:rPr lang="vi-VN" sz="1200" kern="1200" dirty="0" err="1">
                <a:solidFill>
                  <a:schemeClr val="tx1"/>
                </a:solidFill>
                <a:effectLst/>
                <a:latin typeface="+mn-lt"/>
                <a:ea typeface="+mn-ea"/>
                <a:cs typeface="+mn-cs"/>
              </a:rPr>
              <a:t>NoData</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Sau đó, em xây dựng bộ 31 đặc trưng đầu vào, gồm 16 biến gốc và 15 biến tương tác. Các đặc trưng này được trích xuất tại 1.000 điểm vết lũ </a:t>
            </a:r>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 để tạo bảng dữ liệu huấn luyện.</a:t>
            </a:r>
          </a:p>
          <a:p>
            <a:r>
              <a:rPr lang="vi-VN" sz="1200" kern="1200" dirty="0">
                <a:solidFill>
                  <a:schemeClr val="tx1"/>
                </a:solidFill>
                <a:effectLst/>
                <a:latin typeface="+mn-lt"/>
                <a:ea typeface="+mn-ea"/>
                <a:cs typeface="+mn-cs"/>
              </a:rPr>
              <a:t>Tiếp theo, em huấn luyện và so sánh ba mô hình: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Deep</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Neural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Network</a:t>
            </a:r>
            <a:r>
              <a:rPr lang="vi-VN" sz="1200" kern="1200" dirty="0">
                <a:solidFill>
                  <a:schemeClr val="tx1"/>
                </a:solidFill>
                <a:effectLst/>
                <a:latin typeface="+mn-lt"/>
                <a:ea typeface="+mn-ea"/>
                <a:cs typeface="+mn-cs"/>
              </a:rPr>
              <a:t>. Cuối cùng, mô hình được áp dụng cho toàn bộ </a:t>
            </a:r>
            <a:r>
              <a:rPr lang="vi-VN" sz="1200" kern="1200" dirty="0" err="1">
                <a:solidFill>
                  <a:schemeClr val="tx1"/>
                </a:solidFill>
                <a:effectLst/>
                <a:latin typeface="+mn-lt"/>
                <a:ea typeface="+mn-ea"/>
                <a:cs typeface="+mn-cs"/>
              </a:rPr>
              <a:t>raster</a:t>
            </a:r>
            <a:r>
              <a:rPr lang="vi-VN" sz="1200" kern="1200" dirty="0">
                <a:solidFill>
                  <a:schemeClr val="tx1"/>
                </a:solidFill>
                <a:effectLst/>
                <a:latin typeface="+mn-lt"/>
                <a:ea typeface="+mn-ea"/>
                <a:cs typeface="+mn-cs"/>
              </a:rPr>
              <a:t> 30 m để tạo bản đồ độ sâu ngập liên tục và bản đồ phân vùng 6 cấp.</a:t>
            </a:r>
          </a:p>
          <a:p>
            <a:r>
              <a:rPr lang="vi-VN" sz="1200" kern="1200" dirty="0">
                <a:solidFill>
                  <a:schemeClr val="tx1"/>
                </a:solidFill>
                <a:effectLst/>
                <a:latin typeface="+mn-lt"/>
                <a:ea typeface="+mn-ea"/>
                <a:cs typeface="+mn-cs"/>
              </a:rPr>
              <a:t>Chuyển ý: Phần tiếp theo là dữ liệu nghiên cứu, đây là nền tảng quan trọng nhất của đồ án.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Bài toán của em là hồi quy có giám sát. Biến mục tiêu là độ sâu ngập tại các điểm </a:t>
            </a:r>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 1999, còn đầu vào là 31 đặc trưng không gian.</a:t>
            </a:r>
          </a:p>
          <a:p>
            <a:r>
              <a:rPr lang="vi-VN" sz="1200" kern="1200" dirty="0">
                <a:solidFill>
                  <a:schemeClr val="tx1"/>
                </a:solidFill>
                <a:effectLst/>
                <a:latin typeface="+mn-lt"/>
                <a:ea typeface="+mn-ea"/>
                <a:cs typeface="+mn-cs"/>
              </a:rPr>
              <a:t>Năm nguồn dữ liệu chính được sử dụng gồm: ALOS </a:t>
            </a:r>
            <a:r>
              <a:rPr lang="vi-VN" sz="1200" kern="1200" dirty="0" err="1">
                <a:solidFill>
                  <a:schemeClr val="tx1"/>
                </a:solidFill>
                <a:effectLst/>
                <a:latin typeface="+mn-lt"/>
                <a:ea typeface="+mn-ea"/>
                <a:cs typeface="+mn-cs"/>
              </a:rPr>
              <a:t>World</a:t>
            </a:r>
            <a:r>
              <a:rPr lang="vi-VN" sz="1200" kern="1200" dirty="0">
                <a:solidFill>
                  <a:schemeClr val="tx1"/>
                </a:solidFill>
                <a:effectLst/>
                <a:latin typeface="+mn-lt"/>
                <a:ea typeface="+mn-ea"/>
                <a:cs typeface="+mn-cs"/>
              </a:rPr>
              <a:t> 3D cho DEM, MERIT-HAND cho độ cao tương đối so với dòng chảy, JRC </a:t>
            </a:r>
            <a:r>
              <a:rPr lang="vi-VN" sz="1200" kern="1200" dirty="0" err="1">
                <a:solidFill>
                  <a:schemeClr val="tx1"/>
                </a:solidFill>
                <a:effectLst/>
                <a:latin typeface="+mn-lt"/>
                <a:ea typeface="+mn-ea"/>
                <a:cs typeface="+mn-cs"/>
              </a:rPr>
              <a:t>Global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Surface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Water</a:t>
            </a:r>
            <a:r>
              <a:rPr lang="vi-VN" sz="1200" kern="1200" dirty="0">
                <a:solidFill>
                  <a:schemeClr val="tx1"/>
                </a:solidFill>
                <a:effectLst/>
                <a:latin typeface="+mn-lt"/>
                <a:ea typeface="+mn-ea"/>
                <a:cs typeface="+mn-cs"/>
              </a:rPr>
              <a:t> cho xác suất xuất hiện nước, ESA </a:t>
            </a:r>
            <a:r>
              <a:rPr lang="vi-VN" sz="1200" kern="1200" dirty="0" err="1">
                <a:solidFill>
                  <a:schemeClr val="tx1"/>
                </a:solidFill>
                <a:effectLst/>
                <a:latin typeface="+mn-lt"/>
                <a:ea typeface="+mn-ea"/>
                <a:cs typeface="+mn-cs"/>
              </a:rPr>
              <a:t>WorldCover</a:t>
            </a:r>
            <a:r>
              <a:rPr lang="vi-VN" sz="1200" kern="1200" dirty="0">
                <a:solidFill>
                  <a:schemeClr val="tx1"/>
                </a:solidFill>
                <a:effectLst/>
                <a:latin typeface="+mn-lt"/>
                <a:ea typeface="+mn-ea"/>
                <a:cs typeface="+mn-cs"/>
              </a:rPr>
              <a:t> cho lớp phủ bề mặt và hệ số </a:t>
            </a:r>
            <a:r>
              <a:rPr lang="vi-VN" sz="1200" kern="1200" dirty="0" err="1">
                <a:solidFill>
                  <a:schemeClr val="tx1"/>
                </a:solidFill>
                <a:effectLst/>
                <a:latin typeface="+mn-lt"/>
                <a:ea typeface="+mn-ea"/>
                <a:cs typeface="+mn-cs"/>
              </a:rPr>
              <a:t>Manning</a:t>
            </a:r>
            <a:r>
              <a:rPr lang="vi-VN" sz="1200" kern="1200" dirty="0">
                <a:solidFill>
                  <a:schemeClr val="tx1"/>
                </a:solidFill>
                <a:effectLst/>
                <a:latin typeface="+mn-lt"/>
                <a:ea typeface="+mn-ea"/>
                <a:cs typeface="+mn-cs"/>
              </a:rPr>
              <a:t>, cùng với dữ liệu mưa sự kiện tháng 11 năm 1999 từ 5 trạm khí tượng.</a:t>
            </a:r>
          </a:p>
          <a:p>
            <a:r>
              <a:rPr lang="vi-VN" sz="1200" kern="1200" dirty="0">
                <a:solidFill>
                  <a:schemeClr val="tx1"/>
                </a:solidFill>
                <a:effectLst/>
                <a:latin typeface="+mn-lt"/>
                <a:ea typeface="+mn-ea"/>
                <a:cs typeface="+mn-cs"/>
              </a:rPr>
              <a:t>Tất cả dữ liệu được chuẩn hóa về hệ tọa độ UTM </a:t>
            </a:r>
            <a:r>
              <a:rPr lang="vi-VN" sz="1200" kern="1200" dirty="0" err="1">
                <a:solidFill>
                  <a:schemeClr val="tx1"/>
                </a:solidFill>
                <a:effectLst/>
                <a:latin typeface="+mn-lt"/>
                <a:ea typeface="+mn-ea"/>
                <a:cs typeface="+mn-cs"/>
              </a:rPr>
              <a:t>Zone</a:t>
            </a:r>
            <a:r>
              <a:rPr lang="vi-VN" sz="1200" kern="1200" dirty="0">
                <a:solidFill>
                  <a:schemeClr val="tx1"/>
                </a:solidFill>
                <a:effectLst/>
                <a:latin typeface="+mn-lt"/>
                <a:ea typeface="+mn-ea"/>
                <a:cs typeface="+mn-cs"/>
              </a:rPr>
              <a:t> 48N và độ phân giải 30 m để có thể chồng xếp chính xác.</a:t>
            </a:r>
          </a:p>
          <a:p>
            <a:r>
              <a:rPr lang="vi-VN" sz="1200" kern="1200" dirty="0">
                <a:solidFill>
                  <a:schemeClr val="tx1"/>
                </a:solidFill>
                <a:effectLst/>
                <a:latin typeface="+mn-lt"/>
                <a:ea typeface="+mn-ea"/>
                <a:cs typeface="+mn-cs"/>
              </a:rPr>
              <a:t>Chuyển ý: Để các nguồn dữ liệu khác nhau có thể đưa vào mô hình, em cần một bước chuẩn hóa thống nhất.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Ở bước này, các dữ liệu được thu thập từ nhiều nguồn khác nhau nên cần được đưa về cùng hệ quy chiếu, cùng phạm vi và cùng kích thước ô lưới.</a:t>
            </a:r>
          </a:p>
          <a:p>
            <a:r>
              <a:rPr lang="vi-VN" sz="1200" kern="1200" dirty="0">
                <a:solidFill>
                  <a:schemeClr val="tx1"/>
                </a:solidFill>
                <a:effectLst/>
                <a:latin typeface="+mn-lt"/>
                <a:ea typeface="+mn-ea"/>
                <a:cs typeface="+mn-cs"/>
              </a:rPr>
              <a:t>Các </a:t>
            </a:r>
            <a:r>
              <a:rPr lang="vi-VN" sz="1200" kern="1200" dirty="0" err="1">
                <a:solidFill>
                  <a:schemeClr val="tx1"/>
                </a:solidFill>
                <a:effectLst/>
                <a:latin typeface="+mn-lt"/>
                <a:ea typeface="+mn-ea"/>
                <a:cs typeface="+mn-cs"/>
              </a:rPr>
              <a:t>raster</a:t>
            </a:r>
            <a:r>
              <a:rPr lang="vi-VN" sz="1200" kern="1200" dirty="0">
                <a:solidFill>
                  <a:schemeClr val="tx1"/>
                </a:solidFill>
                <a:effectLst/>
                <a:latin typeface="+mn-lt"/>
                <a:ea typeface="+mn-ea"/>
                <a:cs typeface="+mn-cs"/>
              </a:rPr>
              <a:t> liên tục như DEM hoặc mưa được tái lấy mẫu bằng </a:t>
            </a:r>
            <a:r>
              <a:rPr lang="vi-VN" sz="1200" kern="1200" dirty="0" err="1">
                <a:solidFill>
                  <a:schemeClr val="tx1"/>
                </a:solidFill>
                <a:effectLst/>
                <a:latin typeface="+mn-lt"/>
                <a:ea typeface="+mn-ea"/>
                <a:cs typeface="+mn-cs"/>
              </a:rPr>
              <a:t>bilinear</a:t>
            </a:r>
            <a:r>
              <a:rPr lang="vi-VN" sz="1200" kern="1200" dirty="0">
                <a:solidFill>
                  <a:schemeClr val="tx1"/>
                </a:solidFill>
                <a:effectLst/>
                <a:latin typeface="+mn-lt"/>
                <a:ea typeface="+mn-ea"/>
                <a:cs typeface="+mn-cs"/>
              </a:rPr>
              <a:t>, còn dữ liệu phân loại như lớp phủ bề mặt được tái lấy mẫu bằng </a:t>
            </a:r>
            <a:r>
              <a:rPr lang="vi-VN" sz="1200" kern="1200" dirty="0" err="1">
                <a:solidFill>
                  <a:schemeClr val="tx1"/>
                </a:solidFill>
                <a:effectLst/>
                <a:latin typeface="+mn-lt"/>
                <a:ea typeface="+mn-ea"/>
                <a:cs typeface="+mn-cs"/>
              </a:rPr>
              <a:t>nearest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neighbor</a:t>
            </a:r>
            <a:r>
              <a:rPr lang="vi-VN" sz="1200" kern="1200" dirty="0">
                <a:solidFill>
                  <a:schemeClr val="tx1"/>
                </a:solidFill>
                <a:effectLst/>
                <a:latin typeface="+mn-lt"/>
                <a:ea typeface="+mn-ea"/>
                <a:cs typeface="+mn-cs"/>
              </a:rPr>
              <a:t> để giữ nguyên mã lớp. Sau đó, em dẫn xuất các đặc trưng địa hình – thủy văn và trích xuất giá trị tại 1.000 điểm </a:t>
            </a:r>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Kết quả là bảng dữ liệu cuối cùng gồm 1.000 hàng và 32 cột: 31 đặc trưng đầu vào và 1 biến mục tiêu là </a:t>
            </a:r>
            <a:r>
              <a:rPr lang="vi-VN" sz="1200" kern="1200" dirty="0" err="1">
                <a:solidFill>
                  <a:schemeClr val="tx1"/>
                </a:solidFill>
                <a:effectLst/>
                <a:latin typeface="+mn-lt"/>
                <a:ea typeface="+mn-ea"/>
                <a:cs typeface="+mn-cs"/>
              </a:rPr>
              <a:t>flood_depth</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Chuyển ý: Biến mục tiêu trong nghiên cứu này chính là bộ vết lũ </a:t>
            </a:r>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 1999.</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 1999 là dữ liệu thực địa quan trọng nhất trong đồ án. Bộ dữ liệu gồm 1.000 điểm khảo sát sau trận lũ tháng 11 năm 1999.</a:t>
            </a:r>
          </a:p>
          <a:p>
            <a:r>
              <a:rPr lang="vi-VN" sz="1200" kern="1200" dirty="0">
                <a:solidFill>
                  <a:schemeClr val="tx1"/>
                </a:solidFill>
                <a:effectLst/>
                <a:latin typeface="+mn-lt"/>
                <a:ea typeface="+mn-ea"/>
                <a:cs typeface="+mn-cs"/>
              </a:rPr>
              <a:t>Trong đó có 285 điểm có ngập, với độ sâu từ 0,1 đến 5 m, và 715 điểm không ngập. Điều này tạo ra đặc tính </a:t>
            </a:r>
            <a:r>
              <a:rPr lang="vi-VN" sz="1200" kern="1200" dirty="0" err="1">
                <a:solidFill>
                  <a:schemeClr val="tx1"/>
                </a:solidFill>
                <a:effectLst/>
                <a:latin typeface="+mn-lt"/>
                <a:ea typeface="+mn-ea"/>
                <a:cs typeface="+mn-cs"/>
              </a:rPr>
              <a:t>zero-inflated</a:t>
            </a:r>
            <a:r>
              <a:rPr lang="vi-VN" sz="1200" kern="1200" dirty="0">
                <a:solidFill>
                  <a:schemeClr val="tx1"/>
                </a:solidFill>
                <a:effectLst/>
                <a:latin typeface="+mn-lt"/>
                <a:ea typeface="+mn-ea"/>
                <a:cs typeface="+mn-cs"/>
              </a:rPr>
              <a:t>, tức là dữ liệu có rất nhiều giá trị bằng 0.</a:t>
            </a:r>
          </a:p>
          <a:p>
            <a:r>
              <a:rPr lang="vi-VN" sz="1200" kern="1200" dirty="0">
                <a:solidFill>
                  <a:schemeClr val="tx1"/>
                </a:solidFill>
                <a:effectLst/>
                <a:latin typeface="+mn-lt"/>
                <a:ea typeface="+mn-ea"/>
                <a:cs typeface="+mn-cs"/>
              </a:rPr>
              <a:t>Đây là một thách thức lớn cho bài toán hồi quy, vì mô hình dễ có xu hướng dự báo lệch về các giá trị phổ biến thay vì dự báo tốt các cấp ngập trung gian và cực đoan.</a:t>
            </a:r>
          </a:p>
          <a:p>
            <a:r>
              <a:rPr lang="vi-VN" sz="1200" kern="1200" dirty="0">
                <a:solidFill>
                  <a:schemeClr val="tx1"/>
                </a:solidFill>
                <a:effectLst/>
                <a:latin typeface="+mn-lt"/>
                <a:ea typeface="+mn-ea"/>
                <a:cs typeface="+mn-cs"/>
              </a:rPr>
              <a:t>Chuyển ý: Vì vậy, em cần xử lý và phân cấp dữ liệu một cách khách quan trước khi đánh giá mô hình.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Dữ liệu </a:t>
            </a:r>
            <a:r>
              <a:rPr lang="vi-VN" sz="1200" kern="1200" dirty="0" err="1">
                <a:solidFill>
                  <a:schemeClr val="tx1"/>
                </a:solidFill>
                <a:effectLst/>
                <a:latin typeface="+mn-lt"/>
                <a:ea typeface="+mn-ea"/>
                <a:cs typeface="+mn-cs"/>
              </a:rPr>
              <a:t>FloodMarks</a:t>
            </a:r>
            <a:r>
              <a:rPr lang="vi-VN" sz="1200" kern="1200" dirty="0">
                <a:solidFill>
                  <a:schemeClr val="tx1"/>
                </a:solidFill>
                <a:effectLst/>
                <a:latin typeface="+mn-lt"/>
                <a:ea typeface="+mn-ea"/>
                <a:cs typeface="+mn-cs"/>
              </a:rPr>
              <a:t> được làm sạch bằng cách loại các điểm bất thường, điểm ngoài ranh giới, giá trị âm hoặc trùng tọa độ. Sau đó, dữ liệu được chuyển về UTM </a:t>
            </a:r>
            <a:r>
              <a:rPr lang="vi-VN" sz="1200" kern="1200" dirty="0" err="1">
                <a:solidFill>
                  <a:schemeClr val="tx1"/>
                </a:solidFill>
                <a:effectLst/>
                <a:latin typeface="+mn-lt"/>
                <a:ea typeface="+mn-ea"/>
                <a:cs typeface="+mn-cs"/>
              </a:rPr>
              <a:t>Zone</a:t>
            </a:r>
            <a:r>
              <a:rPr lang="vi-VN" sz="1200" kern="1200" dirty="0">
                <a:solidFill>
                  <a:schemeClr val="tx1"/>
                </a:solidFill>
                <a:effectLst/>
                <a:latin typeface="+mn-lt"/>
                <a:ea typeface="+mn-ea"/>
                <a:cs typeface="+mn-cs"/>
              </a:rPr>
              <a:t> 48N và trích xuất 31 đặc trưng </a:t>
            </a:r>
            <a:r>
              <a:rPr lang="vi-VN" sz="1200" kern="1200" dirty="0" err="1">
                <a:solidFill>
                  <a:schemeClr val="tx1"/>
                </a:solidFill>
                <a:effectLst/>
                <a:latin typeface="+mn-lt"/>
                <a:ea typeface="+mn-ea"/>
                <a:cs typeface="+mn-cs"/>
              </a:rPr>
              <a:t>raster</a:t>
            </a:r>
            <a:r>
              <a:rPr lang="vi-VN" sz="1200" kern="1200" dirty="0">
                <a:solidFill>
                  <a:schemeClr val="tx1"/>
                </a:solidFill>
                <a:effectLst/>
                <a:latin typeface="+mn-lt"/>
                <a:ea typeface="+mn-ea"/>
                <a:cs typeface="+mn-cs"/>
              </a:rPr>
              <a:t> tại từng điểm.</a:t>
            </a:r>
          </a:p>
          <a:p>
            <a:r>
              <a:rPr lang="vi-VN" sz="1200" kern="1200" dirty="0">
                <a:solidFill>
                  <a:schemeClr val="tx1"/>
                </a:solidFill>
                <a:effectLst/>
                <a:latin typeface="+mn-lt"/>
                <a:ea typeface="+mn-ea"/>
                <a:cs typeface="+mn-cs"/>
              </a:rPr>
              <a:t>Để đánh giá khách quan, dữ liệu được chia theo tỷ lệ 80:10:10 và lấy mẫu phân tầng theo cấp ngập. Kết quả hồi quy sau đó được quy đổi thành 6 cấp: không ngập, dưới 0,5 m, 0,5–1 m, 1–1,5 m, 1,5–2 m và trên 2 m.</a:t>
            </a:r>
          </a:p>
          <a:p>
            <a:r>
              <a:rPr lang="vi-VN" sz="1200" kern="1200" dirty="0">
                <a:solidFill>
                  <a:schemeClr val="tx1"/>
                </a:solidFill>
                <a:effectLst/>
                <a:latin typeface="+mn-lt"/>
                <a:ea typeface="+mn-ea"/>
                <a:cs typeface="+mn-cs"/>
              </a:rPr>
              <a:t>Việc phân cấp này giúp kết quả mô hình không chỉ có ý nghĩa về mặt số học, mà còn dễ hiểu hơn khi ứng dụng vào quy hoạch và phòng chống thiên tai.</a:t>
            </a:r>
          </a:p>
          <a:p>
            <a:r>
              <a:rPr lang="vi-VN" sz="1200" kern="1200" dirty="0">
                <a:solidFill>
                  <a:schemeClr val="tx1"/>
                </a:solidFill>
                <a:effectLst/>
                <a:latin typeface="+mn-lt"/>
                <a:ea typeface="+mn-ea"/>
                <a:cs typeface="+mn-cs"/>
              </a:rPr>
              <a:t>Chuyển ý: Sau biến mục tiêu, em xin trình bày nhóm đặc trưng đầu vào đầu tiên: 16 biến gốc.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16 biến gốc được chia thành bốn nhóm: địa hình, thủy văn, lớp phủ bề mặt và khí tượng.</a:t>
            </a:r>
          </a:p>
          <a:p>
            <a:r>
              <a:rPr lang="vi-VN" sz="1200" kern="1200" dirty="0">
                <a:solidFill>
                  <a:schemeClr val="tx1"/>
                </a:solidFill>
                <a:effectLst/>
                <a:latin typeface="+mn-lt"/>
                <a:ea typeface="+mn-ea"/>
                <a:cs typeface="+mn-cs"/>
              </a:rPr>
              <a:t>Nhóm địa hình gồm DEM, </a:t>
            </a:r>
            <a:r>
              <a:rPr lang="vi-VN" sz="1200" kern="1200" dirty="0" err="1">
                <a:solidFill>
                  <a:schemeClr val="tx1"/>
                </a:solidFill>
                <a:effectLst/>
                <a:latin typeface="+mn-lt"/>
                <a:ea typeface="+mn-ea"/>
                <a:cs typeface="+mn-cs"/>
              </a:rPr>
              <a:t>slope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aspect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curvature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roughness</a:t>
            </a:r>
            <a:r>
              <a:rPr lang="vi-VN" sz="1200" kern="1200" dirty="0">
                <a:solidFill>
                  <a:schemeClr val="tx1"/>
                </a:solidFill>
                <a:effectLst/>
                <a:latin typeface="+mn-lt"/>
                <a:ea typeface="+mn-ea"/>
                <a:cs typeface="+mn-cs"/>
              </a:rPr>
              <a:t>, TPI, </a:t>
            </a:r>
            <a:r>
              <a:rPr lang="vi-VN" sz="1200" kern="1200" dirty="0" err="1">
                <a:solidFill>
                  <a:schemeClr val="tx1"/>
                </a:solidFill>
                <a:effectLst/>
                <a:latin typeface="+mn-lt"/>
                <a:ea typeface="+mn-ea"/>
                <a:cs typeface="+mn-cs"/>
              </a:rPr>
              <a:t>hillshade</a:t>
            </a:r>
            <a:r>
              <a:rPr lang="vi-VN" sz="1200" kern="1200" dirty="0">
                <a:solidFill>
                  <a:schemeClr val="tx1"/>
                </a:solidFill>
                <a:effectLst/>
                <a:latin typeface="+mn-lt"/>
                <a:ea typeface="+mn-ea"/>
                <a:cs typeface="+mn-cs"/>
              </a:rPr>
              <a:t> và TWI. Nhóm thủy văn gồm HAND, khoảng cách đến sông, mật độ sông, tích lũy dòng chảy và SPI. Ngoài ra còn có xác suất mặt nước JRC, lớp phủ ESA </a:t>
            </a:r>
            <a:r>
              <a:rPr lang="vi-VN" sz="1200" kern="1200" dirty="0" err="1">
                <a:solidFill>
                  <a:schemeClr val="tx1"/>
                </a:solidFill>
                <a:effectLst/>
                <a:latin typeface="+mn-lt"/>
                <a:ea typeface="+mn-ea"/>
                <a:cs typeface="+mn-cs"/>
              </a:rPr>
              <a:t>WorldCover</a:t>
            </a:r>
            <a:r>
              <a:rPr lang="vi-VN" sz="1200" kern="1200" dirty="0">
                <a:solidFill>
                  <a:schemeClr val="tx1"/>
                </a:solidFill>
                <a:effectLst/>
                <a:latin typeface="+mn-lt"/>
                <a:ea typeface="+mn-ea"/>
                <a:cs typeface="+mn-cs"/>
              </a:rPr>
              <a:t>, hệ số </a:t>
            </a:r>
            <a:r>
              <a:rPr lang="vi-VN" sz="1200" kern="1200" dirty="0" err="1">
                <a:solidFill>
                  <a:schemeClr val="tx1"/>
                </a:solidFill>
                <a:effectLst/>
                <a:latin typeface="+mn-lt"/>
                <a:ea typeface="+mn-ea"/>
                <a:cs typeface="+mn-cs"/>
              </a:rPr>
              <a:t>Manning</a:t>
            </a:r>
            <a:r>
              <a:rPr lang="vi-VN" sz="1200" kern="1200" dirty="0">
                <a:solidFill>
                  <a:schemeClr val="tx1"/>
                </a:solidFill>
                <a:effectLst/>
                <a:latin typeface="+mn-lt"/>
                <a:ea typeface="+mn-ea"/>
                <a:cs typeface="+mn-cs"/>
              </a:rPr>
              <a:t> và lượng mưa sự kiện.</a:t>
            </a:r>
          </a:p>
          <a:p>
            <a:r>
              <a:rPr lang="vi-VN" sz="1200" kern="1200" dirty="0">
                <a:solidFill>
                  <a:schemeClr val="tx1"/>
                </a:solidFill>
                <a:effectLst/>
                <a:latin typeface="+mn-lt"/>
                <a:ea typeface="+mn-ea"/>
                <a:cs typeface="+mn-cs"/>
              </a:rPr>
              <a:t>Điểm quan trọng là các biến này không chỉ là dữ liệu GIS thuần túy, mà phản ánh các cơ chế sinh lũ: nơi thấp dễ ngập, nơi gần sông dễ chịu ảnh hưởng, bề mặt nhám làm chậm dòng chảy, và mưa là động lực gây lũ.</a:t>
            </a:r>
          </a:p>
          <a:p>
            <a:r>
              <a:rPr lang="vi-VN" sz="1200" kern="1200" dirty="0">
                <a:solidFill>
                  <a:schemeClr val="tx1"/>
                </a:solidFill>
                <a:effectLst/>
                <a:latin typeface="+mn-lt"/>
                <a:ea typeface="+mn-ea"/>
                <a:cs typeface="+mn-cs"/>
              </a:rPr>
              <a:t>Chuyển ý: Trong các biến đó, DEM là nền tảng quan trọng nhất.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DEM từ ALOS </a:t>
            </a:r>
            <a:r>
              <a:rPr lang="vi-VN" sz="1200" kern="1200" dirty="0" err="1">
                <a:solidFill>
                  <a:schemeClr val="tx1"/>
                </a:solidFill>
                <a:effectLst/>
                <a:latin typeface="+mn-lt"/>
                <a:ea typeface="+mn-ea"/>
                <a:cs typeface="+mn-cs"/>
              </a:rPr>
              <a:t>World</a:t>
            </a:r>
            <a:r>
              <a:rPr lang="vi-VN" sz="1200" kern="1200" dirty="0">
                <a:solidFill>
                  <a:schemeClr val="tx1"/>
                </a:solidFill>
                <a:effectLst/>
                <a:latin typeface="+mn-lt"/>
                <a:ea typeface="+mn-ea"/>
                <a:cs typeface="+mn-cs"/>
              </a:rPr>
              <a:t> 3D có độ phân giải 30 m, được sử dụng làm nền tảng địa hình cho toàn bộ nghiên cứu.</a:t>
            </a:r>
          </a:p>
          <a:p>
            <a:r>
              <a:rPr lang="vi-VN" sz="1200" kern="1200" dirty="0">
                <a:solidFill>
                  <a:schemeClr val="tx1"/>
                </a:solidFill>
                <a:effectLst/>
                <a:latin typeface="+mn-lt"/>
                <a:ea typeface="+mn-ea"/>
                <a:cs typeface="+mn-cs"/>
              </a:rPr>
              <a:t>Từ DEM gốc, em dẫn xuất nhiều đặc trưng khác như độ dốc, hướng dốc, TWI, TPI, </a:t>
            </a:r>
            <a:r>
              <a:rPr lang="vi-VN" sz="1200" kern="1200" dirty="0" err="1">
                <a:solidFill>
                  <a:schemeClr val="tx1"/>
                </a:solidFill>
                <a:effectLst/>
                <a:latin typeface="+mn-lt"/>
                <a:ea typeface="+mn-ea"/>
                <a:cs typeface="+mn-cs"/>
              </a:rPr>
              <a:t>curvature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roughness</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hillshade</a:t>
            </a:r>
            <a:r>
              <a:rPr lang="vi-VN" sz="1200" kern="1200" dirty="0">
                <a:solidFill>
                  <a:schemeClr val="tx1"/>
                </a:solidFill>
                <a:effectLst/>
                <a:latin typeface="+mn-lt"/>
                <a:ea typeface="+mn-ea"/>
                <a:cs typeface="+mn-cs"/>
              </a:rPr>
              <a:t>. Trong kết quả </a:t>
            </a:r>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DEM và các biến tương tác với DEM là nhóm đặc trưng chi phối mạnh nhất.</a:t>
            </a:r>
          </a:p>
          <a:p>
            <a:r>
              <a:rPr lang="vi-VN" sz="1200" kern="1200" dirty="0">
                <a:solidFill>
                  <a:schemeClr val="tx1"/>
                </a:solidFill>
                <a:effectLst/>
                <a:latin typeface="+mn-lt"/>
                <a:ea typeface="+mn-ea"/>
                <a:cs typeface="+mn-cs"/>
              </a:rPr>
              <a:t>Điều này phù hợp với bản chất vật lý của ngập lụt: độ cao địa hình là yếu tố đầu tiên quyết định nước có thể tích tụ ở đâu và ngập sâu đến mức nào.</a:t>
            </a:r>
          </a:p>
          <a:p>
            <a:r>
              <a:rPr lang="vi-VN" sz="1200" kern="1200" dirty="0">
                <a:solidFill>
                  <a:schemeClr val="tx1"/>
                </a:solidFill>
                <a:effectLst/>
                <a:latin typeface="+mn-lt"/>
                <a:ea typeface="+mn-ea"/>
                <a:cs typeface="+mn-cs"/>
              </a:rPr>
              <a:t>Chuyển ý: Từ DEM, em tiếp tục tạo các đặc trưng địa hình dẫn xuất.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69F7C-0F61-08AA-868C-266E88769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DD9AB-3DBF-7946-E0A4-78DA3162E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DB2C6-DB8D-2479-3B6E-9E09C78F7EF0}"/>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HAND, hay </a:t>
            </a:r>
            <a:r>
              <a:rPr lang="vi-VN" sz="1200" kern="1200" dirty="0" err="1">
                <a:solidFill>
                  <a:schemeClr val="tx1"/>
                </a:solidFill>
                <a:effectLst/>
                <a:latin typeface="+mn-lt"/>
                <a:ea typeface="+mn-ea"/>
                <a:cs typeface="+mn-cs"/>
              </a:rPr>
              <a:t>Height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Above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Nearest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Drainage</a:t>
            </a:r>
            <a:r>
              <a:rPr lang="vi-VN" sz="1200" kern="1200" dirty="0">
                <a:solidFill>
                  <a:schemeClr val="tx1"/>
                </a:solidFill>
                <a:effectLst/>
                <a:latin typeface="+mn-lt"/>
                <a:ea typeface="+mn-ea"/>
                <a:cs typeface="+mn-cs"/>
              </a:rPr>
              <a:t>, biểu diễn độ cao tương đối của từng điểm ảnh so với dòng chảy gần nhất.</a:t>
            </a:r>
          </a:p>
          <a:p>
            <a:r>
              <a:rPr lang="vi-VN" sz="1200" kern="1200" dirty="0">
                <a:solidFill>
                  <a:schemeClr val="tx1"/>
                </a:solidFill>
                <a:effectLst/>
                <a:latin typeface="+mn-lt"/>
                <a:ea typeface="+mn-ea"/>
                <a:cs typeface="+mn-cs"/>
              </a:rPr>
              <a:t>Ý nghĩa của HAND là: một điểm có thể không quá thấp về độ cao tuyệt đối, nhưng nếu nó nằm gần cao độ sông hoặc kênh thoát nước thì vẫn có nguy cơ ngập cao. Ngược lại, điểm có HAND lớn thường khó bị ngập hơn.</a:t>
            </a:r>
          </a:p>
          <a:p>
            <a:r>
              <a:rPr lang="vi-VN" sz="1200" kern="1200" dirty="0">
                <a:solidFill>
                  <a:schemeClr val="tx1"/>
                </a:solidFill>
                <a:effectLst/>
                <a:latin typeface="+mn-lt"/>
                <a:ea typeface="+mn-ea"/>
                <a:cs typeface="+mn-cs"/>
              </a:rPr>
              <a:t>Trong đồ án, HAND không chỉ là biến đầu vào mà còn được sử dụng trong ràng buộc đơn điệu của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và trong bước hậu xử lý thủy lực. Đây là một trong các biến giúp mô hình có tính “</a:t>
            </a:r>
            <a:r>
              <a:rPr lang="vi-VN" sz="1200" kern="1200" dirty="0" err="1">
                <a:solidFill>
                  <a:schemeClr val="tx1"/>
                </a:solidFill>
                <a:effectLst/>
                <a:latin typeface="+mn-lt"/>
                <a:ea typeface="+mn-ea"/>
                <a:cs typeface="+mn-cs"/>
              </a:rPr>
              <a:t>physics-informed</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Chuyển ý: Bên cạnh HAND, em còn sử dụng các đặc trưng thủy văn khác để mô tả kết nối với dòng chảy.</a:t>
            </a:r>
          </a:p>
          <a:p>
            <a:endParaRPr lang="en-US" dirty="0"/>
          </a:p>
        </p:txBody>
      </p:sp>
      <p:sp>
        <p:nvSpPr>
          <p:cNvPr id="4" name="Slide Number Placeholder 3">
            <a:extLst>
              <a:ext uri="{FF2B5EF4-FFF2-40B4-BE49-F238E27FC236}">
                <a16:creationId xmlns:a16="http://schemas.microsoft.com/office/drawing/2014/main" id="{FDB0A4B4-88B0-398C-110D-3355028D4C2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01809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Các đặc trưng thủy văn giúp mô hình hiểu một điểm ảnh gần dòng chảy đến mức nào và có khả năng nhận nước tập trung ra sao.</a:t>
            </a:r>
          </a:p>
          <a:p>
            <a:r>
              <a:rPr lang="vi-VN" sz="1200" kern="1200" dirty="0">
                <a:solidFill>
                  <a:schemeClr val="tx1"/>
                </a:solidFill>
                <a:effectLst/>
                <a:latin typeface="+mn-lt"/>
                <a:ea typeface="+mn-ea"/>
                <a:cs typeface="+mn-cs"/>
              </a:rPr>
              <a:t>Khoảng cách đến sông cho biết mức độ ảnh hưởng trực tiếp của hệ thống sông. Mật độ sông phản ánh mức độ dày đặc của mạng lưới thoát nước xung quanh. </a:t>
            </a:r>
            <a:r>
              <a:rPr lang="vi-VN" sz="1200" kern="1200" dirty="0" err="1">
                <a:solidFill>
                  <a:schemeClr val="tx1"/>
                </a:solidFill>
                <a:effectLst/>
                <a:latin typeface="+mn-lt"/>
                <a:ea typeface="+mn-ea"/>
                <a:cs typeface="+mn-cs"/>
              </a:rPr>
              <a:t>Flow</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accumulation</a:t>
            </a:r>
            <a:r>
              <a:rPr lang="vi-VN" sz="1200" kern="1200" dirty="0">
                <a:solidFill>
                  <a:schemeClr val="tx1"/>
                </a:solidFill>
                <a:effectLst/>
                <a:latin typeface="+mn-lt"/>
                <a:ea typeface="+mn-ea"/>
                <a:cs typeface="+mn-cs"/>
              </a:rPr>
              <a:t> và SPI mô tả xu hướng tập trung dòng chảy trên bề mặt.</a:t>
            </a:r>
          </a:p>
          <a:p>
            <a:r>
              <a:rPr lang="vi-VN" sz="1200" kern="1200" dirty="0">
                <a:solidFill>
                  <a:schemeClr val="tx1"/>
                </a:solidFill>
                <a:effectLst/>
                <a:latin typeface="+mn-lt"/>
                <a:ea typeface="+mn-ea"/>
                <a:cs typeface="+mn-cs"/>
              </a:rPr>
              <a:t>Các biến này rất cần thiết vì ngập lụt ở Huế không chỉ phụ thuộc vào độ cao, mà còn phụ thuộc mạnh vào hệ thống sông Hương, sông Bồ, sông Ô Lâu và vùng đầm phá.</a:t>
            </a:r>
          </a:p>
          <a:p>
            <a:r>
              <a:rPr lang="vi-VN" sz="1200" kern="1200" dirty="0">
                <a:solidFill>
                  <a:schemeClr val="tx1"/>
                </a:solidFill>
                <a:effectLst/>
                <a:latin typeface="+mn-lt"/>
                <a:ea typeface="+mn-ea"/>
                <a:cs typeface="+mn-cs"/>
              </a:rPr>
              <a:t>Chuyển ý: Tiếp theo là dữ liệu bề mặt nước lịch sử từ JRC.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JRC </a:t>
            </a:r>
            <a:r>
              <a:rPr lang="vi-VN" sz="1200" kern="1200" dirty="0" err="1">
                <a:solidFill>
                  <a:schemeClr val="tx1"/>
                </a:solidFill>
                <a:effectLst/>
                <a:latin typeface="+mn-lt"/>
                <a:ea typeface="+mn-ea"/>
                <a:cs typeface="+mn-cs"/>
              </a:rPr>
              <a:t>Global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Surface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Water</a:t>
            </a:r>
            <a:r>
              <a:rPr lang="vi-VN" sz="1200" kern="1200" dirty="0">
                <a:solidFill>
                  <a:schemeClr val="tx1"/>
                </a:solidFill>
                <a:effectLst/>
                <a:latin typeface="+mn-lt"/>
                <a:ea typeface="+mn-ea"/>
                <a:cs typeface="+mn-cs"/>
              </a:rPr>
              <a:t> cung cấp xác suất xuất hiện mặt nước trong giai đoạn dài từ 1984 đến 2021.</a:t>
            </a:r>
          </a:p>
          <a:p>
            <a:r>
              <a:rPr lang="vi-VN" sz="1200" kern="1200" dirty="0">
                <a:solidFill>
                  <a:schemeClr val="tx1"/>
                </a:solidFill>
                <a:effectLst/>
                <a:latin typeface="+mn-lt"/>
                <a:ea typeface="+mn-ea"/>
                <a:cs typeface="+mn-cs"/>
              </a:rPr>
              <a:t>Giá trị càng cao thì khu vực đó càng thường xuyên xuất hiện nước, ví dụ sông, hồ, đầm phá hoặc vùng bán ngập. Ở Huế, các vùng có giá trị cao tập trung tại đầm phá Tam Giang – Cầu Hai, sông Hương, sông Bồ và sông Ô Lâu.</a:t>
            </a:r>
          </a:p>
          <a:p>
            <a:r>
              <a:rPr lang="vi-VN" sz="1200" kern="1200" dirty="0">
                <a:solidFill>
                  <a:schemeClr val="tx1"/>
                </a:solidFill>
                <a:effectLst/>
                <a:latin typeface="+mn-lt"/>
                <a:ea typeface="+mn-ea"/>
                <a:cs typeface="+mn-cs"/>
              </a:rPr>
              <a:t>Biến này giúp mô hình nhận diện các khu vực vốn có liên hệ mạnh với nước mặt, đồng thời hỗ trợ hậu xử lý cho vùng lòng sông và đầm phá.</a:t>
            </a:r>
          </a:p>
          <a:p>
            <a:r>
              <a:rPr lang="vi-VN" sz="1200" kern="1200" dirty="0">
                <a:solidFill>
                  <a:schemeClr val="tx1"/>
                </a:solidFill>
                <a:effectLst/>
                <a:latin typeface="+mn-lt"/>
                <a:ea typeface="+mn-ea"/>
                <a:cs typeface="+mn-cs"/>
              </a:rPr>
              <a:t>Chuyển ý: Ngoài bề mặt nước, lớp phủ đất cũng ảnh hưởng đến dòng chảy thông qua hệ số nhám.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Dữ liệu ESA </a:t>
            </a:r>
            <a:r>
              <a:rPr lang="vi-VN" sz="1200" kern="1200" dirty="0" err="1">
                <a:solidFill>
                  <a:schemeClr val="tx1"/>
                </a:solidFill>
                <a:effectLst/>
                <a:latin typeface="+mn-lt"/>
                <a:ea typeface="+mn-ea"/>
                <a:cs typeface="+mn-cs"/>
              </a:rPr>
              <a:t>WorldCover</a:t>
            </a:r>
            <a:r>
              <a:rPr lang="vi-VN" sz="1200" kern="1200" dirty="0">
                <a:solidFill>
                  <a:schemeClr val="tx1"/>
                </a:solidFill>
                <a:effectLst/>
                <a:latin typeface="+mn-lt"/>
                <a:ea typeface="+mn-ea"/>
                <a:cs typeface="+mn-cs"/>
              </a:rPr>
              <a:t> ban đầu là dữ liệu phân loại lớp phủ bề mặt. Trong đồ án, em chuyển lớp phủ này thành hệ số nhám </a:t>
            </a:r>
            <a:r>
              <a:rPr lang="vi-VN" sz="1200" kern="1200" dirty="0" err="1">
                <a:solidFill>
                  <a:schemeClr val="tx1"/>
                </a:solidFill>
                <a:effectLst/>
                <a:latin typeface="+mn-lt"/>
                <a:ea typeface="+mn-ea"/>
                <a:cs typeface="+mn-cs"/>
              </a:rPr>
              <a:t>Manning</a:t>
            </a:r>
            <a:r>
              <a:rPr lang="vi-VN" sz="1200" kern="1200" dirty="0">
                <a:solidFill>
                  <a:schemeClr val="tx1"/>
                </a:solidFill>
                <a:effectLst/>
                <a:latin typeface="+mn-lt"/>
                <a:ea typeface="+mn-ea"/>
                <a:cs typeface="+mn-cs"/>
              </a:rPr>
              <a:t> n.</a:t>
            </a:r>
          </a:p>
          <a:p>
            <a:r>
              <a:rPr lang="vi-VN" sz="1200" kern="1200" dirty="0">
                <a:solidFill>
                  <a:schemeClr val="tx1"/>
                </a:solidFill>
                <a:effectLst/>
                <a:latin typeface="+mn-lt"/>
                <a:ea typeface="+mn-ea"/>
                <a:cs typeface="+mn-cs"/>
              </a:rPr>
              <a:t>Đây là bước quan trọng vì nó biến một biến phân loại thành một biến có ý nghĩa vật lý thủy lực. Ví dụ, rừng có hệ số nhám cao hơn do cản dòng chảy mạnh hơn; đất trống hoặc khu xây dựng có hệ số nhám khác; mặt nước thường xuyên cũng được gán hệ số phù hợp.</a:t>
            </a:r>
          </a:p>
          <a:p>
            <a:r>
              <a:rPr lang="vi-VN" sz="1200" kern="1200" dirty="0">
                <a:solidFill>
                  <a:schemeClr val="tx1"/>
                </a:solidFill>
                <a:effectLst/>
                <a:latin typeface="+mn-lt"/>
                <a:ea typeface="+mn-ea"/>
                <a:cs typeface="+mn-cs"/>
              </a:rPr>
              <a:t>Như vậy, mô hình không chỉ biết một điểm là rừng, đất nông nghiệp hay mặt nước, mà còn hiểu được mức độ ma sát bề mặt ảnh hưởng đến dòng chảy.</a:t>
            </a:r>
          </a:p>
          <a:p>
            <a:r>
              <a:rPr lang="vi-VN" sz="1200" kern="1200" dirty="0">
                <a:solidFill>
                  <a:schemeClr val="tx1"/>
                </a:solidFill>
                <a:effectLst/>
                <a:latin typeface="+mn-lt"/>
                <a:ea typeface="+mn-ea"/>
                <a:cs typeface="+mn-cs"/>
              </a:rPr>
              <a:t>Chuyển ý: Nhóm dữ liệu cuối cùng là dữ liệu khí tượng, cụ thể là lượng mưa của sự kiện lũ 1999.</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Dữ liệu mưa là đặc trưng khí tượng duy nhất trong bộ 16 biến gốc. Em sử dụng lượng mưa tích lũy từ ngày 01 đến 06 tháng 11 năm 1999 tại 5 trạm: A Lưới, Nam Đông, Huế, Phú Bài và </a:t>
            </a:r>
            <a:r>
              <a:rPr lang="vi-VN" sz="1200" kern="1200" dirty="0" err="1">
                <a:solidFill>
                  <a:schemeClr val="tx1"/>
                </a:solidFill>
                <a:effectLst/>
                <a:latin typeface="+mn-lt"/>
                <a:ea typeface="+mn-ea"/>
                <a:cs typeface="+mn-cs"/>
              </a:rPr>
              <a:t>Truồi</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Các điểm trạm được nội suy bằng phương pháp IDW với tham số </a:t>
            </a:r>
            <a:r>
              <a:rPr lang="vi-VN" sz="1200" kern="1200" dirty="0" err="1">
                <a:solidFill>
                  <a:schemeClr val="tx1"/>
                </a:solidFill>
                <a:effectLst/>
                <a:latin typeface="+mn-lt"/>
                <a:ea typeface="+mn-ea"/>
                <a:cs typeface="+mn-cs"/>
              </a:rPr>
              <a:t>beta</a:t>
            </a:r>
            <a:r>
              <a:rPr lang="vi-VN" sz="1200" kern="1200" dirty="0">
                <a:solidFill>
                  <a:schemeClr val="tx1"/>
                </a:solidFill>
                <a:effectLst/>
                <a:latin typeface="+mn-lt"/>
                <a:ea typeface="+mn-ea"/>
                <a:cs typeface="+mn-cs"/>
              </a:rPr>
              <a:t> bằng 2, nghĩa là trạm càng gần thì ảnh hưởng càng mạnh hơn. Kết quả là </a:t>
            </a:r>
            <a:r>
              <a:rPr lang="vi-VN" sz="1200" kern="1200" dirty="0" err="1">
                <a:solidFill>
                  <a:schemeClr val="tx1"/>
                </a:solidFill>
                <a:effectLst/>
                <a:latin typeface="+mn-lt"/>
                <a:ea typeface="+mn-ea"/>
                <a:cs typeface="+mn-cs"/>
              </a:rPr>
              <a:t>raster</a:t>
            </a:r>
            <a:r>
              <a:rPr lang="vi-VN" sz="1200" kern="1200" dirty="0">
                <a:solidFill>
                  <a:schemeClr val="tx1"/>
                </a:solidFill>
                <a:effectLst/>
                <a:latin typeface="+mn-lt"/>
                <a:ea typeface="+mn-ea"/>
                <a:cs typeface="+mn-cs"/>
              </a:rPr>
              <a:t> mưa 30 m đồng nhất với các dữ liệu khác.</a:t>
            </a:r>
          </a:p>
          <a:p>
            <a:r>
              <a:rPr lang="vi-VN" sz="1200" kern="1200" dirty="0">
                <a:solidFill>
                  <a:schemeClr val="tx1"/>
                </a:solidFill>
                <a:effectLst/>
                <a:latin typeface="+mn-lt"/>
                <a:ea typeface="+mn-ea"/>
                <a:cs typeface="+mn-cs"/>
              </a:rPr>
              <a:t>Biến mưa giúp bổ sung yếu tố động lực gây lũ, trong khi các biến địa hình và thủy văn mô tả điều kiện tiếp nhận và tích tụ nước.</a:t>
            </a:r>
          </a:p>
          <a:p>
            <a:r>
              <a:rPr lang="vi-VN" sz="1200" kern="1200" dirty="0">
                <a:solidFill>
                  <a:schemeClr val="tx1"/>
                </a:solidFill>
                <a:effectLst/>
                <a:latin typeface="+mn-lt"/>
                <a:ea typeface="+mn-ea"/>
                <a:cs typeface="+mn-cs"/>
              </a:rPr>
              <a:t>Chuyển ý: Ngoài 16 biến gốc, đồ án còn thiết kế thêm 15 biến tương tác.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15 biến tương tác được thiết kế để giúp mô hình học các quan hệ phi tuyến giữa địa hình, dòng chảy, lớp phủ và mưa.</a:t>
            </a:r>
          </a:p>
          <a:p>
            <a:r>
              <a:rPr lang="vi-VN" sz="1200" kern="1200" dirty="0">
                <a:solidFill>
                  <a:schemeClr val="tx1"/>
                </a:solidFill>
                <a:effectLst/>
                <a:latin typeface="+mn-lt"/>
                <a:ea typeface="+mn-ea"/>
                <a:cs typeface="+mn-cs"/>
              </a:rPr>
              <a:t>Ví dụ, </a:t>
            </a:r>
            <a:r>
              <a:rPr lang="vi-VN" sz="1200" kern="1200" dirty="0" err="1">
                <a:solidFill>
                  <a:schemeClr val="tx1"/>
                </a:solidFill>
                <a:effectLst/>
                <a:latin typeface="+mn-lt"/>
                <a:ea typeface="+mn-ea"/>
                <a:cs typeface="+mn-cs"/>
              </a:rPr>
              <a:t>dem_x_twi</a:t>
            </a:r>
            <a:r>
              <a:rPr lang="vi-VN" sz="1200" kern="1200" dirty="0">
                <a:solidFill>
                  <a:schemeClr val="tx1"/>
                </a:solidFill>
                <a:effectLst/>
                <a:latin typeface="+mn-lt"/>
                <a:ea typeface="+mn-ea"/>
                <a:cs typeface="+mn-cs"/>
              </a:rPr>
              <a:t> kết hợp độ cao và khả năng tích ẩm; </a:t>
            </a:r>
            <a:r>
              <a:rPr lang="vi-VN" sz="1200" kern="1200" dirty="0" err="1">
                <a:solidFill>
                  <a:schemeClr val="tx1"/>
                </a:solidFill>
                <a:effectLst/>
                <a:latin typeface="+mn-lt"/>
                <a:ea typeface="+mn-ea"/>
                <a:cs typeface="+mn-cs"/>
              </a:rPr>
              <a:t>rain_x_flow</a:t>
            </a:r>
            <a:r>
              <a:rPr lang="vi-VN" sz="1200" kern="1200" dirty="0">
                <a:solidFill>
                  <a:schemeClr val="tx1"/>
                </a:solidFill>
                <a:effectLst/>
                <a:latin typeface="+mn-lt"/>
                <a:ea typeface="+mn-ea"/>
                <a:cs typeface="+mn-cs"/>
              </a:rPr>
              <a:t> kết hợp lượng mưa và dòng chảy tập trung; </a:t>
            </a:r>
            <a:r>
              <a:rPr lang="vi-VN" sz="1200" kern="1200" dirty="0" err="1">
                <a:solidFill>
                  <a:schemeClr val="tx1"/>
                </a:solidFill>
                <a:effectLst/>
                <a:latin typeface="+mn-lt"/>
                <a:ea typeface="+mn-ea"/>
                <a:cs typeface="+mn-cs"/>
              </a:rPr>
              <a:t>manning_x_hand</a:t>
            </a:r>
            <a:r>
              <a:rPr lang="vi-VN" sz="1200" kern="1200" dirty="0">
                <a:solidFill>
                  <a:schemeClr val="tx1"/>
                </a:solidFill>
                <a:effectLst/>
                <a:latin typeface="+mn-lt"/>
                <a:ea typeface="+mn-ea"/>
                <a:cs typeface="+mn-cs"/>
              </a:rPr>
              <a:t> kết hợp ma sát bề mặt với độ cao tương đối so với dòng chảy. Ngoài ra còn có các biến </a:t>
            </a:r>
            <a:r>
              <a:rPr lang="vi-VN" sz="1200" kern="1200" dirty="0" err="1">
                <a:solidFill>
                  <a:schemeClr val="tx1"/>
                </a:solidFill>
                <a:effectLst/>
                <a:latin typeface="+mn-lt"/>
                <a:ea typeface="+mn-ea"/>
                <a:cs typeface="+mn-cs"/>
              </a:rPr>
              <a:t>hydraulic</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proxy</a:t>
            </a:r>
            <a:r>
              <a:rPr lang="vi-VN" sz="1200" kern="1200" dirty="0">
                <a:solidFill>
                  <a:schemeClr val="tx1"/>
                </a:solidFill>
                <a:effectLst/>
                <a:latin typeface="+mn-lt"/>
                <a:ea typeface="+mn-ea"/>
                <a:cs typeface="+mn-cs"/>
              </a:rPr>
              <a:t> như </a:t>
            </a:r>
            <a:r>
              <a:rPr lang="vi-VN" sz="1200" kern="1200" dirty="0" err="1">
                <a:solidFill>
                  <a:schemeClr val="tx1"/>
                </a:solidFill>
                <a:effectLst/>
                <a:latin typeface="+mn-lt"/>
                <a:ea typeface="+mn-ea"/>
                <a:cs typeface="+mn-cs"/>
              </a:rPr>
              <a:t>conveyance</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resistance</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Kết quả </a:t>
            </a:r>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cho thấy nhiều biến tương tác nằm trong nhóm quan trọng nhất, chứng minh rằng </a:t>
            </a:r>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engineering</a:t>
            </a:r>
            <a:r>
              <a:rPr lang="vi-VN" sz="1200" kern="1200" dirty="0">
                <a:solidFill>
                  <a:schemeClr val="tx1"/>
                </a:solidFill>
                <a:effectLst/>
                <a:latin typeface="+mn-lt"/>
                <a:ea typeface="+mn-ea"/>
                <a:cs typeface="+mn-cs"/>
              </a:rPr>
              <a:t> dựa trên hiểu biết thủy văn là cần thiết, chứ không chỉ đưa dữ liệu thô vào mô hình.</a:t>
            </a:r>
          </a:p>
          <a:p>
            <a:r>
              <a:rPr lang="vi-VN" sz="1200" kern="1200" dirty="0">
                <a:solidFill>
                  <a:schemeClr val="tx1"/>
                </a:solidFill>
                <a:effectLst/>
                <a:latin typeface="+mn-lt"/>
                <a:ea typeface="+mn-ea"/>
                <a:cs typeface="+mn-cs"/>
              </a:rPr>
              <a:t>Chuyển ý: Sau khi có bộ dữ liệu đầu vào, em tiến hành huấn luyện ba mô hình học máy.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Em sử dụng ba mô hình: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-GPU và </a:t>
            </a:r>
            <a:r>
              <a:rPr lang="vi-VN" sz="1200" kern="1200" dirty="0" err="1">
                <a:solidFill>
                  <a:schemeClr val="tx1"/>
                </a:solidFill>
                <a:effectLst/>
                <a:latin typeface="+mn-lt"/>
                <a:ea typeface="+mn-ea"/>
                <a:cs typeface="+mn-cs"/>
              </a:rPr>
              <a:t>Deep</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Neural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Network</a:t>
            </a:r>
            <a:r>
              <a:rPr lang="vi-VN" sz="1200" kern="1200" dirty="0">
                <a:solidFill>
                  <a:schemeClr val="tx1"/>
                </a:solidFill>
                <a:effectLst/>
                <a:latin typeface="+mn-lt"/>
                <a:ea typeface="+mn-ea"/>
                <a:cs typeface="+mn-cs"/>
              </a:rPr>
              <a:t>.</a:t>
            </a:r>
          </a:p>
          <a:p>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được dùng như mô hình </a:t>
            </a:r>
            <a:r>
              <a:rPr lang="vi-VN" sz="1200" kern="1200" dirty="0" err="1">
                <a:solidFill>
                  <a:schemeClr val="tx1"/>
                </a:solidFill>
                <a:effectLst/>
                <a:latin typeface="+mn-lt"/>
                <a:ea typeface="+mn-ea"/>
                <a:cs typeface="+mn-cs"/>
              </a:rPr>
              <a:t>baseline</a:t>
            </a:r>
            <a:r>
              <a:rPr lang="vi-VN" sz="1200" kern="1200" dirty="0">
                <a:solidFill>
                  <a:schemeClr val="tx1"/>
                </a:solidFill>
                <a:effectLst/>
                <a:latin typeface="+mn-lt"/>
                <a:ea typeface="+mn-ea"/>
                <a:cs typeface="+mn-cs"/>
              </a:rPr>
              <a:t> mạnh cho dữ liệu bảng nhỏ, dễ diễn giải bằng </a:t>
            </a:r>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có ưu điểm là tích hợp được ràng buộc đơn điệu theo hiểu biết vật lý, đồng thời có thể tăng tốc bằng GPU. DNN được thiết kế dạng MLP với các lớp 256, 128, 64 và 32 </a:t>
            </a:r>
            <a:r>
              <a:rPr lang="vi-VN" sz="1200" kern="1200" dirty="0" err="1">
                <a:solidFill>
                  <a:schemeClr val="tx1"/>
                </a:solidFill>
                <a:effectLst/>
                <a:latin typeface="+mn-lt"/>
                <a:ea typeface="+mn-ea"/>
                <a:cs typeface="+mn-cs"/>
              </a:rPr>
              <a:t>neuron</a:t>
            </a:r>
            <a:r>
              <a:rPr lang="vi-VN" sz="1200" kern="1200" dirty="0">
                <a:solidFill>
                  <a:schemeClr val="tx1"/>
                </a:solidFill>
                <a:effectLst/>
                <a:latin typeface="+mn-lt"/>
                <a:ea typeface="+mn-ea"/>
                <a:cs typeface="+mn-cs"/>
              </a:rPr>
              <a:t>, sử dụng </a:t>
            </a:r>
            <a:r>
              <a:rPr lang="vi-VN" sz="1200" kern="1200" dirty="0" err="1">
                <a:solidFill>
                  <a:schemeClr val="tx1"/>
                </a:solidFill>
                <a:effectLst/>
                <a:latin typeface="+mn-lt"/>
                <a:ea typeface="+mn-ea"/>
                <a:cs typeface="+mn-cs"/>
              </a:rPr>
              <a:t>Huber</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loss</a:t>
            </a:r>
            <a:r>
              <a:rPr lang="vi-VN" sz="1200" kern="1200" dirty="0">
                <a:solidFill>
                  <a:schemeClr val="tx1"/>
                </a:solidFill>
                <a:effectLst/>
                <a:latin typeface="+mn-lt"/>
                <a:ea typeface="+mn-ea"/>
                <a:cs typeface="+mn-cs"/>
              </a:rPr>
              <a:t> và đầu ra </a:t>
            </a:r>
            <a:r>
              <a:rPr lang="vi-VN" sz="1200" kern="1200" dirty="0" err="1">
                <a:solidFill>
                  <a:schemeClr val="tx1"/>
                </a:solidFill>
                <a:effectLst/>
                <a:latin typeface="+mn-lt"/>
                <a:ea typeface="+mn-ea"/>
                <a:cs typeface="+mn-cs"/>
              </a:rPr>
              <a:t>sigmoid</a:t>
            </a:r>
            <a:r>
              <a:rPr lang="vi-VN" sz="1200" kern="1200" dirty="0">
                <a:solidFill>
                  <a:schemeClr val="tx1"/>
                </a:solidFill>
                <a:effectLst/>
                <a:latin typeface="+mn-lt"/>
                <a:ea typeface="+mn-ea"/>
                <a:cs typeface="+mn-cs"/>
              </a:rPr>
              <a:t> nhân 5 để giới hạn độ sâu dự báo trong khoảng hợp lý.</a:t>
            </a:r>
          </a:p>
          <a:p>
            <a:r>
              <a:rPr lang="vi-VN" sz="1200" kern="1200" dirty="0">
                <a:solidFill>
                  <a:schemeClr val="tx1"/>
                </a:solidFill>
                <a:effectLst/>
                <a:latin typeface="+mn-lt"/>
                <a:ea typeface="+mn-ea"/>
                <a:cs typeface="+mn-cs"/>
              </a:rPr>
              <a:t>Việc so sánh ba mô hình trên cùng một bộ dữ liệu giúp đánh giá khách quan mô hình nào phù hợp nhất với bài toán này.</a:t>
            </a:r>
          </a:p>
          <a:p>
            <a:r>
              <a:rPr lang="vi-VN" sz="1200" kern="1200" dirty="0">
                <a:solidFill>
                  <a:schemeClr val="tx1"/>
                </a:solidFill>
                <a:effectLst/>
                <a:latin typeface="+mn-lt"/>
                <a:ea typeface="+mn-ea"/>
                <a:cs typeface="+mn-cs"/>
              </a:rPr>
              <a:t>Chuyển ý: Em bắt đầu phần kết quả với mô hình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Em sử dụng ba mô hình: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-GPU và </a:t>
            </a:r>
            <a:r>
              <a:rPr lang="vi-VN" sz="1200" kern="1200" dirty="0" err="1">
                <a:solidFill>
                  <a:schemeClr val="tx1"/>
                </a:solidFill>
                <a:effectLst/>
                <a:latin typeface="+mn-lt"/>
                <a:ea typeface="+mn-ea"/>
                <a:cs typeface="+mn-cs"/>
              </a:rPr>
              <a:t>Deep</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Neural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Network</a:t>
            </a:r>
            <a:r>
              <a:rPr lang="vi-VN" sz="1200" kern="1200" dirty="0">
                <a:solidFill>
                  <a:schemeClr val="tx1"/>
                </a:solidFill>
                <a:effectLst/>
                <a:latin typeface="+mn-lt"/>
                <a:ea typeface="+mn-ea"/>
                <a:cs typeface="+mn-cs"/>
              </a:rPr>
              <a:t>.</a:t>
            </a:r>
          </a:p>
          <a:p>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được dùng như mô hình </a:t>
            </a:r>
            <a:r>
              <a:rPr lang="vi-VN" sz="1200" kern="1200" dirty="0" err="1">
                <a:solidFill>
                  <a:schemeClr val="tx1"/>
                </a:solidFill>
                <a:effectLst/>
                <a:latin typeface="+mn-lt"/>
                <a:ea typeface="+mn-ea"/>
                <a:cs typeface="+mn-cs"/>
              </a:rPr>
              <a:t>baseline</a:t>
            </a:r>
            <a:r>
              <a:rPr lang="vi-VN" sz="1200" kern="1200" dirty="0">
                <a:solidFill>
                  <a:schemeClr val="tx1"/>
                </a:solidFill>
                <a:effectLst/>
                <a:latin typeface="+mn-lt"/>
                <a:ea typeface="+mn-ea"/>
                <a:cs typeface="+mn-cs"/>
              </a:rPr>
              <a:t> mạnh cho dữ liệu bảng nhỏ, dễ diễn giải bằng </a:t>
            </a:r>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có ưu điểm là tích hợp được ràng buộc đơn điệu theo hiểu biết vật lý, đồng thời có thể tăng tốc bằng GPU. DNN được thiết kế dạng MLP với các lớp 256, 128, 64 và 32 </a:t>
            </a:r>
            <a:r>
              <a:rPr lang="vi-VN" sz="1200" kern="1200" dirty="0" err="1">
                <a:solidFill>
                  <a:schemeClr val="tx1"/>
                </a:solidFill>
                <a:effectLst/>
                <a:latin typeface="+mn-lt"/>
                <a:ea typeface="+mn-ea"/>
                <a:cs typeface="+mn-cs"/>
              </a:rPr>
              <a:t>neuron</a:t>
            </a:r>
            <a:r>
              <a:rPr lang="vi-VN" sz="1200" kern="1200" dirty="0">
                <a:solidFill>
                  <a:schemeClr val="tx1"/>
                </a:solidFill>
                <a:effectLst/>
                <a:latin typeface="+mn-lt"/>
                <a:ea typeface="+mn-ea"/>
                <a:cs typeface="+mn-cs"/>
              </a:rPr>
              <a:t>, sử dụng </a:t>
            </a:r>
            <a:r>
              <a:rPr lang="vi-VN" sz="1200" kern="1200" dirty="0" err="1">
                <a:solidFill>
                  <a:schemeClr val="tx1"/>
                </a:solidFill>
                <a:effectLst/>
                <a:latin typeface="+mn-lt"/>
                <a:ea typeface="+mn-ea"/>
                <a:cs typeface="+mn-cs"/>
              </a:rPr>
              <a:t>Huber</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loss</a:t>
            </a:r>
            <a:r>
              <a:rPr lang="vi-VN" sz="1200" kern="1200" dirty="0">
                <a:solidFill>
                  <a:schemeClr val="tx1"/>
                </a:solidFill>
                <a:effectLst/>
                <a:latin typeface="+mn-lt"/>
                <a:ea typeface="+mn-ea"/>
                <a:cs typeface="+mn-cs"/>
              </a:rPr>
              <a:t> và đầu ra </a:t>
            </a:r>
            <a:r>
              <a:rPr lang="vi-VN" sz="1200" kern="1200" dirty="0" err="1">
                <a:solidFill>
                  <a:schemeClr val="tx1"/>
                </a:solidFill>
                <a:effectLst/>
                <a:latin typeface="+mn-lt"/>
                <a:ea typeface="+mn-ea"/>
                <a:cs typeface="+mn-cs"/>
              </a:rPr>
              <a:t>sigmoid</a:t>
            </a:r>
            <a:r>
              <a:rPr lang="vi-VN" sz="1200" kern="1200" dirty="0">
                <a:solidFill>
                  <a:schemeClr val="tx1"/>
                </a:solidFill>
                <a:effectLst/>
                <a:latin typeface="+mn-lt"/>
                <a:ea typeface="+mn-ea"/>
                <a:cs typeface="+mn-cs"/>
              </a:rPr>
              <a:t> nhân 5 để giới hạn độ sâu dự báo trong khoảng hợp lý.</a:t>
            </a:r>
          </a:p>
          <a:p>
            <a:r>
              <a:rPr lang="vi-VN" sz="1200" kern="1200" dirty="0">
                <a:solidFill>
                  <a:schemeClr val="tx1"/>
                </a:solidFill>
                <a:effectLst/>
                <a:latin typeface="+mn-lt"/>
                <a:ea typeface="+mn-ea"/>
                <a:cs typeface="+mn-cs"/>
              </a:rPr>
              <a:t>Việc so sánh ba mô hình trên cùng một bộ dữ liệu giúp đánh giá khách quan mô hình nào phù hợp nhất với bài toán này.</a:t>
            </a:r>
          </a:p>
          <a:p>
            <a:r>
              <a:rPr lang="vi-VN" sz="1200" kern="1200" dirty="0">
                <a:solidFill>
                  <a:schemeClr val="tx1"/>
                </a:solidFill>
                <a:effectLst/>
                <a:latin typeface="+mn-lt"/>
                <a:ea typeface="+mn-ea"/>
                <a:cs typeface="+mn-cs"/>
              </a:rPr>
              <a:t>Chuyển ý: Em bắt đầu phần kết quả với mô hình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err="1">
                <a:solidFill>
                  <a:schemeClr val="tx1"/>
                </a:solidFill>
                <a:effectLst/>
                <a:latin typeface="+mn-lt"/>
                <a:ea typeface="+mn-ea"/>
                <a:cs typeface="+mn-cs"/>
              </a:rPr>
              <a:t>Feature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của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cho thấy các biến liên quan đến DEM chi phối mạnh nhất, bao gồm </a:t>
            </a:r>
            <a:r>
              <a:rPr lang="vi-VN" sz="1200" kern="1200" dirty="0" err="1">
                <a:solidFill>
                  <a:schemeClr val="tx1"/>
                </a:solidFill>
                <a:effectLst/>
                <a:latin typeface="+mn-lt"/>
                <a:ea typeface="+mn-ea"/>
                <a:cs typeface="+mn-cs"/>
              </a:rPr>
              <a:t>dsm_bathy</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dem_x_twi</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dem_squared</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dem_x_slope</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dem_x_dist</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Điều này rất hợp lý về mặt vật lý, vì độ cao và quan hệ giữa độ cao với độ dốc, độ ẩm địa hình, khoảng cách sông là những yếu tố trực tiếp quyết định khả năng ngập. Ngoài ra, các biến liên quan đến </a:t>
            </a:r>
            <a:r>
              <a:rPr lang="vi-VN" sz="1200" kern="1200" dirty="0" err="1">
                <a:solidFill>
                  <a:schemeClr val="tx1"/>
                </a:solidFill>
                <a:effectLst/>
                <a:latin typeface="+mn-lt"/>
                <a:ea typeface="+mn-ea"/>
                <a:cs typeface="+mn-cs"/>
              </a:rPr>
              <a:t>Manning</a:t>
            </a:r>
            <a:r>
              <a:rPr lang="vi-VN" sz="1200" kern="1200" dirty="0">
                <a:solidFill>
                  <a:schemeClr val="tx1"/>
                </a:solidFill>
                <a:effectLst/>
                <a:latin typeface="+mn-lt"/>
                <a:ea typeface="+mn-ea"/>
                <a:cs typeface="+mn-cs"/>
              </a:rPr>
              <a:t> cũng xuất hiện trong nhóm quan trọng, xác nhận giá trị của việc đưa tri thức thủy lực vào mô hình.</a:t>
            </a:r>
          </a:p>
          <a:p>
            <a:r>
              <a:rPr lang="vi-VN" sz="1200" kern="1200" dirty="0">
                <a:solidFill>
                  <a:schemeClr val="tx1"/>
                </a:solidFill>
                <a:effectLst/>
                <a:latin typeface="+mn-lt"/>
                <a:ea typeface="+mn-ea"/>
                <a:cs typeface="+mn-cs"/>
              </a:rPr>
              <a:t>Chuyển ý: Tuy nhiên, dự báo điểm tốt chưa đủ; bản đồ không gian cũng cần hợp lý về mặt thủy văn.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Ở bản đồ RAW,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xuất hiện </a:t>
            </a:r>
            <a:r>
              <a:rPr lang="vi-VN" sz="1200" kern="1200" dirty="0" err="1">
                <a:solidFill>
                  <a:schemeClr val="tx1"/>
                </a:solidFill>
                <a:effectLst/>
                <a:latin typeface="+mn-lt"/>
                <a:ea typeface="+mn-ea"/>
                <a:cs typeface="+mn-cs"/>
              </a:rPr>
              <a:t>hiện</a:t>
            </a:r>
            <a:r>
              <a:rPr lang="vi-VN" sz="1200" kern="1200" dirty="0">
                <a:solidFill>
                  <a:schemeClr val="tx1"/>
                </a:solidFill>
                <a:effectLst/>
                <a:latin typeface="+mn-lt"/>
                <a:ea typeface="+mn-ea"/>
                <a:cs typeface="+mn-cs"/>
              </a:rPr>
              <a:t> tượng “khối đỏ”, tức là nhiều vùng đồng bằng và đầm phá bị dự báo ngập trên 2 m quá rộng. Đây là biểu hiện của </a:t>
            </a:r>
            <a:r>
              <a:rPr lang="vi-VN" sz="1200" kern="1200" dirty="0" err="1">
                <a:solidFill>
                  <a:schemeClr val="tx1"/>
                </a:solidFill>
                <a:effectLst/>
                <a:latin typeface="+mn-lt"/>
                <a:ea typeface="+mn-ea"/>
                <a:cs typeface="+mn-cs"/>
              </a:rPr>
              <a:t>regression</a:t>
            </a:r>
            <a:r>
              <a:rPr lang="vi-VN" sz="1200" kern="1200" dirty="0">
                <a:solidFill>
                  <a:schemeClr val="tx1"/>
                </a:solidFill>
                <a:effectLst/>
                <a:latin typeface="+mn-lt"/>
                <a:ea typeface="+mn-ea"/>
                <a:cs typeface="+mn-cs"/>
              </a:rPr>
              <a:t> to the </a:t>
            </a:r>
            <a:r>
              <a:rPr lang="vi-VN" sz="1200" kern="1200" dirty="0" err="1">
                <a:solidFill>
                  <a:schemeClr val="tx1"/>
                </a:solidFill>
                <a:effectLst/>
                <a:latin typeface="+mn-lt"/>
                <a:ea typeface="+mn-ea"/>
                <a:cs typeface="+mn-cs"/>
              </a:rPr>
              <a:t>mean</a:t>
            </a:r>
            <a:r>
              <a:rPr lang="vi-VN" sz="1200" kern="1200" dirty="0">
                <a:solidFill>
                  <a:schemeClr val="tx1"/>
                </a:solidFill>
                <a:effectLst/>
                <a:latin typeface="+mn-lt"/>
                <a:ea typeface="+mn-ea"/>
                <a:cs typeface="+mn-cs"/>
              </a:rPr>
              <a:t> trong bài toán hồi quy.</a:t>
            </a:r>
          </a:p>
          <a:p>
            <a:r>
              <a:rPr lang="vi-VN" sz="1200" kern="1200" dirty="0">
                <a:solidFill>
                  <a:schemeClr val="tx1"/>
                </a:solidFill>
                <a:effectLst/>
                <a:latin typeface="+mn-lt"/>
                <a:ea typeface="+mn-ea"/>
                <a:cs typeface="+mn-cs"/>
              </a:rPr>
              <a:t>Sau khi áp dụng hậu xử lý thủy lực, bản đồ trở nên hợp lý hơn: vùng ngập được phân hóa theo </a:t>
            </a:r>
            <a:r>
              <a:rPr lang="vi-VN" sz="1200" kern="1200" dirty="0" err="1">
                <a:solidFill>
                  <a:schemeClr val="tx1"/>
                </a:solidFill>
                <a:effectLst/>
                <a:latin typeface="+mn-lt"/>
                <a:ea typeface="+mn-ea"/>
                <a:cs typeface="+mn-cs"/>
              </a:rPr>
              <a:t>gradient</a:t>
            </a:r>
            <a:r>
              <a:rPr lang="vi-VN" sz="1200" kern="1200" dirty="0">
                <a:solidFill>
                  <a:schemeClr val="tx1"/>
                </a:solidFill>
                <a:effectLst/>
                <a:latin typeface="+mn-lt"/>
                <a:ea typeface="+mn-ea"/>
                <a:cs typeface="+mn-cs"/>
              </a:rPr>
              <a:t> từ cao xuống thấp, tập trung rõ hơn ở các vùng sông Hương, sông Bồ, Tam Giang – Cầu Hai và khu vực Hòa </a:t>
            </a:r>
            <a:r>
              <a:rPr lang="vi-VN" sz="1200" kern="1200" dirty="0" err="1">
                <a:solidFill>
                  <a:schemeClr val="tx1"/>
                </a:solidFill>
                <a:effectLst/>
                <a:latin typeface="+mn-lt"/>
                <a:ea typeface="+mn-ea"/>
                <a:cs typeface="+mn-cs"/>
              </a:rPr>
              <a:t>Duân</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Tỷ lệ điểm ảnh trên 2 m giảm từ khoảng 35% xuống còn khoảng 8–10%, đồng thời tăng các cấp trung gian 1–2 m. Điều này giúp bản đồ gần hơn với thực tế không gian của trận lũ.</a:t>
            </a:r>
          </a:p>
          <a:p>
            <a:r>
              <a:rPr lang="vi-VN" sz="1200" kern="1200" dirty="0">
                <a:solidFill>
                  <a:schemeClr val="tx1"/>
                </a:solidFill>
                <a:effectLst/>
                <a:latin typeface="+mn-lt"/>
                <a:ea typeface="+mn-ea"/>
                <a:cs typeface="+mn-cs"/>
              </a:rPr>
              <a:t>Chuyển ý: Mô hình thứ hai là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với điểm mạnh là ràng buộc vật lý.</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đạt R² = 0,8884, RMSE = 0,275 m, MAE = 0,130 m và MAPE = 22,60%.</a:t>
            </a:r>
          </a:p>
          <a:p>
            <a:r>
              <a:rPr lang="vi-VN" sz="1200" kern="1200" dirty="0">
                <a:solidFill>
                  <a:schemeClr val="tx1"/>
                </a:solidFill>
                <a:effectLst/>
                <a:latin typeface="+mn-lt"/>
                <a:ea typeface="+mn-ea"/>
                <a:cs typeface="+mn-cs"/>
              </a:rPr>
              <a:t>Mặc dù R² và RMSE thấp hơn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một chút,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có ưu điểm là tích hợp được ràng buộc đơn điệu. Ví dụ, khi DEM, HAND hoặc khoảng cách đến sông tăng thì độ sâu ngập có xu hướng giảm; còn khi TWI, tích lũy dòng chảy, mật độ sông hoặc lượng mưa tăng thì độ sâu ngập có xu hướng tăng.</a:t>
            </a:r>
          </a:p>
          <a:p>
            <a:r>
              <a:rPr lang="vi-VN" sz="1200" kern="1200" dirty="0">
                <a:solidFill>
                  <a:schemeClr val="tx1"/>
                </a:solidFill>
                <a:effectLst/>
                <a:latin typeface="+mn-lt"/>
                <a:ea typeface="+mn-ea"/>
                <a:cs typeface="+mn-cs"/>
              </a:rPr>
              <a:t>Vì vậy,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phù hợp khi cần giải thích mô hình theo </a:t>
            </a:r>
            <a:r>
              <a:rPr lang="vi-VN" sz="1200" kern="1200" dirty="0" err="1">
                <a:solidFill>
                  <a:schemeClr val="tx1"/>
                </a:solidFill>
                <a:effectLst/>
                <a:latin typeface="+mn-lt"/>
                <a:ea typeface="+mn-ea"/>
                <a:cs typeface="+mn-cs"/>
              </a:rPr>
              <a:t>logic</a:t>
            </a:r>
            <a:r>
              <a:rPr lang="vi-VN" sz="1200" kern="1200" dirty="0">
                <a:solidFill>
                  <a:schemeClr val="tx1"/>
                </a:solidFill>
                <a:effectLst/>
                <a:latin typeface="+mn-lt"/>
                <a:ea typeface="+mn-ea"/>
                <a:cs typeface="+mn-cs"/>
              </a:rPr>
              <a:t> thủy văn.</a:t>
            </a:r>
          </a:p>
          <a:p>
            <a:r>
              <a:rPr lang="vi-VN" sz="1200" kern="1200" dirty="0">
                <a:solidFill>
                  <a:schemeClr val="tx1"/>
                </a:solidFill>
                <a:effectLst/>
                <a:latin typeface="+mn-lt"/>
                <a:ea typeface="+mn-ea"/>
                <a:cs typeface="+mn-cs"/>
              </a:rPr>
              <a:t>Chuyển ý: Em tiếp tục phân tích vai trò đặc trưng của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FF91-BE30-EC5B-D4BA-434306212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3BAE1-49C5-2DF7-756B-0934E236E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CFE66-0F24-1F64-8427-2C4AB4FC2F52}"/>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Ở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 tập trung rất mạnh vào các biến liên quan đến DEM. </a:t>
            </a:r>
            <a:r>
              <a:rPr lang="vi-VN" sz="1200" kern="1200" dirty="0" err="1">
                <a:solidFill>
                  <a:schemeClr val="tx1"/>
                </a:solidFill>
                <a:effectLst/>
                <a:latin typeface="+mn-lt"/>
                <a:ea typeface="+mn-ea"/>
                <a:cs typeface="+mn-cs"/>
              </a:rPr>
              <a:t>Top</a:t>
            </a:r>
            <a:r>
              <a:rPr lang="vi-VN" sz="1200" kern="1200" dirty="0">
                <a:solidFill>
                  <a:schemeClr val="tx1"/>
                </a:solidFill>
                <a:effectLst/>
                <a:latin typeface="+mn-lt"/>
                <a:ea typeface="+mn-ea"/>
                <a:cs typeface="+mn-cs"/>
              </a:rPr>
              <a:t> 4 gồm </a:t>
            </a:r>
            <a:r>
              <a:rPr lang="vi-VN" sz="1200" kern="1200" dirty="0" err="1">
                <a:solidFill>
                  <a:schemeClr val="tx1"/>
                </a:solidFill>
                <a:effectLst/>
                <a:latin typeface="+mn-lt"/>
                <a:ea typeface="+mn-ea"/>
                <a:cs typeface="+mn-cs"/>
              </a:rPr>
              <a:t>dsm_bathy</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dem_x_slope</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dem_squared</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dem_x_twi</a:t>
            </a:r>
            <a:r>
              <a:rPr lang="vi-VN" sz="1200" kern="1200" dirty="0">
                <a:solidFill>
                  <a:schemeClr val="tx1"/>
                </a:solidFill>
                <a:effectLst/>
                <a:latin typeface="+mn-lt"/>
                <a:ea typeface="+mn-ea"/>
                <a:cs typeface="+mn-cs"/>
              </a:rPr>
              <a:t>, chiếm khoảng 79,4% tổng </a:t>
            </a:r>
            <a:r>
              <a:rPr lang="vi-VN" sz="1200" kern="1200" dirty="0" err="1">
                <a:solidFill>
                  <a:schemeClr val="tx1"/>
                </a:solidFill>
                <a:effectLst/>
                <a:latin typeface="+mn-lt"/>
                <a:ea typeface="+mn-ea"/>
                <a:cs typeface="+mn-cs"/>
              </a:rPr>
              <a:t>importance</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Điều này cho thấy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học rất mạnh quy luật địa hình chi phối ngập lụt. Tuy nhiên, do ràng buộc đơn điệu và cách </a:t>
            </a:r>
            <a:r>
              <a:rPr lang="vi-VN" sz="1200" kern="1200" dirty="0" err="1">
                <a:solidFill>
                  <a:schemeClr val="tx1"/>
                </a:solidFill>
                <a:effectLst/>
                <a:latin typeface="+mn-lt"/>
                <a:ea typeface="+mn-ea"/>
                <a:cs typeface="+mn-cs"/>
              </a:rPr>
              <a:t>boosting</a:t>
            </a:r>
            <a:r>
              <a:rPr lang="vi-VN" sz="1200" kern="1200" dirty="0">
                <a:solidFill>
                  <a:schemeClr val="tx1"/>
                </a:solidFill>
                <a:effectLst/>
                <a:latin typeface="+mn-lt"/>
                <a:ea typeface="+mn-ea"/>
                <a:cs typeface="+mn-cs"/>
              </a:rPr>
              <a:t> tối ưu sai số tuần tự, bản đồ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có xu hướng “quyết liệt” hơn, với vùng ngập sâu tập trung rõ hơn.</a:t>
            </a:r>
          </a:p>
          <a:p>
            <a:r>
              <a:rPr lang="vi-VN" sz="1200" kern="1200" dirty="0" err="1">
                <a:solidFill>
                  <a:schemeClr val="tx1"/>
                </a:solidFill>
                <a:effectLst/>
                <a:latin typeface="+mn-lt"/>
                <a:ea typeface="+mn-ea"/>
                <a:cs typeface="+mn-cs"/>
              </a:rPr>
              <a:t>Exact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accuracy</a:t>
            </a:r>
            <a:r>
              <a:rPr lang="vi-VN" sz="1200" kern="1200" dirty="0">
                <a:solidFill>
                  <a:schemeClr val="tx1"/>
                </a:solidFill>
                <a:effectLst/>
                <a:latin typeface="+mn-lt"/>
                <a:ea typeface="+mn-ea"/>
                <a:cs typeface="+mn-cs"/>
              </a:rPr>
              <a:t> của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thấp vì mô hình có thể dự báo các giá trị dương nhỏ cho điểm không ngập, nhưng nếu xét sai lệch trong phạm vi ±1 cấp thì vẫn đạt 96,5%.</a:t>
            </a:r>
          </a:p>
          <a:p>
            <a:r>
              <a:rPr lang="vi-VN" sz="1200" kern="1200" dirty="0">
                <a:solidFill>
                  <a:schemeClr val="tx1"/>
                </a:solidFill>
                <a:effectLst/>
                <a:latin typeface="+mn-lt"/>
                <a:ea typeface="+mn-ea"/>
                <a:cs typeface="+mn-cs"/>
              </a:rPr>
              <a:t>Chuyển ý: Tương tự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cũng cần hậu xử lý không gian.</a:t>
            </a:r>
          </a:p>
          <a:p>
            <a:endParaRPr lang="en-US" dirty="0"/>
          </a:p>
        </p:txBody>
      </p:sp>
      <p:sp>
        <p:nvSpPr>
          <p:cNvPr id="4" name="Slide Number Placeholder 3">
            <a:extLst>
              <a:ext uri="{FF2B5EF4-FFF2-40B4-BE49-F238E27FC236}">
                <a16:creationId xmlns:a16="http://schemas.microsoft.com/office/drawing/2014/main" id="{0C3DE317-943B-618F-396D-FC959F93A733}"/>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125197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A18E-EF0F-0629-19DF-0C1A44121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E204D-BFE7-A20C-60A4-A437BE512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FA588-06D3-922B-B0D4-524E433E7E7B}"/>
              </a:ext>
            </a:extLst>
          </p:cNvPr>
          <p:cNvSpPr>
            <a:spLocks noGrp="1"/>
          </p:cNvSpPr>
          <p:nvPr>
            <p:ph type="body" idx="1"/>
          </p:nvPr>
        </p:nvSpPr>
        <p:spPr/>
        <p:txBody>
          <a:bodyPr/>
          <a:lstStyle/>
          <a:p>
            <a:r>
              <a:rPr lang="vi-VN" sz="1200" kern="1200" dirty="0" err="1">
                <a:solidFill>
                  <a:schemeClr val="tx1"/>
                </a:solidFill>
                <a:effectLst/>
                <a:latin typeface="+mn-lt"/>
                <a:ea typeface="+mn-ea"/>
                <a:cs typeface="+mn-cs"/>
              </a:rPr>
              <a:t>Slide</a:t>
            </a:r>
            <a:r>
              <a:rPr lang="vi-VN" sz="1200" kern="1200" dirty="0">
                <a:solidFill>
                  <a:schemeClr val="tx1"/>
                </a:solidFill>
                <a:effectLst/>
                <a:latin typeface="+mn-lt"/>
                <a:ea typeface="+mn-ea"/>
                <a:cs typeface="+mn-cs"/>
              </a:rPr>
              <a:t> này cho thấy ràng buộc đơn điệu trong mô hình chưa đủ để đảm bảo bản đồ không gian hợp lý tuyệt đối.</a:t>
            </a:r>
          </a:p>
          <a:p>
            <a:r>
              <a:rPr lang="vi-VN" sz="1200" kern="1200" dirty="0">
                <a:solidFill>
                  <a:schemeClr val="tx1"/>
                </a:solidFill>
                <a:effectLst/>
                <a:latin typeface="+mn-lt"/>
                <a:ea typeface="+mn-ea"/>
                <a:cs typeface="+mn-cs"/>
              </a:rPr>
              <a:t>Ràng buộc đơn điệu giúp mô hình nhất quán theo từng biến đầu vào, còn hậu xử lý thủy lực giúp kết quả phù hợp hơn với </a:t>
            </a:r>
            <a:r>
              <a:rPr lang="vi-VN" sz="1200" kern="1200" dirty="0" err="1">
                <a:solidFill>
                  <a:schemeClr val="tx1"/>
                </a:solidFill>
                <a:effectLst/>
                <a:latin typeface="+mn-lt"/>
                <a:ea typeface="+mn-ea"/>
                <a:cs typeface="+mn-cs"/>
              </a:rPr>
              <a:t>logic</a:t>
            </a:r>
            <a:r>
              <a:rPr lang="vi-VN" sz="1200" kern="1200" dirty="0">
                <a:solidFill>
                  <a:schemeClr val="tx1"/>
                </a:solidFill>
                <a:effectLst/>
                <a:latin typeface="+mn-lt"/>
                <a:ea typeface="+mn-ea"/>
                <a:cs typeface="+mn-cs"/>
              </a:rPr>
              <a:t> không gian, ví dụ giới hạn độ sâu theo từng vùng địa hình, vùng lòng sông, đầm phá hoặc cồn cát ven biển.</a:t>
            </a:r>
          </a:p>
          <a:p>
            <a:r>
              <a:rPr lang="vi-VN" sz="1200" kern="1200" dirty="0">
                <a:solidFill>
                  <a:schemeClr val="tx1"/>
                </a:solidFill>
                <a:effectLst/>
                <a:latin typeface="+mn-lt"/>
                <a:ea typeface="+mn-ea"/>
                <a:cs typeface="+mn-cs"/>
              </a:rPr>
              <a:t>Vì vậy, trong bài toán bản đồ ngập, mô hình học máy và hậu xử lý thủy lực cần bổ sung cho nhau.</a:t>
            </a:r>
          </a:p>
          <a:p>
            <a:r>
              <a:rPr lang="vi-VN" sz="1200" kern="1200" dirty="0">
                <a:solidFill>
                  <a:schemeClr val="tx1"/>
                </a:solidFill>
                <a:effectLst/>
                <a:latin typeface="+mn-lt"/>
                <a:ea typeface="+mn-ea"/>
                <a:cs typeface="+mn-cs"/>
              </a:rPr>
              <a:t>Chuyển ý: Mô hình thứ ba là </a:t>
            </a:r>
            <a:r>
              <a:rPr lang="vi-VN" sz="1200" kern="1200" dirty="0" err="1">
                <a:solidFill>
                  <a:schemeClr val="tx1"/>
                </a:solidFill>
                <a:effectLst/>
                <a:latin typeface="+mn-lt"/>
                <a:ea typeface="+mn-ea"/>
                <a:cs typeface="+mn-cs"/>
              </a:rPr>
              <a:t>Deep</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Neural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Network</a:t>
            </a:r>
            <a:r>
              <a:rPr lang="vi-VN"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288FFE01-D13C-C8DD-7EAA-C52798C3E48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7664194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DNN đạt R² = 0,8847, RMSE = 0,279 m, MAE = 0,141 m và MAPE = 25,35%.</a:t>
            </a:r>
          </a:p>
          <a:p>
            <a:r>
              <a:rPr lang="vi-VN" sz="1200" kern="1200" dirty="0">
                <a:solidFill>
                  <a:schemeClr val="tx1"/>
                </a:solidFill>
                <a:effectLst/>
                <a:latin typeface="+mn-lt"/>
                <a:ea typeface="+mn-ea"/>
                <a:cs typeface="+mn-cs"/>
              </a:rPr>
              <a:t>DNN không vượt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và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về tổng thể, nhưng có ưu thế ở các điểm không ngập nhờ đầu ra </a:t>
            </a:r>
            <a:r>
              <a:rPr lang="vi-VN" sz="1200" kern="1200" dirty="0" err="1">
                <a:solidFill>
                  <a:schemeClr val="tx1"/>
                </a:solidFill>
                <a:effectLst/>
                <a:latin typeface="+mn-lt"/>
                <a:ea typeface="+mn-ea"/>
                <a:cs typeface="+mn-cs"/>
              </a:rPr>
              <a:t>sigmoid</a:t>
            </a:r>
            <a:r>
              <a:rPr lang="vi-VN" sz="1200" kern="1200" dirty="0">
                <a:solidFill>
                  <a:schemeClr val="tx1"/>
                </a:solidFill>
                <a:effectLst/>
                <a:latin typeface="+mn-lt"/>
                <a:ea typeface="+mn-ea"/>
                <a:cs typeface="+mn-cs"/>
              </a:rPr>
              <a:t> nhân 5, giúp giới hạn giá trị dự báo trong khoảng hợp lý và giảm dự báo âm hoặc quá lớn.</a:t>
            </a:r>
          </a:p>
          <a:p>
            <a:r>
              <a:rPr lang="vi-VN" sz="1200" kern="1200" dirty="0">
                <a:solidFill>
                  <a:schemeClr val="tx1"/>
                </a:solidFill>
                <a:effectLst/>
                <a:latin typeface="+mn-lt"/>
                <a:ea typeface="+mn-ea"/>
                <a:cs typeface="+mn-cs"/>
              </a:rPr>
              <a:t>Kết quả này cho thấy với dữ liệu bảng nhỏ 1.000 điểm, DNN chưa phát huy được toàn bộ ưu thế như trong các bài toán dữ liệu lớn hoặc ảnh </a:t>
            </a:r>
            <a:r>
              <a:rPr lang="vi-VN" sz="1200" kern="1200" dirty="0" err="1">
                <a:solidFill>
                  <a:schemeClr val="tx1"/>
                </a:solidFill>
                <a:effectLst/>
                <a:latin typeface="+mn-lt"/>
                <a:ea typeface="+mn-ea"/>
                <a:cs typeface="+mn-cs"/>
              </a:rPr>
              <a:t>raster</a:t>
            </a:r>
            <a:r>
              <a:rPr lang="vi-VN" sz="1200" kern="1200" dirty="0">
                <a:solidFill>
                  <a:schemeClr val="tx1"/>
                </a:solidFill>
                <a:effectLst/>
                <a:latin typeface="+mn-lt"/>
                <a:ea typeface="+mn-ea"/>
                <a:cs typeface="+mn-cs"/>
              </a:rPr>
              <a:t> trực tiếp.</a:t>
            </a:r>
          </a:p>
          <a:p>
            <a:r>
              <a:rPr lang="vi-VN" sz="1200" kern="1200" dirty="0">
                <a:solidFill>
                  <a:schemeClr val="tx1"/>
                </a:solidFill>
                <a:effectLst/>
                <a:latin typeface="+mn-lt"/>
                <a:ea typeface="+mn-ea"/>
                <a:cs typeface="+mn-cs"/>
              </a:rPr>
              <a:t>Chuyển ý: Em tiếp tục trình bày bản đồ đầu ra của DNN.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Bản đồ RAW của DNN cũng xuất hiện </a:t>
            </a:r>
            <a:r>
              <a:rPr lang="vi-VN" sz="1200" kern="1200" dirty="0" err="1">
                <a:solidFill>
                  <a:schemeClr val="tx1"/>
                </a:solidFill>
                <a:effectLst/>
                <a:latin typeface="+mn-lt"/>
                <a:ea typeface="+mn-ea"/>
                <a:cs typeface="+mn-cs"/>
              </a:rPr>
              <a:t>over-flooding</a:t>
            </a:r>
            <a:r>
              <a:rPr lang="vi-VN" sz="1200" kern="1200" dirty="0">
                <a:solidFill>
                  <a:schemeClr val="tx1"/>
                </a:solidFill>
                <a:effectLst/>
                <a:latin typeface="+mn-lt"/>
                <a:ea typeface="+mn-ea"/>
                <a:cs typeface="+mn-cs"/>
              </a:rPr>
              <a:t>, tức là dự báo vùng ngập sâu quá rộng. Sau hậu xử lý, vùng đồng bằng chuyển nhiều hơn về cấp 1–2 m, ít vùng cực ngập hơn so với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a:t>
            </a:r>
          </a:p>
          <a:p>
            <a:r>
              <a:rPr lang="vi-VN" sz="1200" kern="1200" dirty="0">
                <a:solidFill>
                  <a:schemeClr val="tx1"/>
                </a:solidFill>
                <a:effectLst/>
                <a:latin typeface="+mn-lt"/>
                <a:ea typeface="+mn-ea"/>
                <a:cs typeface="+mn-cs"/>
              </a:rPr>
              <a:t>Điểm đáng chú ý là DNN có </a:t>
            </a:r>
            <a:r>
              <a:rPr lang="vi-VN" sz="1200" kern="1200" dirty="0" err="1">
                <a:solidFill>
                  <a:schemeClr val="tx1"/>
                </a:solidFill>
                <a:effectLst/>
                <a:latin typeface="+mn-lt"/>
                <a:ea typeface="+mn-ea"/>
                <a:cs typeface="+mn-cs"/>
              </a:rPr>
              <a:t>final</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clip</a:t>
            </a:r>
            <a:r>
              <a:rPr lang="vi-VN" sz="1200" kern="1200" dirty="0">
                <a:solidFill>
                  <a:schemeClr val="tx1"/>
                </a:solidFill>
                <a:effectLst/>
                <a:latin typeface="+mn-lt"/>
                <a:ea typeface="+mn-ea"/>
                <a:cs typeface="+mn-cs"/>
              </a:rPr>
              <a:t> ở 3,5 m, thận trọng hơn so với RF và XGB. Vì vậy, DNN phù hợp hơn trong bối cảnh cần phân biệt ranh giới ngập và không ngập, nhất là ở quy mô đô thị chi tiết.</a:t>
            </a:r>
          </a:p>
          <a:p>
            <a:r>
              <a:rPr lang="vi-VN" sz="1200" kern="1200" dirty="0">
                <a:solidFill>
                  <a:schemeClr val="tx1"/>
                </a:solidFill>
                <a:effectLst/>
                <a:latin typeface="+mn-lt"/>
                <a:ea typeface="+mn-ea"/>
                <a:cs typeface="+mn-cs"/>
              </a:rPr>
              <a:t>Chuyển ý: Sau khi phân tích từng mô hình, em tổng hợp so sánh định lượng giữa ba mô hình.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Cả ba mô hình đều đạt R² lớn hơn 0,88, cho thấy khung phương pháp luận tương đối ổn định và không phụ thuộc tuyệt đối vào một thuật toán duy nhất.</a:t>
            </a:r>
          </a:p>
          <a:p>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tốt nhất về R², RMSE, MAE và </a:t>
            </a:r>
            <a:r>
              <a:rPr lang="vi-VN" sz="1200" kern="1200" dirty="0" err="1">
                <a:solidFill>
                  <a:schemeClr val="tx1"/>
                </a:solidFill>
                <a:effectLst/>
                <a:latin typeface="+mn-lt"/>
                <a:ea typeface="+mn-ea"/>
                <a:cs typeface="+mn-cs"/>
              </a:rPr>
              <a:t>exact</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accuracy</a:t>
            </a:r>
            <a:r>
              <a:rPr lang="vi-VN" sz="1200" kern="1200" dirty="0">
                <a:solidFill>
                  <a:schemeClr val="tx1"/>
                </a:solidFill>
                <a:effectLst/>
                <a:latin typeface="+mn-lt"/>
                <a:ea typeface="+mn-ea"/>
                <a:cs typeface="+mn-cs"/>
              </a:rPr>
              <a:t>, nên được chọn là mô hình chính.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có MAPE thấp nhất và mạnh về tính nhất quán vật lý. DNN tốt nhất ở các điểm không ngập và có ±1 cấp </a:t>
            </a:r>
            <a:r>
              <a:rPr lang="vi-VN" sz="1200" kern="1200" dirty="0" err="1">
                <a:solidFill>
                  <a:schemeClr val="tx1"/>
                </a:solidFill>
                <a:effectLst/>
                <a:latin typeface="+mn-lt"/>
                <a:ea typeface="+mn-ea"/>
                <a:cs typeface="+mn-cs"/>
              </a:rPr>
              <a:t>accuracy</a:t>
            </a:r>
            <a:r>
              <a:rPr lang="vi-VN" sz="1200" kern="1200" dirty="0">
                <a:solidFill>
                  <a:schemeClr val="tx1"/>
                </a:solidFill>
                <a:effectLst/>
                <a:latin typeface="+mn-lt"/>
                <a:ea typeface="+mn-ea"/>
                <a:cs typeface="+mn-cs"/>
              </a:rPr>
              <a:t> cao.</a:t>
            </a:r>
          </a:p>
          <a:p>
            <a:r>
              <a:rPr lang="vi-VN" sz="1200" kern="1200" dirty="0">
                <a:solidFill>
                  <a:schemeClr val="tx1"/>
                </a:solidFill>
                <a:effectLst/>
                <a:latin typeface="+mn-lt"/>
                <a:ea typeface="+mn-ea"/>
                <a:cs typeface="+mn-cs"/>
              </a:rPr>
              <a:t>Điều này cho thấy mỗi mô hình có một thế mạnh riêng, và trong tương lai có thể phát triển </a:t>
            </a:r>
            <a:r>
              <a:rPr lang="vi-VN" sz="1200" kern="1200" dirty="0" err="1">
                <a:solidFill>
                  <a:schemeClr val="tx1"/>
                </a:solidFill>
                <a:effectLst/>
                <a:latin typeface="+mn-lt"/>
                <a:ea typeface="+mn-ea"/>
                <a:cs typeface="+mn-cs"/>
              </a:rPr>
              <a:t>ensemble</a:t>
            </a:r>
            <a:r>
              <a:rPr lang="vi-VN" sz="1200" kern="1200" dirty="0">
                <a:solidFill>
                  <a:schemeClr val="tx1"/>
                </a:solidFill>
                <a:effectLst/>
                <a:latin typeface="+mn-lt"/>
                <a:ea typeface="+mn-ea"/>
                <a:cs typeface="+mn-cs"/>
              </a:rPr>
              <a:t> để tận dụng ưu điểm của cả ba.</a:t>
            </a:r>
          </a:p>
          <a:p>
            <a:r>
              <a:rPr lang="vi-VN" sz="1200" kern="1200" dirty="0">
                <a:solidFill>
                  <a:schemeClr val="tx1"/>
                </a:solidFill>
                <a:effectLst/>
                <a:latin typeface="+mn-lt"/>
                <a:ea typeface="+mn-ea"/>
                <a:cs typeface="+mn-cs"/>
              </a:rPr>
              <a:t>Chuyển ý: Ngoài chỉ số, cần xét cả tính hợp lý không gian và bối cảnh ứng dụng.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Về không gian, cả ba mô hình đều nắm bắt được các vùng ngập sâu dọc sông Hương, sông Bồ, sông Ô Lâu, vùng đầm phá Tam Giang – Cầu Hai và khu vực Hòa </a:t>
            </a:r>
            <a:r>
              <a:rPr lang="vi-VN" sz="1200" kern="1200" dirty="0" err="1">
                <a:solidFill>
                  <a:schemeClr val="tx1"/>
                </a:solidFill>
                <a:effectLst/>
                <a:latin typeface="+mn-lt"/>
                <a:ea typeface="+mn-ea"/>
                <a:cs typeface="+mn-cs"/>
              </a:rPr>
              <a:t>Duân</a:t>
            </a:r>
            <a:r>
              <a:rPr lang="vi-VN" sz="1200" kern="1200" dirty="0">
                <a:solidFill>
                  <a:schemeClr val="tx1"/>
                </a:solidFill>
                <a:effectLst/>
                <a:latin typeface="+mn-lt"/>
                <a:ea typeface="+mn-ea"/>
                <a:cs typeface="+mn-cs"/>
              </a:rPr>
              <a:t>. Vùng núi phía Tây như A Lưới và Nam Đông gần như không bị dự báo ngập, phù hợp với đặc điểm địa hình cao.</a:t>
            </a:r>
          </a:p>
          <a:p>
            <a:r>
              <a:rPr lang="vi-VN" sz="1200" kern="1200" dirty="0">
                <a:solidFill>
                  <a:schemeClr val="tx1"/>
                </a:solidFill>
                <a:effectLst/>
                <a:latin typeface="+mn-lt"/>
                <a:ea typeface="+mn-ea"/>
                <a:cs typeface="+mn-cs"/>
              </a:rPr>
              <a:t>Về khuyến nghị sử dụng,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phù hợp làm mô hình chính cho quy hoạch dài hạn vì có độ chính xác tốt và bản đồ mượt.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phù hợp khi cần giải thích thủy văn và yêu cầu tính nhất quán vật lý. DNN phù hợp với bài toán nhận diện ranh giới ngập/không ngập ở đô thị chi tiết.</a:t>
            </a:r>
          </a:p>
          <a:p>
            <a:r>
              <a:rPr lang="vi-VN" sz="1200" kern="1200" dirty="0">
                <a:solidFill>
                  <a:schemeClr val="tx1"/>
                </a:solidFill>
                <a:effectLst/>
                <a:latin typeface="+mn-lt"/>
                <a:ea typeface="+mn-ea"/>
                <a:cs typeface="+mn-cs"/>
              </a:rPr>
              <a:t>Chuyển ý: Từ các kết quả trên, em tổng kết các đóng góp chính của đồ án.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Đồ án có bốn đóng góp chính.</a:t>
            </a:r>
          </a:p>
          <a:p>
            <a:r>
              <a:rPr lang="vi-VN" sz="1200" kern="1200" dirty="0">
                <a:solidFill>
                  <a:schemeClr val="tx1"/>
                </a:solidFill>
                <a:effectLst/>
                <a:latin typeface="+mn-lt"/>
                <a:ea typeface="+mn-ea"/>
                <a:cs typeface="+mn-cs"/>
              </a:rPr>
              <a:t>Thứ nhất, em xây dựng bộ dữ liệu gồm 31 đặc trưng, kết hợp 16 biến gốc và 15 biến tương tác, chuẩn hóa trên toàn Huế ở độ phân giải 30 m.</a:t>
            </a:r>
          </a:p>
          <a:p>
            <a:r>
              <a:rPr lang="vi-VN" sz="1200" kern="1200" dirty="0">
                <a:solidFill>
                  <a:schemeClr val="tx1"/>
                </a:solidFill>
                <a:effectLst/>
                <a:latin typeface="+mn-lt"/>
                <a:ea typeface="+mn-ea"/>
                <a:cs typeface="+mn-cs"/>
              </a:rPr>
              <a:t>Thứ hai, đồ án tích hợp tri thức vật lý vào học máy thông qua hệ số </a:t>
            </a:r>
            <a:r>
              <a:rPr lang="vi-VN" sz="1200" kern="1200" dirty="0" err="1">
                <a:solidFill>
                  <a:schemeClr val="tx1"/>
                </a:solidFill>
                <a:effectLst/>
                <a:latin typeface="+mn-lt"/>
                <a:ea typeface="+mn-ea"/>
                <a:cs typeface="+mn-cs"/>
              </a:rPr>
              <a:t>Manning</a:t>
            </a:r>
            <a:r>
              <a:rPr lang="vi-VN" sz="1200" kern="1200" dirty="0">
                <a:solidFill>
                  <a:schemeClr val="tx1"/>
                </a:solidFill>
                <a:effectLst/>
                <a:latin typeface="+mn-lt"/>
                <a:ea typeface="+mn-ea"/>
                <a:cs typeface="+mn-cs"/>
              </a:rPr>
              <a:t>, biến tương tác thủy lực, ràng buộc đơn điệu trong </a:t>
            </a:r>
            <a:r>
              <a:rPr lang="vi-VN" sz="1200" kern="1200" dirty="0" err="1">
                <a:solidFill>
                  <a:schemeClr val="tx1"/>
                </a:solidFill>
                <a:effectLst/>
                <a:latin typeface="+mn-lt"/>
                <a:ea typeface="+mn-ea"/>
                <a:cs typeface="+mn-cs"/>
              </a:rPr>
              <a:t>XGBoost</a:t>
            </a:r>
            <a:r>
              <a:rPr lang="vi-VN" sz="1200" kern="1200" dirty="0">
                <a:solidFill>
                  <a:schemeClr val="tx1"/>
                </a:solidFill>
                <a:effectLst/>
                <a:latin typeface="+mn-lt"/>
                <a:ea typeface="+mn-ea"/>
                <a:cs typeface="+mn-cs"/>
              </a:rPr>
              <a:t> và hậu xử lý thủy lực bốn vùng.</a:t>
            </a:r>
          </a:p>
          <a:p>
            <a:r>
              <a:rPr lang="vi-VN" sz="1200" kern="1200" dirty="0">
                <a:solidFill>
                  <a:schemeClr val="tx1"/>
                </a:solidFill>
                <a:effectLst/>
                <a:latin typeface="+mn-lt"/>
                <a:ea typeface="+mn-ea"/>
                <a:cs typeface="+mn-cs"/>
              </a:rPr>
              <a:t>Thứ ba, đồ án so sánh ba mô hình RF, XGB và DNN trên cùng dữ liệu, cùng chỉ số và cùng sản phẩm bản đồ. Thứ tư, sản phẩm cuối là bản đồ độ sâu liên tục và bản đồ phân vùng 6 cấp, có thể hỗ trợ quy hoạch và phòng chống thiên tai.</a:t>
            </a:r>
          </a:p>
          <a:p>
            <a:r>
              <a:rPr lang="vi-VN" sz="1200" kern="1200" dirty="0">
                <a:solidFill>
                  <a:schemeClr val="tx1"/>
                </a:solidFill>
                <a:effectLst/>
                <a:latin typeface="+mn-lt"/>
                <a:ea typeface="+mn-ea"/>
                <a:cs typeface="+mn-cs"/>
              </a:rPr>
              <a:t>Chuyển ý: Tuy nhiên, nghiên cứu vẫn còn một số hạn chế cần được nhìn nhận rõ.</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Hạn chế lớn nhất là dữ liệu vết lũ chỉ phản ánh một sự kiện năm 1999, nên khả năng khái quát cho các trận lũ khác còn cần kiểm chứng thêm. Ngoài ra, phân bố điểm khảo sát không đều, số điểm không ngập chiếm nhiều, dữ liệu mưa mới là tổng tích lũy chứ chưa mô tả diễn biến theo thời gian.</a:t>
            </a:r>
          </a:p>
          <a:p>
            <a:r>
              <a:rPr lang="vi-VN" sz="1200" kern="1200" dirty="0">
                <a:solidFill>
                  <a:schemeClr val="tx1"/>
                </a:solidFill>
                <a:effectLst/>
                <a:latin typeface="+mn-lt"/>
                <a:ea typeface="+mn-ea"/>
                <a:cs typeface="+mn-cs"/>
              </a:rPr>
              <a:t>Một hạn chế khác là hiện tượng </a:t>
            </a:r>
            <a:r>
              <a:rPr lang="vi-VN" sz="1200" kern="1200" dirty="0" err="1">
                <a:solidFill>
                  <a:schemeClr val="tx1"/>
                </a:solidFill>
                <a:effectLst/>
                <a:latin typeface="+mn-lt"/>
                <a:ea typeface="+mn-ea"/>
                <a:cs typeface="+mn-cs"/>
              </a:rPr>
              <a:t>regression</a:t>
            </a:r>
            <a:r>
              <a:rPr lang="vi-VN" sz="1200" kern="1200" dirty="0">
                <a:solidFill>
                  <a:schemeClr val="tx1"/>
                </a:solidFill>
                <a:effectLst/>
                <a:latin typeface="+mn-lt"/>
                <a:ea typeface="+mn-ea"/>
                <a:cs typeface="+mn-cs"/>
              </a:rPr>
              <a:t> to the </a:t>
            </a:r>
            <a:r>
              <a:rPr lang="vi-VN" sz="1200" kern="1200" dirty="0" err="1">
                <a:solidFill>
                  <a:schemeClr val="tx1"/>
                </a:solidFill>
                <a:effectLst/>
                <a:latin typeface="+mn-lt"/>
                <a:ea typeface="+mn-ea"/>
                <a:cs typeface="+mn-cs"/>
              </a:rPr>
              <a:t>mean</a:t>
            </a:r>
            <a:r>
              <a:rPr lang="vi-VN" sz="1200" kern="1200" dirty="0">
                <a:solidFill>
                  <a:schemeClr val="tx1"/>
                </a:solidFill>
                <a:effectLst/>
                <a:latin typeface="+mn-lt"/>
                <a:ea typeface="+mn-ea"/>
                <a:cs typeface="+mn-cs"/>
              </a:rPr>
              <a:t>, làm mô hình dự báo kém hơn ở các cấp ngập trung gian và cực đoan. DNN cũng chưa phát huy ưu thế do dữ liệu đầu vào là bảng nhỏ.</a:t>
            </a:r>
          </a:p>
          <a:p>
            <a:r>
              <a:rPr lang="vi-VN" sz="1200" kern="1200" dirty="0">
                <a:solidFill>
                  <a:schemeClr val="tx1"/>
                </a:solidFill>
                <a:effectLst/>
                <a:latin typeface="+mn-lt"/>
                <a:ea typeface="+mn-ea"/>
                <a:cs typeface="+mn-cs"/>
              </a:rPr>
              <a:t>Trong tương lai, có thể bổ sung dữ liệu các trận lũ 2007, 2017, 2020, kết hợp Sentinel-1 SAR sau lũ để mở rộng nhãn không gian, phát triển mô hình </a:t>
            </a:r>
            <a:r>
              <a:rPr lang="vi-VN" sz="1200" kern="1200" dirty="0" err="1">
                <a:solidFill>
                  <a:schemeClr val="tx1"/>
                </a:solidFill>
                <a:effectLst/>
                <a:latin typeface="+mn-lt"/>
                <a:ea typeface="+mn-ea"/>
                <a:cs typeface="+mn-cs"/>
              </a:rPr>
              <a:t>ensemble</a:t>
            </a:r>
            <a:r>
              <a:rPr lang="vi-VN" sz="1200" kern="1200" dirty="0">
                <a:solidFill>
                  <a:schemeClr val="tx1"/>
                </a:solidFill>
                <a:effectLst/>
                <a:latin typeface="+mn-lt"/>
                <a:ea typeface="+mn-ea"/>
                <a:cs typeface="+mn-cs"/>
              </a:rPr>
              <a:t> và tích hợp mưa thời gian thực để tiến tới cảnh báo sớm.</a:t>
            </a:r>
          </a:p>
          <a:p>
            <a:r>
              <a:rPr lang="vi-VN" sz="1200" kern="1200" dirty="0">
                <a:solidFill>
                  <a:schemeClr val="tx1"/>
                </a:solidFill>
                <a:effectLst/>
                <a:latin typeface="+mn-lt"/>
                <a:ea typeface="+mn-ea"/>
                <a:cs typeface="+mn-cs"/>
              </a:rPr>
              <a:t>Chuyển ý: Em xin kết luận bài trình bày.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Tóm lại, đồ án đã xây dựng được một quy trình tích hợp viễn thám, GIS và học máy để dự báo định lượng độ sâu ngập lụt tại Huế. Kết quả cho thấy cả ba mô hình đều đạt R² trên 0,88, trong đó </a:t>
            </a:r>
            <a:r>
              <a:rPr lang="vi-VN" sz="1200" kern="1200" dirty="0" err="1">
                <a:solidFill>
                  <a:schemeClr val="tx1"/>
                </a:solidFill>
                <a:effectLst/>
                <a:latin typeface="+mn-lt"/>
                <a:ea typeface="+mn-ea"/>
                <a:cs typeface="+mn-cs"/>
              </a:rPr>
              <a:t>Random</a:t>
            </a:r>
            <a:r>
              <a:rPr lang="vi-VN" sz="1200" kern="1200" dirty="0">
                <a:solidFill>
                  <a:schemeClr val="tx1"/>
                </a:solidFill>
                <a:effectLst/>
                <a:latin typeface="+mn-lt"/>
                <a:ea typeface="+mn-ea"/>
                <a:cs typeface="+mn-cs"/>
              </a:rPr>
              <a:t> </a:t>
            </a:r>
            <a:r>
              <a:rPr lang="vi-VN" sz="1200" kern="1200" dirty="0" err="1">
                <a:solidFill>
                  <a:schemeClr val="tx1"/>
                </a:solidFill>
                <a:effectLst/>
                <a:latin typeface="+mn-lt"/>
                <a:ea typeface="+mn-ea"/>
                <a:cs typeface="+mn-cs"/>
              </a:rPr>
              <a:t>Forest</a:t>
            </a:r>
            <a:r>
              <a:rPr lang="vi-VN" sz="1200" kern="1200" dirty="0">
                <a:solidFill>
                  <a:schemeClr val="tx1"/>
                </a:solidFill>
                <a:effectLst/>
                <a:latin typeface="+mn-lt"/>
                <a:ea typeface="+mn-ea"/>
                <a:cs typeface="+mn-cs"/>
              </a:rPr>
              <a:t> đạt kết quả tốt nhất với R² = 0,8946 và RMSE = 0,267 m.</a:t>
            </a:r>
          </a:p>
          <a:p>
            <a:r>
              <a:rPr lang="vi-VN" sz="1200" kern="1200" dirty="0">
                <a:solidFill>
                  <a:schemeClr val="tx1"/>
                </a:solidFill>
                <a:effectLst/>
                <a:latin typeface="+mn-lt"/>
                <a:ea typeface="+mn-ea"/>
                <a:cs typeface="+mn-cs"/>
              </a:rPr>
              <a:t>Đóng góp chính của đồ án là chuyển từ bài toán ngập/không ngập sang bản đồ độ sâu ngập định lượng, đồng thời tích hợp tri thức thủy văn để bản đồ có ý nghĩa vật lý và khả năng ứng dụng thực tế hơn.</a:t>
            </a:r>
          </a:p>
          <a:p>
            <a:r>
              <a:rPr lang="vi-VN" sz="1200" kern="1200" dirty="0">
                <a:solidFill>
                  <a:schemeClr val="tx1"/>
                </a:solidFill>
                <a:effectLst/>
                <a:latin typeface="+mn-lt"/>
                <a:ea typeface="+mn-ea"/>
                <a:cs typeface="+mn-cs"/>
              </a:rPr>
              <a:t>Em xin chân thành cảm ơn thầy cô và hội đồng đã lắng nghe. Em rất mong nhận được góp ý và câu hỏi từ hội đồng.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txBody>
          <a:bodyPr/>
          <a:lstStyle/>
          <a:p>
            <a:endParaRPr lang="vi-VN"/>
          </a:p>
        </p:txBody>
      </p:sp>
      <p:sp>
        <p:nvSpPr>
          <p:cNvPr id="3" name="Shape 1"/>
          <p:cNvSpPr/>
          <p:nvPr/>
        </p:nvSpPr>
        <p:spPr>
          <a:xfrm>
            <a:off x="0" y="0"/>
            <a:ext cx="12191695" cy="164592"/>
          </a:xfrm>
          <a:prstGeom prst="rect">
            <a:avLst/>
          </a:prstGeom>
          <a:solidFill>
            <a:srgbClr val="0B3C5D"/>
          </a:solidFill>
          <a:ln w="12700">
            <a:solidFill>
              <a:srgbClr val="0B3C5D"/>
            </a:solidFill>
            <a:prstDash val="solid"/>
          </a:ln>
        </p:spPr>
        <p:txBody>
          <a:bodyPr/>
          <a:lstStyle/>
          <a:p>
            <a:endParaRPr lang="vi-VN"/>
          </a:p>
        </p:txBody>
      </p:sp>
      <p:sp>
        <p:nvSpPr>
          <p:cNvPr id="4" name="Text 2"/>
          <p:cNvSpPr/>
          <p:nvPr/>
        </p:nvSpPr>
        <p:spPr>
          <a:xfrm>
            <a:off x="1441240" y="685800"/>
            <a:ext cx="4045159" cy="274320"/>
          </a:xfrm>
          <a:prstGeom prst="rect">
            <a:avLst/>
          </a:prstGeom>
          <a:noFill/>
          <a:ln/>
        </p:spPr>
        <p:txBody>
          <a:bodyPr wrap="square" lIns="0" tIns="0" rIns="0" bIns="0" rtlCol="0" anchor="ctr"/>
          <a:lstStyle/>
          <a:p>
            <a:pPr marL="0" indent="0">
              <a:buNone/>
            </a:pPr>
            <a:r>
              <a:rPr lang="en-US" sz="1300" b="1" dirty="0">
                <a:solidFill>
                  <a:srgbClr val="E87E22"/>
                </a:solidFill>
              </a:rPr>
              <a:t>ĐỒ ÁN TỐT NGHIỆP</a:t>
            </a:r>
            <a:endParaRPr lang="en-US" sz="1300" b="1" dirty="0"/>
          </a:p>
        </p:txBody>
      </p:sp>
      <p:sp>
        <p:nvSpPr>
          <p:cNvPr id="5" name="Text 3"/>
          <p:cNvSpPr/>
          <p:nvPr/>
        </p:nvSpPr>
        <p:spPr>
          <a:xfrm>
            <a:off x="731520" y="1051560"/>
            <a:ext cx="10698480" cy="1143000"/>
          </a:xfrm>
          <a:prstGeom prst="rect">
            <a:avLst/>
          </a:prstGeom>
          <a:noFill/>
          <a:ln/>
        </p:spPr>
        <p:txBody>
          <a:bodyPr wrap="square" lIns="0" tIns="0" rIns="0" bIns="0" rtlCol="0" anchor="ctr">
            <a:normAutofit/>
          </a:bodyPr>
          <a:lstStyle/>
          <a:p>
            <a:pPr marL="0" indent="0">
              <a:buNone/>
            </a:pPr>
            <a:r>
              <a:rPr lang="en-US" sz="2700" b="1" dirty="0">
                <a:solidFill>
                  <a:srgbClr val="0B3C5D"/>
                </a:solidFill>
              </a:rPr>
              <a:t>Nghiên cứu ứng dụng viễn thám và học máy trong thành lập bản đồ độ sâu ngập lụt tại tỉnh Thừa Thiên Huế</a:t>
            </a:r>
            <a:endParaRPr lang="en-US" sz="2700" dirty="0"/>
          </a:p>
        </p:txBody>
      </p:sp>
      <p:sp>
        <p:nvSpPr>
          <p:cNvPr id="7" name="Shape 5"/>
          <p:cNvSpPr/>
          <p:nvPr/>
        </p:nvSpPr>
        <p:spPr>
          <a:xfrm>
            <a:off x="731520" y="3063240"/>
            <a:ext cx="5212080" cy="1234440"/>
          </a:xfrm>
          <a:prstGeom prst="roundRect">
            <a:avLst>
              <a:gd name="adj" fmla="val 5926"/>
            </a:avLst>
          </a:prstGeom>
          <a:solidFill>
            <a:srgbClr val="FFFFFF"/>
          </a:solidFill>
          <a:ln w="12700">
            <a:solidFill>
              <a:srgbClr val="D6DEE6"/>
            </a:solidFill>
            <a:prstDash val="solid"/>
          </a:ln>
        </p:spPr>
        <p:txBody>
          <a:bodyPr/>
          <a:lstStyle/>
          <a:p>
            <a:endParaRPr lang="vi-VN"/>
          </a:p>
        </p:txBody>
      </p:sp>
      <p:sp>
        <p:nvSpPr>
          <p:cNvPr id="8" name="Text 6"/>
          <p:cNvSpPr/>
          <p:nvPr/>
        </p:nvSpPr>
        <p:spPr>
          <a:xfrm>
            <a:off x="960120" y="3246120"/>
            <a:ext cx="4754880" cy="777240"/>
          </a:xfrm>
          <a:prstGeom prst="rect">
            <a:avLst/>
          </a:prstGeom>
          <a:noFill/>
          <a:ln/>
        </p:spPr>
        <p:txBody>
          <a:bodyPr wrap="square" lIns="762" tIns="762" rIns="762" bIns="762" rtlCol="0" anchor="ctr">
            <a:normAutofit/>
          </a:bodyPr>
          <a:lstStyle/>
          <a:p>
            <a:r>
              <a:rPr lang="en-US" sz="1200" dirty="0">
                <a:solidFill>
                  <a:srgbClr val="1F2D3D"/>
                </a:solidFill>
              </a:rPr>
              <a:t>Sinh viên: Nguyễn Tư Sơn</a:t>
            </a:r>
            <a:endParaRPr lang="en-US" sz="1200" dirty="0"/>
          </a:p>
          <a:p>
            <a:r>
              <a:rPr lang="en-US" sz="1200" dirty="0">
                <a:solidFill>
                  <a:srgbClr val="1F2D3D"/>
                </a:solidFill>
              </a:rPr>
              <a:t>Cán bộ hướng dẫn: TS. Hà Minh Cường</a:t>
            </a:r>
            <a:endParaRPr lang="en-US" sz="1200" dirty="0"/>
          </a:p>
          <a:p>
            <a:r>
              <a:rPr lang="en-US" sz="1200" dirty="0">
                <a:solidFill>
                  <a:srgbClr val="1F2D3D"/>
                </a:solidFill>
              </a:rPr>
              <a:t>Ngành: Công </a:t>
            </a:r>
            <a:r>
              <a:rPr lang="en-US" sz="1200" dirty="0" err="1">
                <a:solidFill>
                  <a:srgbClr val="1F2D3D"/>
                </a:solidFill>
              </a:rPr>
              <a:t>nghệ</a:t>
            </a:r>
            <a:r>
              <a:rPr lang="en-US" sz="1200" dirty="0">
                <a:solidFill>
                  <a:srgbClr val="1F2D3D"/>
                </a:solidFill>
              </a:rPr>
              <a:t> </a:t>
            </a:r>
            <a:r>
              <a:rPr lang="en-US" sz="1200" dirty="0" err="1">
                <a:solidFill>
                  <a:srgbClr val="1F2D3D"/>
                </a:solidFill>
              </a:rPr>
              <a:t>Hàng</a:t>
            </a:r>
            <a:r>
              <a:rPr lang="en-US" sz="1200" dirty="0">
                <a:solidFill>
                  <a:srgbClr val="1F2D3D"/>
                </a:solidFill>
              </a:rPr>
              <a:t> </a:t>
            </a:r>
            <a:r>
              <a:rPr lang="en-US" sz="1200" dirty="0" err="1">
                <a:solidFill>
                  <a:srgbClr val="1F2D3D"/>
                </a:solidFill>
              </a:rPr>
              <a:t>không</a:t>
            </a:r>
            <a:r>
              <a:rPr lang="en-US" sz="1200" dirty="0">
                <a:solidFill>
                  <a:srgbClr val="1F2D3D"/>
                </a:solidFill>
              </a:rPr>
              <a:t> Vũ trụ</a:t>
            </a:r>
            <a:endParaRPr lang="en-US" sz="1200" dirty="0"/>
          </a:p>
        </p:txBody>
      </p:sp>
      <p:sp>
        <p:nvSpPr>
          <p:cNvPr id="9" name="Shape 7"/>
          <p:cNvSpPr/>
          <p:nvPr/>
        </p:nvSpPr>
        <p:spPr>
          <a:xfrm>
            <a:off x="6400800" y="2834640"/>
            <a:ext cx="5120640" cy="2468880"/>
          </a:xfrm>
          <a:prstGeom prst="roundRect">
            <a:avLst>
              <a:gd name="adj" fmla="val 2963"/>
            </a:avLst>
          </a:prstGeom>
          <a:solidFill>
            <a:srgbClr val="FFFFFF"/>
          </a:solidFill>
          <a:ln w="12700">
            <a:solidFill>
              <a:srgbClr val="D6DEE6"/>
            </a:solidFill>
            <a:prstDash val="solid"/>
          </a:ln>
        </p:spPr>
        <p:txBody>
          <a:bodyPr/>
          <a:lstStyle/>
          <a:p>
            <a:endParaRPr lang="vi-VN"/>
          </a:p>
        </p:txBody>
      </p:sp>
      <p:pic>
        <p:nvPicPr>
          <p:cNvPr id="10" name="Image 0" descr="/mnt/data/deck_assets_new/p46_img1.png"/>
          <p:cNvPicPr>
            <a:picLocks noChangeAspect="1"/>
          </p:cNvPicPr>
          <p:nvPr/>
        </p:nvPicPr>
        <p:blipFill>
          <a:blip r:embed="rId3"/>
          <a:stretch>
            <a:fillRect/>
          </a:stretch>
        </p:blipFill>
        <p:spPr>
          <a:xfrm>
            <a:off x="6400800" y="2911754"/>
            <a:ext cx="5120640" cy="2314652"/>
          </a:xfrm>
          <a:prstGeom prst="rect">
            <a:avLst/>
          </a:prstGeom>
        </p:spPr>
      </p:pic>
      <p:sp>
        <p:nvSpPr>
          <p:cNvPr id="11" name="Text 8"/>
          <p:cNvSpPr/>
          <p:nvPr/>
        </p:nvSpPr>
        <p:spPr>
          <a:xfrm>
            <a:off x="6400800" y="5394960"/>
            <a:ext cx="5120640" cy="201168"/>
          </a:xfrm>
          <a:prstGeom prst="rect">
            <a:avLst/>
          </a:prstGeom>
          <a:noFill/>
          <a:ln/>
        </p:spPr>
        <p:txBody>
          <a:bodyPr wrap="square" lIns="0" tIns="0" rIns="0" bIns="0" rtlCol="0" anchor="ctr"/>
          <a:lstStyle/>
          <a:p>
            <a:pPr marL="0" indent="0" algn="ctr">
              <a:buNone/>
            </a:pPr>
            <a:r>
              <a:rPr lang="en-US" sz="750" i="1" dirty="0">
                <a:solidFill>
                  <a:srgbClr val="5D6D7E"/>
                </a:solidFill>
              </a:rPr>
              <a:t>Khu vực nghiên </a:t>
            </a:r>
            <a:r>
              <a:rPr lang="en-US" sz="750" i="1" dirty="0" err="1">
                <a:solidFill>
                  <a:srgbClr val="5D6D7E"/>
                </a:solidFill>
              </a:rPr>
              <a:t>cứu</a:t>
            </a:r>
            <a:r>
              <a:rPr lang="en-US" sz="750" i="1" dirty="0">
                <a:solidFill>
                  <a:srgbClr val="5D6D7E"/>
                </a:solidFill>
              </a:rPr>
              <a:t> </a:t>
            </a:r>
            <a:r>
              <a:rPr lang="en-US" sz="750" i="1" dirty="0" err="1">
                <a:solidFill>
                  <a:srgbClr val="5D6D7E"/>
                </a:solidFill>
              </a:rPr>
              <a:t>Huế</a:t>
            </a:r>
            <a:r>
              <a:rPr lang="en-US" sz="750" i="1" dirty="0">
                <a:solidFill>
                  <a:srgbClr val="5D6D7E"/>
                </a:solidFill>
              </a:rPr>
              <a:t> (Slope)</a:t>
            </a:r>
            <a:endParaRPr lang="en-US" sz="750" dirty="0"/>
          </a:p>
        </p:txBody>
      </p:sp>
      <p:sp>
        <p:nvSpPr>
          <p:cNvPr id="12" name="Text 9"/>
          <p:cNvSpPr/>
          <p:nvPr/>
        </p:nvSpPr>
        <p:spPr>
          <a:xfrm>
            <a:off x="731520" y="5989320"/>
            <a:ext cx="2743200" cy="228600"/>
          </a:xfrm>
          <a:prstGeom prst="rect">
            <a:avLst/>
          </a:prstGeom>
          <a:noFill/>
          <a:ln/>
        </p:spPr>
        <p:txBody>
          <a:bodyPr wrap="square" lIns="0" tIns="0" rIns="0" bIns="0" rtlCol="0" anchor="ctr"/>
          <a:lstStyle/>
          <a:p>
            <a:pPr marL="0" indent="0">
              <a:buNone/>
            </a:pPr>
            <a:r>
              <a:rPr lang="en-US" sz="1100" dirty="0">
                <a:solidFill>
                  <a:srgbClr val="5D6D7E"/>
                </a:solidFill>
              </a:rPr>
              <a:t>HÀ NỘI – 2026</a:t>
            </a:r>
            <a:endParaRPr lang="en-US" sz="1100" dirty="0"/>
          </a:p>
        </p:txBody>
      </p:sp>
      <p:sp>
        <p:nvSpPr>
          <p:cNvPr id="13" name="Shape 10"/>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4" name="Text 11"/>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5" name="Text 12"/>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01</a:t>
            </a:r>
            <a:endParaRPr lang="en-US" sz="850" dirty="0"/>
          </a:p>
        </p:txBody>
      </p:sp>
      <p:pic>
        <p:nvPicPr>
          <p:cNvPr id="17" name="Picture 16" descr="image1.png">
            <a:extLst>
              <a:ext uri="{FF2B5EF4-FFF2-40B4-BE49-F238E27FC236}">
                <a16:creationId xmlns:a16="http://schemas.microsoft.com/office/drawing/2014/main" id="{EDB8030D-483E-04CD-3A81-1ED7E38FC6A5}"/>
              </a:ext>
            </a:extLst>
          </p:cNvPr>
          <p:cNvPicPr>
            <a:picLocks noChangeAspect="1"/>
          </p:cNvPicPr>
          <p:nvPr/>
        </p:nvPicPr>
        <p:blipFill>
          <a:blip r:embed="rId4"/>
          <a:stretch>
            <a:fillRect/>
          </a:stretch>
        </p:blipFill>
        <p:spPr>
          <a:xfrm>
            <a:off x="768096" y="532532"/>
            <a:ext cx="473308" cy="47330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Cấu trúc bài thuyết trình</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5" name="Shape 3"/>
          <p:cNvSpPr/>
          <p:nvPr/>
        </p:nvSpPr>
        <p:spPr>
          <a:xfrm>
            <a:off x="822960" y="1325880"/>
            <a:ext cx="10561320" cy="868680"/>
          </a:xfrm>
          <a:prstGeom prst="roundRect">
            <a:avLst>
              <a:gd name="adj" fmla="val 8421"/>
            </a:avLst>
          </a:prstGeom>
          <a:solidFill>
            <a:schemeClr val="accent1">
              <a:lumMod val="20000"/>
              <a:lumOff val="80000"/>
            </a:schemeClr>
          </a:solidFill>
          <a:ln w="12700">
            <a:solidFill>
              <a:srgbClr val="D6DEE6"/>
            </a:solidFill>
            <a:prstDash val="solid"/>
          </a:ln>
        </p:spPr>
        <p:txBody>
          <a:bodyPr/>
          <a:lstStyle/>
          <a:p>
            <a:endParaRPr lang="vi-VN"/>
          </a:p>
        </p:txBody>
      </p:sp>
      <p:sp>
        <p:nvSpPr>
          <p:cNvPr id="6" name="Text 4"/>
          <p:cNvSpPr/>
          <p:nvPr/>
        </p:nvSpPr>
        <p:spPr>
          <a:xfrm>
            <a:off x="1005840" y="1481328"/>
            <a:ext cx="502920" cy="320040"/>
          </a:xfrm>
          <a:prstGeom prst="rect">
            <a:avLst/>
          </a:prstGeom>
          <a:noFill/>
          <a:ln/>
        </p:spPr>
        <p:txBody>
          <a:bodyPr wrap="square" lIns="0" tIns="0" rIns="0" bIns="0" rtlCol="0" anchor="ctr"/>
          <a:lstStyle/>
          <a:p>
            <a:pPr marL="0" indent="0" algn="ctr">
              <a:buNone/>
            </a:pPr>
            <a:r>
              <a:rPr lang="en-US" sz="1800" b="1" dirty="0">
                <a:solidFill>
                  <a:srgbClr val="0B3C5D"/>
                </a:solidFill>
              </a:rPr>
              <a:t>01</a:t>
            </a:r>
            <a:endParaRPr lang="en-US" sz="1800" dirty="0"/>
          </a:p>
        </p:txBody>
      </p:sp>
      <p:sp>
        <p:nvSpPr>
          <p:cNvPr id="7" name="Text 5"/>
          <p:cNvSpPr/>
          <p:nvPr/>
        </p:nvSpPr>
        <p:spPr>
          <a:xfrm>
            <a:off x="1691640" y="1481328"/>
            <a:ext cx="2926080" cy="274320"/>
          </a:xfrm>
          <a:prstGeom prst="rect">
            <a:avLst/>
          </a:prstGeom>
          <a:noFill/>
          <a:ln/>
        </p:spPr>
        <p:txBody>
          <a:bodyPr wrap="square" lIns="0" tIns="0" rIns="0" bIns="0" rtlCol="0" anchor="ctr"/>
          <a:lstStyle/>
          <a:p>
            <a:pPr marL="0" indent="0">
              <a:buNone/>
            </a:pPr>
            <a:r>
              <a:rPr lang="en-US" sz="1400" b="1" dirty="0">
                <a:solidFill>
                  <a:srgbClr val="0B3C5D"/>
                </a:solidFill>
              </a:rPr>
              <a:t>Bối cảnh &amp; mục tiêu</a:t>
            </a:r>
            <a:endParaRPr lang="en-US" sz="1400" dirty="0"/>
          </a:p>
        </p:txBody>
      </p:sp>
      <p:sp>
        <p:nvSpPr>
          <p:cNvPr id="8" name="Text 6"/>
          <p:cNvSpPr/>
          <p:nvPr/>
        </p:nvSpPr>
        <p:spPr>
          <a:xfrm>
            <a:off x="4709160" y="1463040"/>
            <a:ext cx="6309360" cy="411480"/>
          </a:xfrm>
          <a:prstGeom prst="rect">
            <a:avLst/>
          </a:prstGeom>
          <a:noFill/>
          <a:ln/>
        </p:spPr>
        <p:txBody>
          <a:bodyPr wrap="square" lIns="0" tIns="0" rIns="0" bIns="0" rtlCol="0" anchor="ctr">
            <a:normAutofit/>
          </a:bodyPr>
          <a:lstStyle/>
          <a:p>
            <a:pPr marL="0" indent="0">
              <a:buNone/>
            </a:pPr>
            <a:r>
              <a:rPr lang="vi-VN" sz="1120" dirty="0">
                <a:solidFill>
                  <a:srgbClr val="1F2D3D"/>
                </a:solidFill>
              </a:rPr>
              <a:t>Trận lũ</a:t>
            </a:r>
            <a:r>
              <a:rPr lang="en-US" sz="1120" dirty="0">
                <a:solidFill>
                  <a:srgbClr val="1F2D3D"/>
                </a:solidFill>
              </a:rPr>
              <a:t> 1999, khoảng trống nghiên cứu: dự báo định lượng độ sâu thay vì chỉ ngập/không ngập.</a:t>
            </a:r>
            <a:endParaRPr lang="en-US" sz="1120" dirty="0"/>
          </a:p>
        </p:txBody>
      </p:sp>
      <p:sp>
        <p:nvSpPr>
          <p:cNvPr id="9" name="Shape 7"/>
          <p:cNvSpPr/>
          <p:nvPr/>
        </p:nvSpPr>
        <p:spPr>
          <a:xfrm>
            <a:off x="822960" y="2468880"/>
            <a:ext cx="10561320" cy="868680"/>
          </a:xfrm>
          <a:prstGeom prst="roundRect">
            <a:avLst>
              <a:gd name="adj" fmla="val 8421"/>
            </a:avLst>
          </a:prstGeom>
          <a:solidFill>
            <a:srgbClr val="EAF6EF"/>
          </a:solidFill>
          <a:ln w="12700">
            <a:solidFill>
              <a:srgbClr val="D6DEE6"/>
            </a:solidFill>
            <a:prstDash val="solid"/>
          </a:ln>
        </p:spPr>
        <p:txBody>
          <a:bodyPr/>
          <a:lstStyle/>
          <a:p>
            <a:endParaRPr lang="vi-VN"/>
          </a:p>
        </p:txBody>
      </p:sp>
      <p:sp>
        <p:nvSpPr>
          <p:cNvPr id="10" name="Text 8"/>
          <p:cNvSpPr/>
          <p:nvPr/>
        </p:nvSpPr>
        <p:spPr>
          <a:xfrm>
            <a:off x="1005840" y="2624328"/>
            <a:ext cx="502920" cy="320040"/>
          </a:xfrm>
          <a:prstGeom prst="rect">
            <a:avLst/>
          </a:prstGeom>
          <a:noFill/>
          <a:ln/>
        </p:spPr>
        <p:txBody>
          <a:bodyPr wrap="square" lIns="0" tIns="0" rIns="0" bIns="0" rtlCol="0" anchor="ctr"/>
          <a:lstStyle/>
          <a:p>
            <a:pPr marL="0" indent="0" algn="ctr">
              <a:buNone/>
            </a:pPr>
            <a:r>
              <a:rPr lang="en-US" sz="1800" b="1" dirty="0">
                <a:solidFill>
                  <a:schemeClr val="tx2"/>
                </a:solidFill>
              </a:rPr>
              <a:t>02</a:t>
            </a:r>
            <a:endParaRPr lang="en-US" sz="1800" dirty="0">
              <a:solidFill>
                <a:schemeClr val="tx2"/>
              </a:solidFill>
            </a:endParaRPr>
          </a:p>
        </p:txBody>
      </p:sp>
      <p:sp>
        <p:nvSpPr>
          <p:cNvPr id="11" name="Text 9"/>
          <p:cNvSpPr/>
          <p:nvPr/>
        </p:nvSpPr>
        <p:spPr>
          <a:xfrm>
            <a:off x="1691640" y="2624328"/>
            <a:ext cx="2926080" cy="274320"/>
          </a:xfrm>
          <a:prstGeom prst="rect">
            <a:avLst/>
          </a:prstGeom>
          <a:noFill/>
          <a:ln/>
        </p:spPr>
        <p:txBody>
          <a:bodyPr wrap="square" lIns="0" tIns="0" rIns="0" bIns="0" rtlCol="0" anchor="ctr"/>
          <a:lstStyle/>
          <a:p>
            <a:pPr marL="0" indent="0">
              <a:buNone/>
            </a:pPr>
            <a:r>
              <a:rPr lang="en-US" sz="1400" b="1" dirty="0">
                <a:solidFill>
                  <a:srgbClr val="0B3C5D"/>
                </a:solidFill>
              </a:rPr>
              <a:t>Dữ liệu nghiên cứu</a:t>
            </a:r>
            <a:endParaRPr lang="en-US" sz="1400" dirty="0"/>
          </a:p>
        </p:txBody>
      </p:sp>
      <p:sp>
        <p:nvSpPr>
          <p:cNvPr id="12" name="Text 10"/>
          <p:cNvSpPr/>
          <p:nvPr/>
        </p:nvSpPr>
        <p:spPr>
          <a:xfrm>
            <a:off x="4709160" y="2606040"/>
            <a:ext cx="6309360" cy="411480"/>
          </a:xfrm>
          <a:prstGeom prst="rect">
            <a:avLst/>
          </a:prstGeom>
          <a:noFill/>
          <a:ln/>
        </p:spPr>
        <p:txBody>
          <a:bodyPr wrap="square" lIns="0" tIns="0" rIns="0" bIns="0" rtlCol="0" anchor="ctr">
            <a:normAutofit/>
          </a:bodyPr>
          <a:lstStyle/>
          <a:p>
            <a:pPr marL="0" indent="0">
              <a:buNone/>
            </a:pPr>
            <a:r>
              <a:rPr lang="en-US" sz="1120" dirty="0">
                <a:solidFill>
                  <a:srgbClr val="1F2D3D"/>
                </a:solidFill>
              </a:rPr>
              <a:t>5 nguồn dữ liệu chính, biến mục tiêu FloodMarks, 16 biến gốc, 15 biến tương tác, chuẩn hóa 30 m.</a:t>
            </a:r>
            <a:endParaRPr lang="en-US" sz="1120" dirty="0"/>
          </a:p>
        </p:txBody>
      </p:sp>
      <p:sp>
        <p:nvSpPr>
          <p:cNvPr id="13" name="Shape 11"/>
          <p:cNvSpPr/>
          <p:nvPr/>
        </p:nvSpPr>
        <p:spPr>
          <a:xfrm>
            <a:off x="822960" y="3611880"/>
            <a:ext cx="10561320" cy="868680"/>
          </a:xfrm>
          <a:prstGeom prst="roundRect">
            <a:avLst>
              <a:gd name="adj" fmla="val 8421"/>
            </a:avLst>
          </a:prstGeom>
          <a:solidFill>
            <a:schemeClr val="accent4">
              <a:lumMod val="20000"/>
              <a:lumOff val="80000"/>
            </a:schemeClr>
          </a:solidFill>
          <a:ln w="12700">
            <a:solidFill>
              <a:srgbClr val="D6DEE6"/>
            </a:solidFill>
            <a:prstDash val="solid"/>
          </a:ln>
        </p:spPr>
        <p:txBody>
          <a:bodyPr/>
          <a:lstStyle/>
          <a:p>
            <a:endParaRPr lang="vi-VN"/>
          </a:p>
        </p:txBody>
      </p:sp>
      <p:sp>
        <p:nvSpPr>
          <p:cNvPr id="14" name="Text 12"/>
          <p:cNvSpPr/>
          <p:nvPr/>
        </p:nvSpPr>
        <p:spPr>
          <a:xfrm>
            <a:off x="1005840" y="3767328"/>
            <a:ext cx="502920" cy="320040"/>
          </a:xfrm>
          <a:prstGeom prst="rect">
            <a:avLst/>
          </a:prstGeom>
          <a:noFill/>
          <a:ln/>
        </p:spPr>
        <p:txBody>
          <a:bodyPr wrap="square" lIns="0" tIns="0" rIns="0" bIns="0" rtlCol="0" anchor="ctr"/>
          <a:lstStyle/>
          <a:p>
            <a:pPr marL="0" indent="0" algn="ctr">
              <a:buNone/>
            </a:pPr>
            <a:r>
              <a:rPr lang="en-US" sz="1800" b="1" dirty="0">
                <a:solidFill>
                  <a:srgbClr val="0B3C5D"/>
                </a:solidFill>
              </a:rPr>
              <a:t>03</a:t>
            </a:r>
            <a:endParaRPr lang="en-US" sz="1800" dirty="0"/>
          </a:p>
        </p:txBody>
      </p:sp>
      <p:sp>
        <p:nvSpPr>
          <p:cNvPr id="15" name="Text 13"/>
          <p:cNvSpPr/>
          <p:nvPr/>
        </p:nvSpPr>
        <p:spPr>
          <a:xfrm>
            <a:off x="1691640" y="3767328"/>
            <a:ext cx="2926080" cy="274320"/>
          </a:xfrm>
          <a:prstGeom prst="rect">
            <a:avLst/>
          </a:prstGeom>
          <a:noFill/>
          <a:ln/>
        </p:spPr>
        <p:txBody>
          <a:bodyPr wrap="square" lIns="0" tIns="0" rIns="0" bIns="0" rtlCol="0" anchor="ctr"/>
          <a:lstStyle/>
          <a:p>
            <a:pPr marL="0" indent="0">
              <a:buNone/>
            </a:pPr>
            <a:r>
              <a:rPr lang="en-US" sz="1400" b="1" dirty="0" err="1">
                <a:solidFill>
                  <a:srgbClr val="0B3C5D"/>
                </a:solidFill>
              </a:rPr>
              <a:t>Mô</a:t>
            </a:r>
            <a:r>
              <a:rPr lang="en-US" sz="1400" b="1" dirty="0">
                <a:solidFill>
                  <a:srgbClr val="0B3C5D"/>
                </a:solidFill>
              </a:rPr>
              <a:t> </a:t>
            </a:r>
            <a:r>
              <a:rPr lang="en-US" sz="1400" b="1" dirty="0" err="1">
                <a:solidFill>
                  <a:srgbClr val="0B3C5D"/>
                </a:solidFill>
              </a:rPr>
              <a:t>hình</a:t>
            </a:r>
            <a:endParaRPr lang="en-US" sz="1400" dirty="0"/>
          </a:p>
        </p:txBody>
      </p:sp>
      <p:sp>
        <p:nvSpPr>
          <p:cNvPr id="16" name="Text 14"/>
          <p:cNvSpPr/>
          <p:nvPr/>
        </p:nvSpPr>
        <p:spPr>
          <a:xfrm>
            <a:off x="4709160" y="3749040"/>
            <a:ext cx="6309360" cy="411480"/>
          </a:xfrm>
          <a:prstGeom prst="rect">
            <a:avLst/>
          </a:prstGeom>
          <a:noFill/>
          <a:ln/>
        </p:spPr>
        <p:txBody>
          <a:bodyPr wrap="square" lIns="0" tIns="0" rIns="0" bIns="0" rtlCol="0" anchor="ctr">
            <a:normAutofit/>
          </a:bodyPr>
          <a:lstStyle/>
          <a:p>
            <a:pPr marL="0" indent="0">
              <a:buNone/>
            </a:pPr>
            <a:r>
              <a:rPr lang="en-US" sz="1120" dirty="0">
                <a:solidFill>
                  <a:srgbClr val="1F2D3D"/>
                </a:solidFill>
              </a:rPr>
              <a:t>Random Forest, </a:t>
            </a:r>
            <a:r>
              <a:rPr lang="en-US" sz="1120" dirty="0" err="1">
                <a:solidFill>
                  <a:srgbClr val="1F2D3D"/>
                </a:solidFill>
              </a:rPr>
              <a:t>XGBoost</a:t>
            </a:r>
            <a:r>
              <a:rPr lang="en-US" sz="1120" dirty="0">
                <a:solidFill>
                  <a:srgbClr val="1F2D3D"/>
                </a:solidFill>
              </a:rPr>
              <a:t>, DNN; Manning n, ràng buộc đơn điệu, hậu xử lý thủy lực.</a:t>
            </a:r>
            <a:endParaRPr lang="en-US" sz="1120" dirty="0"/>
          </a:p>
        </p:txBody>
      </p:sp>
      <p:sp>
        <p:nvSpPr>
          <p:cNvPr id="17" name="Shape 15"/>
          <p:cNvSpPr/>
          <p:nvPr/>
        </p:nvSpPr>
        <p:spPr>
          <a:xfrm>
            <a:off x="822960" y="4754880"/>
            <a:ext cx="10561320" cy="868680"/>
          </a:xfrm>
          <a:prstGeom prst="roundRect">
            <a:avLst>
              <a:gd name="adj" fmla="val 8421"/>
            </a:avLst>
          </a:prstGeom>
          <a:solidFill>
            <a:srgbClr val="FFF3E8"/>
          </a:solidFill>
          <a:ln w="12700">
            <a:solidFill>
              <a:srgbClr val="D6DEE6"/>
            </a:solidFill>
            <a:prstDash val="solid"/>
          </a:ln>
        </p:spPr>
        <p:txBody>
          <a:bodyPr/>
          <a:lstStyle/>
          <a:p>
            <a:endParaRPr lang="vi-VN"/>
          </a:p>
        </p:txBody>
      </p:sp>
      <p:sp>
        <p:nvSpPr>
          <p:cNvPr id="18" name="Text 16"/>
          <p:cNvSpPr/>
          <p:nvPr/>
        </p:nvSpPr>
        <p:spPr>
          <a:xfrm>
            <a:off x="1005840" y="4910328"/>
            <a:ext cx="502920" cy="320040"/>
          </a:xfrm>
          <a:prstGeom prst="rect">
            <a:avLst/>
          </a:prstGeom>
          <a:noFill/>
          <a:ln/>
        </p:spPr>
        <p:txBody>
          <a:bodyPr wrap="square" lIns="0" tIns="0" rIns="0" bIns="0" rtlCol="0" anchor="ctr"/>
          <a:lstStyle/>
          <a:p>
            <a:pPr marL="0" indent="0" algn="ctr">
              <a:buNone/>
            </a:pPr>
            <a:r>
              <a:rPr lang="en-US" sz="1800" b="1" dirty="0">
                <a:solidFill>
                  <a:srgbClr val="0B3C5D"/>
                </a:solidFill>
              </a:rPr>
              <a:t>04</a:t>
            </a:r>
            <a:endParaRPr lang="en-US" sz="1800" dirty="0"/>
          </a:p>
        </p:txBody>
      </p:sp>
      <p:sp>
        <p:nvSpPr>
          <p:cNvPr id="19" name="Text 17"/>
          <p:cNvSpPr/>
          <p:nvPr/>
        </p:nvSpPr>
        <p:spPr>
          <a:xfrm>
            <a:off x="1691640" y="4910328"/>
            <a:ext cx="2926080" cy="274320"/>
          </a:xfrm>
          <a:prstGeom prst="rect">
            <a:avLst/>
          </a:prstGeom>
          <a:noFill/>
          <a:ln/>
        </p:spPr>
        <p:txBody>
          <a:bodyPr wrap="square" lIns="0" tIns="0" rIns="0" bIns="0" rtlCol="0" anchor="ctr"/>
          <a:lstStyle/>
          <a:p>
            <a:pPr marL="0" indent="0">
              <a:buNone/>
            </a:pPr>
            <a:r>
              <a:rPr lang="en-US" sz="1400" b="1" dirty="0">
                <a:solidFill>
                  <a:srgbClr val="0B3C5D"/>
                </a:solidFill>
              </a:rPr>
              <a:t>Kết quả &amp; so sánh</a:t>
            </a:r>
            <a:endParaRPr lang="en-US" sz="1400" dirty="0"/>
          </a:p>
        </p:txBody>
      </p:sp>
      <p:sp>
        <p:nvSpPr>
          <p:cNvPr id="20" name="Text 18"/>
          <p:cNvSpPr/>
          <p:nvPr/>
        </p:nvSpPr>
        <p:spPr>
          <a:xfrm>
            <a:off x="4709160" y="4892040"/>
            <a:ext cx="6309360" cy="411480"/>
          </a:xfrm>
          <a:prstGeom prst="rect">
            <a:avLst/>
          </a:prstGeom>
          <a:noFill/>
          <a:ln/>
        </p:spPr>
        <p:txBody>
          <a:bodyPr wrap="square" lIns="0" tIns="0" rIns="0" bIns="0" rtlCol="0" anchor="ctr">
            <a:normAutofit/>
          </a:bodyPr>
          <a:lstStyle/>
          <a:p>
            <a:pPr marL="0" indent="0">
              <a:buNone/>
            </a:pPr>
            <a:r>
              <a:rPr lang="en-US" sz="1120" dirty="0">
                <a:solidFill>
                  <a:srgbClr val="1F2D3D"/>
                </a:solidFill>
              </a:rPr>
              <a:t>Kết quả từng mô hình, feature importance, bản đồ trước/sau hậu xử lý, khuyến nghị sử dụng.</a:t>
            </a:r>
            <a:endParaRPr lang="en-US" sz="1120" dirty="0"/>
          </a:p>
        </p:txBody>
      </p:sp>
      <p:sp>
        <p:nvSpPr>
          <p:cNvPr id="21" name="Shape 19"/>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2" name="Text 20"/>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3" name="Text 21"/>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02</a:t>
            </a:r>
            <a:endParaRPr lang="en-US" sz="850" dirty="0"/>
          </a:p>
        </p:txBody>
      </p:sp>
      <p:pic>
        <p:nvPicPr>
          <p:cNvPr id="25" name="Picture 24" descr="image1.png">
            <a:extLst>
              <a:ext uri="{FF2B5EF4-FFF2-40B4-BE49-F238E27FC236}">
                <a16:creationId xmlns:a16="http://schemas.microsoft.com/office/drawing/2014/main" id="{794388F9-51F0-ADD7-E681-B677310DCF7F}"/>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Tóm tắt bối cảnh nghiên cứu</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5" name="Shape 3"/>
          <p:cNvSpPr/>
          <p:nvPr/>
        </p:nvSpPr>
        <p:spPr>
          <a:xfrm>
            <a:off x="640080" y="1234440"/>
            <a:ext cx="3429000" cy="4526280"/>
          </a:xfrm>
          <a:prstGeom prst="roundRect">
            <a:avLst>
              <a:gd name="adj" fmla="val 2133"/>
            </a:avLst>
          </a:prstGeom>
          <a:solidFill>
            <a:srgbClr val="EAF3F8"/>
          </a:solidFill>
          <a:ln w="12700">
            <a:solidFill>
              <a:srgbClr val="D6DEE6"/>
            </a:solidFill>
            <a:prstDash val="solid"/>
          </a:ln>
        </p:spPr>
        <p:txBody>
          <a:bodyPr/>
          <a:lstStyle/>
          <a:p>
            <a:endParaRPr lang="vi-VN"/>
          </a:p>
        </p:txBody>
      </p:sp>
      <p:sp>
        <p:nvSpPr>
          <p:cNvPr id="6" name="Text 4"/>
          <p:cNvSpPr/>
          <p:nvPr/>
        </p:nvSpPr>
        <p:spPr>
          <a:xfrm>
            <a:off x="868680" y="1508760"/>
            <a:ext cx="2926080" cy="274320"/>
          </a:xfrm>
          <a:prstGeom prst="rect">
            <a:avLst/>
          </a:prstGeom>
          <a:noFill/>
          <a:ln/>
        </p:spPr>
        <p:txBody>
          <a:bodyPr wrap="square" lIns="0" tIns="0" rIns="0" bIns="0" rtlCol="0" anchor="ctr"/>
          <a:lstStyle/>
          <a:p>
            <a:pPr marL="0" indent="0">
              <a:buNone/>
            </a:pPr>
            <a:r>
              <a:rPr lang="en-US" sz="1800" b="1" dirty="0">
                <a:solidFill>
                  <a:srgbClr val="0B3C5D"/>
                </a:solidFill>
              </a:rPr>
              <a:t>Vấn đề</a:t>
            </a:r>
            <a:endParaRPr lang="en-US" sz="1800" dirty="0"/>
          </a:p>
        </p:txBody>
      </p:sp>
      <p:sp>
        <p:nvSpPr>
          <p:cNvPr id="7" name="Text 5"/>
          <p:cNvSpPr/>
          <p:nvPr/>
        </p:nvSpPr>
        <p:spPr>
          <a:xfrm>
            <a:off x="868680" y="1965960"/>
            <a:ext cx="2834640" cy="2468880"/>
          </a:xfrm>
          <a:prstGeom prst="rect">
            <a:avLst/>
          </a:prstGeom>
          <a:noFill/>
          <a:ln/>
        </p:spPr>
        <p:txBody>
          <a:bodyPr wrap="square" lIns="762" tIns="762" rIns="762" bIns="762" rtlCol="0" anchor="ctr">
            <a:normAutofit/>
          </a:bodyPr>
          <a:lstStyle/>
          <a:p>
            <a:r>
              <a:rPr lang="en-US" sz="1200" dirty="0">
                <a:solidFill>
                  <a:srgbClr val="1F2D3D"/>
                </a:solidFill>
              </a:rPr>
              <a:t>Huế thường chịu lũ lớn do địa hình hẹp, dốc, sông ngắn và mưa bão tập trung.</a:t>
            </a:r>
            <a:endParaRPr lang="en-US" sz="1200" dirty="0"/>
          </a:p>
          <a:p>
            <a:r>
              <a:rPr lang="en-US" sz="1200" dirty="0">
                <a:solidFill>
                  <a:srgbClr val="1F2D3D"/>
                </a:solidFill>
              </a:rPr>
              <a:t>Trận lũ 11/1999 là sự kiện cực đoan: mực nước Kim Long 5,81 m.</a:t>
            </a:r>
            <a:endParaRPr lang="en-US" sz="1200" dirty="0"/>
          </a:p>
          <a:p>
            <a:r>
              <a:rPr lang="en-US" sz="1200" dirty="0">
                <a:solidFill>
                  <a:srgbClr val="1F2D3D"/>
                </a:solidFill>
              </a:rPr>
              <a:t>Cần bản đồ độ sâu ngập để hỗ trợ sơ tán, quy hoạch, bảo vệ di sản.</a:t>
            </a:r>
            <a:endParaRPr lang="en-US" sz="1200" dirty="0"/>
          </a:p>
        </p:txBody>
      </p:sp>
      <p:sp>
        <p:nvSpPr>
          <p:cNvPr id="8" name="Shape 6"/>
          <p:cNvSpPr/>
          <p:nvPr/>
        </p:nvSpPr>
        <p:spPr>
          <a:xfrm>
            <a:off x="4389120" y="1234440"/>
            <a:ext cx="3429000" cy="4526280"/>
          </a:xfrm>
          <a:prstGeom prst="roundRect">
            <a:avLst>
              <a:gd name="adj" fmla="val 2133"/>
            </a:avLst>
          </a:prstGeom>
          <a:solidFill>
            <a:srgbClr val="EAF6EF"/>
          </a:solidFill>
          <a:ln w="12700">
            <a:solidFill>
              <a:srgbClr val="D6DEE6"/>
            </a:solidFill>
            <a:prstDash val="solid"/>
          </a:ln>
        </p:spPr>
        <p:txBody>
          <a:bodyPr/>
          <a:lstStyle/>
          <a:p>
            <a:endParaRPr lang="vi-VN"/>
          </a:p>
        </p:txBody>
      </p:sp>
      <p:sp>
        <p:nvSpPr>
          <p:cNvPr id="9" name="Text 7"/>
          <p:cNvSpPr/>
          <p:nvPr/>
        </p:nvSpPr>
        <p:spPr>
          <a:xfrm>
            <a:off x="4617720" y="1508760"/>
            <a:ext cx="2926080" cy="274320"/>
          </a:xfrm>
          <a:prstGeom prst="rect">
            <a:avLst/>
          </a:prstGeom>
          <a:noFill/>
          <a:ln/>
        </p:spPr>
        <p:txBody>
          <a:bodyPr wrap="square" lIns="0" tIns="0" rIns="0" bIns="0" rtlCol="0" anchor="ctr"/>
          <a:lstStyle/>
          <a:p>
            <a:pPr marL="0" indent="0">
              <a:buNone/>
            </a:pPr>
            <a:r>
              <a:rPr lang="en-US" sz="1800" b="1" dirty="0">
                <a:solidFill>
                  <a:srgbClr val="1D7A48"/>
                </a:solidFill>
              </a:rPr>
              <a:t>Khoảng trống</a:t>
            </a:r>
            <a:endParaRPr lang="en-US" sz="1800" dirty="0"/>
          </a:p>
        </p:txBody>
      </p:sp>
      <p:sp>
        <p:nvSpPr>
          <p:cNvPr id="10" name="Text 8"/>
          <p:cNvSpPr/>
          <p:nvPr/>
        </p:nvSpPr>
        <p:spPr>
          <a:xfrm>
            <a:off x="4617720" y="1965960"/>
            <a:ext cx="2834640" cy="2468880"/>
          </a:xfrm>
          <a:prstGeom prst="rect">
            <a:avLst/>
          </a:prstGeom>
          <a:noFill/>
          <a:ln/>
        </p:spPr>
        <p:txBody>
          <a:bodyPr wrap="square" lIns="762" tIns="762" rIns="762" bIns="762" rtlCol="0" anchor="ctr">
            <a:normAutofit/>
          </a:bodyPr>
          <a:lstStyle/>
          <a:p>
            <a:r>
              <a:rPr lang="en-US" sz="1200" dirty="0">
                <a:solidFill>
                  <a:srgbClr val="1F2D3D"/>
                </a:solidFill>
              </a:rPr>
              <a:t>Mô hình thủy lực truyền thống cần dữ liệu chi tiết và thời gian tính toán dài.</a:t>
            </a:r>
            <a:endParaRPr lang="en-US" sz="1200" dirty="0"/>
          </a:p>
          <a:p>
            <a:r>
              <a:rPr lang="en-US" sz="1200" dirty="0">
                <a:solidFill>
                  <a:srgbClr val="1F2D3D"/>
                </a:solidFill>
              </a:rPr>
              <a:t>Nhiều nghiên cứu ML chỉ phân loại ngập/không ngập.</a:t>
            </a:r>
            <a:endParaRPr lang="en-US" sz="1200" dirty="0"/>
          </a:p>
          <a:p>
            <a:r>
              <a:rPr lang="en-US" sz="1200" dirty="0">
                <a:solidFill>
                  <a:srgbClr val="1F2D3D"/>
                </a:solidFill>
              </a:rPr>
              <a:t>Thiếu khung dự báo định lượng độ sâu theo </a:t>
            </a:r>
            <a:r>
              <a:rPr lang="en-US" sz="1200" dirty="0" err="1">
                <a:solidFill>
                  <a:srgbClr val="1F2D3D"/>
                </a:solidFill>
              </a:rPr>
              <a:t>từng</a:t>
            </a:r>
            <a:r>
              <a:rPr lang="en-US" sz="1200" dirty="0">
                <a:solidFill>
                  <a:srgbClr val="1F2D3D"/>
                </a:solidFill>
              </a:rPr>
              <a:t> </a:t>
            </a:r>
            <a:r>
              <a:rPr lang="vi-VN" sz="1200" dirty="0">
                <a:solidFill>
                  <a:srgbClr val="1F2D3D"/>
                </a:solidFill>
              </a:rPr>
              <a:t>điểm ảnh</a:t>
            </a:r>
            <a:r>
              <a:rPr lang="en-US" sz="1200" dirty="0">
                <a:solidFill>
                  <a:srgbClr val="1F2D3D"/>
                </a:solidFill>
              </a:rPr>
              <a:t> có tích hợp tri thức thủy lực.</a:t>
            </a:r>
            <a:endParaRPr lang="en-US" sz="1200" dirty="0"/>
          </a:p>
        </p:txBody>
      </p:sp>
      <p:sp>
        <p:nvSpPr>
          <p:cNvPr id="11" name="Shape 9"/>
          <p:cNvSpPr/>
          <p:nvPr/>
        </p:nvSpPr>
        <p:spPr>
          <a:xfrm>
            <a:off x="8138160" y="1234440"/>
            <a:ext cx="3429000" cy="4526280"/>
          </a:xfrm>
          <a:prstGeom prst="roundRect">
            <a:avLst>
              <a:gd name="adj" fmla="val 2133"/>
            </a:avLst>
          </a:prstGeom>
          <a:solidFill>
            <a:srgbClr val="FFF3E8"/>
          </a:solidFill>
          <a:ln w="12700">
            <a:solidFill>
              <a:srgbClr val="D6DEE6"/>
            </a:solidFill>
            <a:prstDash val="solid"/>
          </a:ln>
        </p:spPr>
        <p:txBody>
          <a:bodyPr/>
          <a:lstStyle/>
          <a:p>
            <a:endParaRPr lang="vi-VN"/>
          </a:p>
        </p:txBody>
      </p:sp>
      <p:sp>
        <p:nvSpPr>
          <p:cNvPr id="12" name="Text 10"/>
          <p:cNvSpPr/>
          <p:nvPr/>
        </p:nvSpPr>
        <p:spPr>
          <a:xfrm>
            <a:off x="8366760" y="1508760"/>
            <a:ext cx="2926080" cy="274320"/>
          </a:xfrm>
          <a:prstGeom prst="rect">
            <a:avLst/>
          </a:prstGeom>
          <a:noFill/>
          <a:ln/>
        </p:spPr>
        <p:txBody>
          <a:bodyPr wrap="square" lIns="0" tIns="0" rIns="0" bIns="0" rtlCol="0" anchor="ctr"/>
          <a:lstStyle/>
          <a:p>
            <a:pPr marL="0" indent="0">
              <a:buNone/>
            </a:pPr>
            <a:r>
              <a:rPr lang="en-US" sz="1800" b="1" dirty="0">
                <a:solidFill>
                  <a:srgbClr val="E87E22"/>
                </a:solidFill>
              </a:rPr>
              <a:t>Hướng tiếp cận</a:t>
            </a:r>
            <a:endParaRPr lang="en-US" sz="1800" dirty="0"/>
          </a:p>
        </p:txBody>
      </p:sp>
      <p:sp>
        <p:nvSpPr>
          <p:cNvPr id="13" name="Text 11"/>
          <p:cNvSpPr/>
          <p:nvPr/>
        </p:nvSpPr>
        <p:spPr>
          <a:xfrm>
            <a:off x="8366760" y="1965960"/>
            <a:ext cx="2834640" cy="2468880"/>
          </a:xfrm>
          <a:prstGeom prst="rect">
            <a:avLst/>
          </a:prstGeom>
          <a:noFill/>
          <a:ln/>
        </p:spPr>
        <p:txBody>
          <a:bodyPr wrap="square" lIns="762" tIns="762" rIns="762" bIns="762" rtlCol="0" anchor="ctr">
            <a:normAutofit/>
          </a:bodyPr>
          <a:lstStyle/>
          <a:p>
            <a:r>
              <a:rPr lang="en-US" sz="1200" dirty="0">
                <a:solidFill>
                  <a:srgbClr val="1F2D3D"/>
                </a:solidFill>
              </a:rPr>
              <a:t>Tích hợp viễn thám, GIS và học máy để hồi quy độ sâu ngập.</a:t>
            </a:r>
            <a:endParaRPr lang="en-US" sz="1200" dirty="0"/>
          </a:p>
          <a:p>
            <a:r>
              <a:rPr lang="en-US" sz="1200" dirty="0">
                <a:solidFill>
                  <a:srgbClr val="1F2D3D"/>
                </a:solidFill>
              </a:rPr>
              <a:t>Kết hợp dữ liệu miễn phí: ALOS, ESA, JRC, MERIT-HAND và mưa trạm.</a:t>
            </a:r>
            <a:endParaRPr lang="en-US" sz="1200" dirty="0"/>
          </a:p>
          <a:p>
            <a:r>
              <a:rPr lang="en-US" sz="1200" dirty="0">
                <a:solidFill>
                  <a:srgbClr val="1F2D3D"/>
                </a:solidFill>
              </a:rPr>
              <a:t>Physics-informed ML: Manning n, biến tương tác, ràng buộc đơn điệu và hậu xử lý.</a:t>
            </a:r>
            <a:endParaRPr lang="en-US" sz="1200" dirty="0"/>
          </a:p>
        </p:txBody>
      </p:sp>
      <p:sp>
        <p:nvSpPr>
          <p:cNvPr id="14" name="Shape 12"/>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5" name="Text 13"/>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6" name="Text 14"/>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03</a:t>
            </a:r>
            <a:endParaRPr lang="en-US" sz="850" dirty="0"/>
          </a:p>
        </p:txBody>
      </p:sp>
      <p:pic>
        <p:nvPicPr>
          <p:cNvPr id="18" name="Picture 17" descr="image1.png">
            <a:extLst>
              <a:ext uri="{FF2B5EF4-FFF2-40B4-BE49-F238E27FC236}">
                <a16:creationId xmlns:a16="http://schemas.microsoft.com/office/drawing/2014/main" id="{0B77003C-112D-BFD0-F17A-0403269A5D81}"/>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Khu vực nghiên cứu: Thành phố Huế</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Bối cảnh địa hình – thủy văn quyết định cách thiết kế đặc trưng đầu vào.</a:t>
            </a:r>
            <a:endParaRPr lang="en-US" sz="1050" dirty="0"/>
          </a:p>
        </p:txBody>
      </p:sp>
      <p:sp>
        <p:nvSpPr>
          <p:cNvPr id="5" name="Shape 3"/>
          <p:cNvSpPr/>
          <p:nvPr/>
        </p:nvSpPr>
        <p:spPr>
          <a:xfrm>
            <a:off x="594360" y="1170432"/>
            <a:ext cx="5577840" cy="2743200"/>
          </a:xfrm>
          <a:prstGeom prst="roundRect">
            <a:avLst>
              <a:gd name="adj" fmla="val 2667"/>
            </a:avLst>
          </a:prstGeom>
          <a:solidFill>
            <a:srgbClr val="FFFFFF"/>
          </a:solidFill>
          <a:ln w="12700">
            <a:solidFill>
              <a:srgbClr val="D6DEE6"/>
            </a:solidFill>
            <a:prstDash val="solid"/>
          </a:ln>
        </p:spPr>
        <p:txBody>
          <a:bodyPr/>
          <a:lstStyle/>
          <a:p>
            <a:endParaRPr lang="vi-VN"/>
          </a:p>
        </p:txBody>
      </p:sp>
      <p:pic>
        <p:nvPicPr>
          <p:cNvPr id="6" name="Image 0" descr="/mnt/data/deck_assets_new/p46_img1.png"/>
          <p:cNvPicPr>
            <a:picLocks noChangeAspect="1"/>
          </p:cNvPicPr>
          <p:nvPr/>
        </p:nvPicPr>
        <p:blipFill>
          <a:blip r:embed="rId3"/>
          <a:stretch>
            <a:fillRect/>
          </a:stretch>
        </p:blipFill>
        <p:spPr>
          <a:xfrm>
            <a:off x="594360" y="1281373"/>
            <a:ext cx="5577840" cy="2521317"/>
          </a:xfrm>
          <a:prstGeom prst="rect">
            <a:avLst/>
          </a:prstGeom>
        </p:spPr>
      </p:pic>
      <p:sp>
        <p:nvSpPr>
          <p:cNvPr id="7" name="Shape 4"/>
          <p:cNvSpPr/>
          <p:nvPr/>
        </p:nvSpPr>
        <p:spPr>
          <a:xfrm>
            <a:off x="6400800" y="987552"/>
            <a:ext cx="5166360" cy="3017520"/>
          </a:xfrm>
          <a:prstGeom prst="roundRect">
            <a:avLst>
              <a:gd name="adj" fmla="val 2424"/>
            </a:avLst>
          </a:prstGeom>
          <a:solidFill>
            <a:srgbClr val="FFFFFF"/>
          </a:solidFill>
          <a:ln w="12700">
            <a:solidFill>
              <a:srgbClr val="D6DEE6"/>
            </a:solidFill>
            <a:prstDash val="solid"/>
          </a:ln>
        </p:spPr>
        <p:txBody>
          <a:bodyPr/>
          <a:lstStyle/>
          <a:p>
            <a:endParaRPr lang="vi-VN"/>
          </a:p>
        </p:txBody>
      </p:sp>
      <p:pic>
        <p:nvPicPr>
          <p:cNvPr id="8" name="Image 1" descr="/mnt/data/deck_assets_new/p47_img1.png"/>
          <p:cNvPicPr>
            <a:picLocks noChangeAspect="1"/>
          </p:cNvPicPr>
          <p:nvPr/>
        </p:nvPicPr>
        <p:blipFill>
          <a:blip r:embed="rId4"/>
          <a:stretch>
            <a:fillRect/>
          </a:stretch>
        </p:blipFill>
        <p:spPr>
          <a:xfrm>
            <a:off x="6934596" y="1054449"/>
            <a:ext cx="4207762" cy="2886652"/>
          </a:xfrm>
          <a:prstGeom prst="rect">
            <a:avLst/>
          </a:prstGeom>
        </p:spPr>
      </p:pic>
      <p:sp>
        <p:nvSpPr>
          <p:cNvPr id="9" name="Shape 5"/>
          <p:cNvSpPr/>
          <p:nvPr/>
        </p:nvSpPr>
        <p:spPr>
          <a:xfrm>
            <a:off x="594360" y="4160520"/>
            <a:ext cx="10972800" cy="1481328"/>
          </a:xfrm>
          <a:prstGeom prst="roundRect">
            <a:avLst>
              <a:gd name="adj" fmla="val 4938"/>
            </a:avLst>
          </a:prstGeom>
          <a:solidFill>
            <a:srgbClr val="F4F8FB"/>
          </a:solidFill>
          <a:ln w="12700">
            <a:solidFill>
              <a:srgbClr val="D6DEE6"/>
            </a:solidFill>
            <a:prstDash val="solid"/>
          </a:ln>
        </p:spPr>
        <p:txBody>
          <a:bodyPr/>
          <a:lstStyle/>
          <a:p>
            <a:endParaRPr lang="vi-VN"/>
          </a:p>
        </p:txBody>
      </p:sp>
      <p:sp>
        <p:nvSpPr>
          <p:cNvPr id="10" name="Text 6"/>
          <p:cNvSpPr/>
          <p:nvPr/>
        </p:nvSpPr>
        <p:spPr>
          <a:xfrm>
            <a:off x="868680" y="4343400"/>
            <a:ext cx="10469880" cy="1005840"/>
          </a:xfrm>
          <a:prstGeom prst="rect">
            <a:avLst/>
          </a:prstGeom>
          <a:noFill/>
          <a:ln/>
        </p:spPr>
        <p:txBody>
          <a:bodyPr wrap="square" lIns="762" tIns="762" rIns="762" bIns="762" rtlCol="0" anchor="ctr">
            <a:normAutofit/>
          </a:bodyPr>
          <a:lstStyle/>
          <a:p>
            <a:r>
              <a:rPr lang="en-US" sz="1120" dirty="0">
                <a:solidFill>
                  <a:srgbClr val="1F2D3D"/>
                </a:solidFill>
              </a:rPr>
              <a:t>Diện tích nghiên cứu khoảng 4.947,1 km², chuẩn hóa về lưới raster 30 m tương ứng khoảng 5,8 triệu điểm ảnh đầu ra.</a:t>
            </a:r>
            <a:endParaRPr lang="en-US" sz="1120" dirty="0"/>
          </a:p>
          <a:p>
            <a:r>
              <a:rPr lang="en-US" sz="1120" dirty="0">
                <a:solidFill>
                  <a:srgbClr val="1F2D3D"/>
                </a:solidFill>
              </a:rPr>
              <a:t>Địa hình phân hóa Tây–Đông: núi Trường Sơn, đồi trung du, đồng bằng – đầm phá – ven biển thấp.</a:t>
            </a:r>
            <a:endParaRPr lang="en-US" sz="1120" dirty="0"/>
          </a:p>
          <a:p>
            <a:r>
              <a:rPr lang="en-US" sz="1120" dirty="0">
                <a:solidFill>
                  <a:srgbClr val="1F2D3D"/>
                </a:solidFill>
              </a:rPr>
              <a:t>Hệ thống sông chính: sông Hương, sông Bồ, sông Ô Lâu; lũ tập trung nhanh, thường chịu tác động bão – mưa lớn – triều/biển.</a:t>
            </a:r>
            <a:endParaRPr lang="en-US" sz="1120" dirty="0"/>
          </a:p>
        </p:txBody>
      </p:sp>
      <p:sp>
        <p:nvSpPr>
          <p:cNvPr id="11" name="Text 7"/>
          <p:cNvSpPr/>
          <p:nvPr/>
        </p:nvSpPr>
        <p:spPr>
          <a:xfrm>
            <a:off x="640080" y="5788152"/>
            <a:ext cx="10972800" cy="201168"/>
          </a:xfrm>
          <a:prstGeom prst="rect">
            <a:avLst/>
          </a:prstGeom>
          <a:noFill/>
          <a:ln/>
        </p:spPr>
        <p:txBody>
          <a:bodyPr wrap="square" lIns="0" tIns="0" rIns="0" bIns="0" rtlCol="0" anchor="ctr"/>
          <a:lstStyle/>
          <a:p>
            <a:pPr marL="0" indent="0" algn="ctr">
              <a:buNone/>
            </a:pPr>
            <a:endParaRPr lang="en-US" sz="750" dirty="0"/>
          </a:p>
        </p:txBody>
      </p:sp>
      <p:sp>
        <p:nvSpPr>
          <p:cNvPr id="12" name="Shape 8"/>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3" name="Text 9"/>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4" name="Text 10"/>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04</a:t>
            </a:r>
            <a:endParaRPr lang="en-US" sz="850" dirty="0"/>
          </a:p>
        </p:txBody>
      </p:sp>
      <p:pic>
        <p:nvPicPr>
          <p:cNvPr id="16" name="Picture 15" descr="image1.png">
            <a:extLst>
              <a:ext uri="{FF2B5EF4-FFF2-40B4-BE49-F238E27FC236}">
                <a16:creationId xmlns:a16="http://schemas.microsoft.com/office/drawing/2014/main" id="{AC78BBBE-BB56-C061-9CD7-6C917C6CE78A}"/>
              </a:ext>
            </a:extLst>
          </p:cNvPr>
          <p:cNvPicPr>
            <a:picLocks noChangeAspect="1"/>
          </p:cNvPicPr>
          <p:nvPr/>
        </p:nvPicPr>
        <p:blipFill>
          <a:blip r:embed="rId5"/>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Quy trình nghiên cứu tổng quát</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Từ dữ liệu thô → đặc trưng đầu vào → mô hình → bản đồ độ sâu và phân vùng rủi ro.</a:t>
            </a:r>
            <a:endParaRPr lang="en-US" sz="1050" dirty="0"/>
          </a:p>
        </p:txBody>
      </p:sp>
      <p:pic>
        <p:nvPicPr>
          <p:cNvPr id="6" name="Image 0" descr="/mnt/data/deck_assets_new/p69_img1.png"/>
          <p:cNvPicPr>
            <a:picLocks noChangeAspect="1"/>
          </p:cNvPicPr>
          <p:nvPr/>
        </p:nvPicPr>
        <p:blipFill>
          <a:blip r:embed="rId3"/>
          <a:stretch>
            <a:fillRect/>
          </a:stretch>
        </p:blipFill>
        <p:spPr>
          <a:xfrm>
            <a:off x="548640" y="1179575"/>
            <a:ext cx="4360411" cy="5073137"/>
          </a:xfrm>
          <a:prstGeom prst="rect">
            <a:avLst/>
          </a:prstGeom>
        </p:spPr>
      </p:pic>
      <p:sp>
        <p:nvSpPr>
          <p:cNvPr id="7" name="Shape 4"/>
          <p:cNvSpPr/>
          <p:nvPr/>
        </p:nvSpPr>
        <p:spPr>
          <a:xfrm>
            <a:off x="5021133" y="1170432"/>
            <a:ext cx="6903720" cy="1024128"/>
          </a:xfrm>
          <a:prstGeom prst="roundRect">
            <a:avLst>
              <a:gd name="adj" fmla="val 7143"/>
            </a:avLst>
          </a:prstGeom>
          <a:solidFill>
            <a:srgbClr val="EAF3F8"/>
          </a:solidFill>
          <a:ln w="12700">
            <a:solidFill>
              <a:srgbClr val="D6DEE6"/>
            </a:solidFill>
            <a:prstDash val="solid"/>
          </a:ln>
        </p:spPr>
        <p:txBody>
          <a:bodyPr/>
          <a:lstStyle/>
          <a:p>
            <a:endParaRPr lang="vi-VN"/>
          </a:p>
        </p:txBody>
      </p:sp>
      <p:sp>
        <p:nvSpPr>
          <p:cNvPr id="8" name="Text 5"/>
          <p:cNvSpPr/>
          <p:nvPr/>
        </p:nvSpPr>
        <p:spPr>
          <a:xfrm>
            <a:off x="5295453" y="1353312"/>
            <a:ext cx="2468880" cy="256032"/>
          </a:xfrm>
          <a:prstGeom prst="rect">
            <a:avLst/>
          </a:prstGeom>
          <a:noFill/>
          <a:ln/>
        </p:spPr>
        <p:txBody>
          <a:bodyPr wrap="square" lIns="0" tIns="0" rIns="0" bIns="0" rtlCol="0" anchor="ctr"/>
          <a:lstStyle/>
          <a:p>
            <a:pPr marL="0" indent="0">
              <a:buNone/>
            </a:pPr>
            <a:r>
              <a:rPr lang="en-US" sz="1500" b="1" dirty="0">
                <a:solidFill>
                  <a:srgbClr val="0B3C5D"/>
                </a:solidFill>
              </a:rPr>
              <a:t>1. Chuẩn hóa dữ liệu</a:t>
            </a:r>
            <a:endParaRPr lang="en-US" sz="1500" dirty="0"/>
          </a:p>
        </p:txBody>
      </p:sp>
      <p:sp>
        <p:nvSpPr>
          <p:cNvPr id="9" name="Text 6"/>
          <p:cNvSpPr/>
          <p:nvPr/>
        </p:nvSpPr>
        <p:spPr>
          <a:xfrm>
            <a:off x="5295453" y="1664208"/>
            <a:ext cx="6217920" cy="347472"/>
          </a:xfrm>
          <a:prstGeom prst="rect">
            <a:avLst/>
          </a:prstGeom>
          <a:noFill/>
          <a:ln/>
        </p:spPr>
        <p:txBody>
          <a:bodyPr wrap="square" lIns="0" tIns="0" rIns="0" bIns="0" rtlCol="0" anchor="ctr">
            <a:normAutofit/>
          </a:bodyPr>
          <a:lstStyle/>
          <a:p>
            <a:pPr marL="0" indent="0">
              <a:buNone/>
            </a:pPr>
            <a:r>
              <a:rPr lang="en-US" sz="1050" dirty="0">
                <a:solidFill>
                  <a:srgbClr val="1F2D3D"/>
                </a:solidFill>
              </a:rPr>
              <a:t>Tái chiếu UTM Zone 48N, resampling 30 m, cắt theo ranh giới Huế, xử lý NoData và trích xuất giá trị tại điểm vết lũ.</a:t>
            </a:r>
            <a:endParaRPr lang="en-US" sz="1050" dirty="0"/>
          </a:p>
        </p:txBody>
      </p:sp>
      <p:sp>
        <p:nvSpPr>
          <p:cNvPr id="10" name="Shape 7"/>
          <p:cNvSpPr/>
          <p:nvPr/>
        </p:nvSpPr>
        <p:spPr>
          <a:xfrm>
            <a:off x="5021133" y="2423160"/>
            <a:ext cx="6903720" cy="1024128"/>
          </a:xfrm>
          <a:prstGeom prst="roundRect">
            <a:avLst>
              <a:gd name="adj" fmla="val 7143"/>
            </a:avLst>
          </a:prstGeom>
          <a:solidFill>
            <a:srgbClr val="EAF6EF"/>
          </a:solidFill>
          <a:ln w="12700">
            <a:solidFill>
              <a:srgbClr val="D6DEE6"/>
            </a:solidFill>
            <a:prstDash val="solid"/>
          </a:ln>
        </p:spPr>
        <p:txBody>
          <a:bodyPr/>
          <a:lstStyle/>
          <a:p>
            <a:endParaRPr lang="vi-VN"/>
          </a:p>
        </p:txBody>
      </p:sp>
      <p:sp>
        <p:nvSpPr>
          <p:cNvPr id="11" name="Text 8"/>
          <p:cNvSpPr/>
          <p:nvPr/>
        </p:nvSpPr>
        <p:spPr>
          <a:xfrm>
            <a:off x="5295453" y="2606040"/>
            <a:ext cx="3291840" cy="256032"/>
          </a:xfrm>
          <a:prstGeom prst="rect">
            <a:avLst/>
          </a:prstGeom>
          <a:noFill/>
          <a:ln/>
        </p:spPr>
        <p:txBody>
          <a:bodyPr wrap="square" lIns="0" tIns="0" rIns="0" bIns="0" rtlCol="0" anchor="ctr"/>
          <a:lstStyle/>
          <a:p>
            <a:pPr marL="0" indent="0">
              <a:buNone/>
            </a:pPr>
            <a:r>
              <a:rPr lang="en-US" sz="1500" b="1" dirty="0">
                <a:solidFill>
                  <a:srgbClr val="1D7A48"/>
                </a:solidFill>
              </a:rPr>
              <a:t>2. Xây dựng bộ 31 đặc trưng</a:t>
            </a:r>
            <a:endParaRPr lang="en-US" sz="1500" dirty="0"/>
          </a:p>
        </p:txBody>
      </p:sp>
      <p:sp>
        <p:nvSpPr>
          <p:cNvPr id="12" name="Text 9"/>
          <p:cNvSpPr/>
          <p:nvPr/>
        </p:nvSpPr>
        <p:spPr>
          <a:xfrm>
            <a:off x="5295453" y="2916936"/>
            <a:ext cx="6217920" cy="347472"/>
          </a:xfrm>
          <a:prstGeom prst="rect">
            <a:avLst/>
          </a:prstGeom>
          <a:noFill/>
          <a:ln/>
        </p:spPr>
        <p:txBody>
          <a:bodyPr wrap="square" lIns="0" tIns="0" rIns="0" bIns="0" rtlCol="0" anchor="ctr">
            <a:normAutofit/>
          </a:bodyPr>
          <a:lstStyle/>
          <a:p>
            <a:pPr marL="0" indent="0">
              <a:buNone/>
            </a:pPr>
            <a:r>
              <a:rPr lang="en-US" sz="1050" dirty="0">
                <a:solidFill>
                  <a:srgbClr val="1F2D3D"/>
                </a:solidFill>
              </a:rPr>
              <a:t>16 biến gốc từ địa hình, thủy văn, lớp phủ, mưa; 15 biến </a:t>
            </a:r>
            <a:r>
              <a:rPr lang="en-US" sz="1050" dirty="0" err="1">
                <a:solidFill>
                  <a:srgbClr val="1F2D3D"/>
                </a:solidFill>
              </a:rPr>
              <a:t>tương</a:t>
            </a:r>
            <a:r>
              <a:rPr lang="en-US" sz="1050" dirty="0">
                <a:solidFill>
                  <a:srgbClr val="1F2D3D"/>
                </a:solidFill>
              </a:rPr>
              <a:t> </a:t>
            </a:r>
            <a:r>
              <a:rPr lang="en-US" sz="1050" dirty="0" err="1">
                <a:solidFill>
                  <a:srgbClr val="1F2D3D"/>
                </a:solidFill>
              </a:rPr>
              <a:t>tác</a:t>
            </a:r>
            <a:r>
              <a:rPr lang="en-US" sz="1050" dirty="0">
                <a:solidFill>
                  <a:srgbClr val="1F2D3D"/>
                </a:solidFill>
              </a:rPr>
              <a:t>.</a:t>
            </a:r>
            <a:endParaRPr lang="en-US" sz="1050" dirty="0"/>
          </a:p>
        </p:txBody>
      </p:sp>
      <p:sp>
        <p:nvSpPr>
          <p:cNvPr id="13" name="Shape 10"/>
          <p:cNvSpPr/>
          <p:nvPr/>
        </p:nvSpPr>
        <p:spPr>
          <a:xfrm>
            <a:off x="5021133" y="3675888"/>
            <a:ext cx="6903720" cy="1024128"/>
          </a:xfrm>
          <a:prstGeom prst="roundRect">
            <a:avLst>
              <a:gd name="adj" fmla="val 7143"/>
            </a:avLst>
          </a:prstGeom>
          <a:solidFill>
            <a:srgbClr val="FFF3E8"/>
          </a:solidFill>
          <a:ln w="12700">
            <a:solidFill>
              <a:srgbClr val="D6DEE6"/>
            </a:solidFill>
            <a:prstDash val="solid"/>
          </a:ln>
        </p:spPr>
        <p:txBody>
          <a:bodyPr/>
          <a:lstStyle/>
          <a:p>
            <a:endParaRPr lang="vi-VN"/>
          </a:p>
        </p:txBody>
      </p:sp>
      <p:sp>
        <p:nvSpPr>
          <p:cNvPr id="14" name="Text 11"/>
          <p:cNvSpPr/>
          <p:nvPr/>
        </p:nvSpPr>
        <p:spPr>
          <a:xfrm>
            <a:off x="5295453" y="3858768"/>
            <a:ext cx="3108960" cy="256032"/>
          </a:xfrm>
          <a:prstGeom prst="rect">
            <a:avLst/>
          </a:prstGeom>
          <a:noFill/>
          <a:ln/>
        </p:spPr>
        <p:txBody>
          <a:bodyPr wrap="square" lIns="0" tIns="0" rIns="0" bIns="0" rtlCol="0" anchor="ctr"/>
          <a:lstStyle/>
          <a:p>
            <a:pPr marL="0" indent="0">
              <a:buNone/>
            </a:pPr>
            <a:r>
              <a:rPr lang="en-US" sz="1500" b="1" dirty="0">
                <a:solidFill>
                  <a:srgbClr val="E87E22"/>
                </a:solidFill>
              </a:rPr>
              <a:t>3. Huấn luyện và so sánh</a:t>
            </a:r>
            <a:endParaRPr lang="en-US" sz="1500" dirty="0"/>
          </a:p>
        </p:txBody>
      </p:sp>
      <p:sp>
        <p:nvSpPr>
          <p:cNvPr id="15" name="Text 12"/>
          <p:cNvSpPr/>
          <p:nvPr/>
        </p:nvSpPr>
        <p:spPr>
          <a:xfrm>
            <a:off x="5295453" y="4169664"/>
            <a:ext cx="6217920" cy="347472"/>
          </a:xfrm>
          <a:prstGeom prst="rect">
            <a:avLst/>
          </a:prstGeom>
          <a:noFill/>
          <a:ln/>
        </p:spPr>
        <p:txBody>
          <a:bodyPr wrap="square" lIns="0" tIns="0" rIns="0" bIns="0" rtlCol="0" anchor="ctr">
            <a:normAutofit/>
          </a:bodyPr>
          <a:lstStyle/>
          <a:p>
            <a:pPr marL="0" indent="0">
              <a:buNone/>
            </a:pPr>
            <a:r>
              <a:rPr lang="en-US" sz="1050" dirty="0">
                <a:solidFill>
                  <a:srgbClr val="1F2D3D"/>
                </a:solidFill>
              </a:rPr>
              <a:t>Random Forest, </a:t>
            </a:r>
            <a:r>
              <a:rPr lang="en-US" sz="1050" dirty="0" err="1">
                <a:solidFill>
                  <a:srgbClr val="1F2D3D"/>
                </a:solidFill>
              </a:rPr>
              <a:t>XGBoost</a:t>
            </a:r>
            <a:r>
              <a:rPr lang="en-US" sz="1050" dirty="0">
                <a:solidFill>
                  <a:srgbClr val="1F2D3D"/>
                </a:solidFill>
              </a:rPr>
              <a:t>, DNN; đánh giá bằng R², RMSE, MAE, MAPE.</a:t>
            </a:r>
            <a:endParaRPr lang="en-US" sz="1050" dirty="0"/>
          </a:p>
        </p:txBody>
      </p:sp>
      <p:sp>
        <p:nvSpPr>
          <p:cNvPr id="16" name="Shape 13"/>
          <p:cNvSpPr/>
          <p:nvPr/>
        </p:nvSpPr>
        <p:spPr>
          <a:xfrm>
            <a:off x="5021133" y="4928616"/>
            <a:ext cx="6903720" cy="1024128"/>
          </a:xfrm>
          <a:prstGeom prst="roundRect">
            <a:avLst>
              <a:gd name="adj" fmla="val 7143"/>
            </a:avLst>
          </a:prstGeom>
          <a:solidFill>
            <a:srgbClr val="FFF0F0"/>
          </a:solidFill>
          <a:ln w="12700">
            <a:solidFill>
              <a:srgbClr val="D6DEE6"/>
            </a:solidFill>
            <a:prstDash val="solid"/>
          </a:ln>
        </p:spPr>
        <p:txBody>
          <a:bodyPr/>
          <a:lstStyle/>
          <a:p>
            <a:endParaRPr lang="vi-VN"/>
          </a:p>
        </p:txBody>
      </p:sp>
      <p:sp>
        <p:nvSpPr>
          <p:cNvPr id="17" name="Text 14"/>
          <p:cNvSpPr/>
          <p:nvPr/>
        </p:nvSpPr>
        <p:spPr>
          <a:xfrm>
            <a:off x="5295453" y="5111496"/>
            <a:ext cx="2926080" cy="256032"/>
          </a:xfrm>
          <a:prstGeom prst="rect">
            <a:avLst/>
          </a:prstGeom>
          <a:noFill/>
          <a:ln/>
        </p:spPr>
        <p:txBody>
          <a:bodyPr wrap="square" lIns="0" tIns="0" rIns="0" bIns="0" rtlCol="0" anchor="ctr"/>
          <a:lstStyle/>
          <a:p>
            <a:pPr marL="0" indent="0">
              <a:buNone/>
            </a:pPr>
            <a:r>
              <a:rPr lang="en-US" sz="1500" b="1" dirty="0">
                <a:solidFill>
                  <a:srgbClr val="B03A2E"/>
                </a:solidFill>
              </a:rPr>
              <a:t>4. Thành lập bản đồ</a:t>
            </a:r>
            <a:endParaRPr lang="en-US" sz="1500" dirty="0"/>
          </a:p>
        </p:txBody>
      </p:sp>
      <p:sp>
        <p:nvSpPr>
          <p:cNvPr id="18" name="Text 15"/>
          <p:cNvSpPr/>
          <p:nvPr/>
        </p:nvSpPr>
        <p:spPr>
          <a:xfrm>
            <a:off x="5295453" y="5422392"/>
            <a:ext cx="6217920" cy="347472"/>
          </a:xfrm>
          <a:prstGeom prst="rect">
            <a:avLst/>
          </a:prstGeom>
          <a:noFill/>
          <a:ln/>
        </p:spPr>
        <p:txBody>
          <a:bodyPr wrap="square" lIns="0" tIns="0" rIns="0" bIns="0" rtlCol="0" anchor="ctr">
            <a:normAutofit/>
          </a:bodyPr>
          <a:lstStyle/>
          <a:p>
            <a:pPr marL="0" indent="0">
              <a:buNone/>
            </a:pPr>
            <a:r>
              <a:rPr lang="en-US" sz="1050" dirty="0">
                <a:solidFill>
                  <a:srgbClr val="1F2D3D"/>
                </a:solidFill>
              </a:rPr>
              <a:t>Dự báo toàn bộ raster 30 m, hậu xử lý thủy lực, tạo bản đồ độ sâu liên tục và phân vùng 6 cấp.</a:t>
            </a:r>
            <a:endParaRPr lang="en-US" sz="1050" dirty="0"/>
          </a:p>
        </p:txBody>
      </p:sp>
      <p:sp>
        <p:nvSpPr>
          <p:cNvPr id="19" name="Text 16"/>
          <p:cNvSpPr/>
          <p:nvPr/>
        </p:nvSpPr>
        <p:spPr>
          <a:xfrm>
            <a:off x="930536" y="6233568"/>
            <a:ext cx="3749040" cy="201168"/>
          </a:xfrm>
          <a:prstGeom prst="rect">
            <a:avLst/>
          </a:prstGeom>
          <a:noFill/>
          <a:ln/>
        </p:spPr>
        <p:txBody>
          <a:bodyPr wrap="square" lIns="0" tIns="0" rIns="0" bIns="0" rtlCol="0" anchor="ctr"/>
          <a:lstStyle/>
          <a:p>
            <a:pPr marL="0" indent="0" algn="ctr">
              <a:buNone/>
            </a:pPr>
            <a:r>
              <a:rPr lang="vi-VN" sz="750" i="1" dirty="0">
                <a:solidFill>
                  <a:srgbClr val="5D6D7E"/>
                </a:solidFill>
              </a:rPr>
              <a:t>Toàn bộ quá trình</a:t>
            </a:r>
            <a:r>
              <a:rPr lang="en-US" sz="750" i="1" dirty="0">
                <a:solidFill>
                  <a:srgbClr val="5D6D7E"/>
                </a:solidFill>
              </a:rPr>
              <a:t> </a:t>
            </a:r>
            <a:r>
              <a:rPr lang="en-US" sz="750" i="1" dirty="0" err="1">
                <a:solidFill>
                  <a:srgbClr val="5D6D7E"/>
                </a:solidFill>
              </a:rPr>
              <a:t>nghiên</a:t>
            </a:r>
            <a:r>
              <a:rPr lang="en-US" sz="750" i="1" dirty="0">
                <a:solidFill>
                  <a:srgbClr val="5D6D7E"/>
                </a:solidFill>
              </a:rPr>
              <a:t> </a:t>
            </a:r>
            <a:r>
              <a:rPr lang="en-US" sz="750" i="1" dirty="0" err="1">
                <a:solidFill>
                  <a:srgbClr val="5D6D7E"/>
                </a:solidFill>
              </a:rPr>
              <a:t>cứu</a:t>
            </a:r>
            <a:r>
              <a:rPr lang="en-US" sz="750" i="1" dirty="0">
                <a:solidFill>
                  <a:srgbClr val="5D6D7E"/>
                </a:solidFill>
              </a:rPr>
              <a:t> </a:t>
            </a:r>
            <a:r>
              <a:rPr lang="vi-VN" sz="750" i="1" dirty="0">
                <a:solidFill>
                  <a:srgbClr val="5D6D7E"/>
                </a:solidFill>
              </a:rPr>
              <a:t>từ thu thập dữ liệu tới tạo bản đồ </a:t>
            </a:r>
            <a:endParaRPr lang="en-US" sz="750" dirty="0"/>
          </a:p>
        </p:txBody>
      </p:sp>
      <p:sp>
        <p:nvSpPr>
          <p:cNvPr id="20" name="Shape 1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1" name="Text 1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2" name="Text 1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05</a:t>
            </a:r>
            <a:endParaRPr lang="en-US" sz="850" dirty="0"/>
          </a:p>
        </p:txBody>
      </p:sp>
      <p:pic>
        <p:nvPicPr>
          <p:cNvPr id="24" name="Picture 23" descr="image1.png">
            <a:extLst>
              <a:ext uri="{FF2B5EF4-FFF2-40B4-BE49-F238E27FC236}">
                <a16:creationId xmlns:a16="http://schemas.microsoft.com/office/drawing/2014/main" id="{8CD9F23B-5DB8-398E-F059-0CDE4107B16C}"/>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Bộ dữ liệu nghiên cứu: cấu trúc và nguồn dữ liệu</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Mô hình hồi quy có giám sát: biến mục tiêu là độ sâu ngập, đầu vào là 31 đặc trưng.</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201400" cy="4480560"/>
        </p:xfrm>
        <a:graphic>
          <a:graphicData uri="http://schemas.openxmlformats.org/drawingml/2006/table">
            <a:tbl>
              <a:tblPr/>
              <a:tblGrid>
                <a:gridCol w="2800350">
                  <a:extLst>
                    <a:ext uri="{9D8B030D-6E8A-4147-A177-3AD203B41FA5}">
                      <a16:colId xmlns:a16="http://schemas.microsoft.com/office/drawing/2014/main" val="20000"/>
                    </a:ext>
                  </a:extLst>
                </a:gridCol>
                <a:gridCol w="2800350">
                  <a:extLst>
                    <a:ext uri="{9D8B030D-6E8A-4147-A177-3AD203B41FA5}">
                      <a16:colId xmlns:a16="http://schemas.microsoft.com/office/drawing/2014/main" val="20001"/>
                    </a:ext>
                  </a:extLst>
                </a:gridCol>
                <a:gridCol w="2800350">
                  <a:extLst>
                    <a:ext uri="{9D8B030D-6E8A-4147-A177-3AD203B41FA5}">
                      <a16:colId xmlns:a16="http://schemas.microsoft.com/office/drawing/2014/main" val="20002"/>
                    </a:ext>
                  </a:extLst>
                </a:gridCol>
                <a:gridCol w="2800350">
                  <a:extLst>
                    <a:ext uri="{9D8B030D-6E8A-4147-A177-3AD203B41FA5}">
                      <a16:colId xmlns:a16="http://schemas.microsoft.com/office/drawing/2014/main" val="20003"/>
                    </a:ext>
                  </a:extLst>
                </a:gridCol>
              </a:tblGrid>
              <a:tr h="640080">
                <a:tc>
                  <a:txBody>
                    <a:bodyPr/>
                    <a:lstStyle/>
                    <a:p>
                      <a:pPr marL="0" indent="0">
                        <a:buNone/>
                      </a:pPr>
                      <a:r>
                        <a:rPr lang="en-US" sz="810" b="1" dirty="0">
                          <a:solidFill>
                            <a:srgbClr val="FFFFFF"/>
                          </a:solidFill>
                        </a:rPr>
                        <a:t>Nhóm dữ liệu</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10" b="1" dirty="0">
                          <a:solidFill>
                            <a:srgbClr val="FFFFFF"/>
                          </a:solidFill>
                        </a:rPr>
                        <a:t>Nguồn</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10" b="1" dirty="0">
                          <a:solidFill>
                            <a:srgbClr val="FFFFFF"/>
                          </a:solidFill>
                        </a:rPr>
                        <a:t>Độ phân giải / thời gian</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10" b="1" dirty="0">
                          <a:solidFill>
                            <a:srgbClr val="FFFFFF"/>
                          </a:solidFill>
                        </a:rPr>
                        <a:t>Vai trò trong mô hình</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640080">
                <a:tc>
                  <a:txBody>
                    <a:bodyPr/>
                    <a:lstStyle/>
                    <a:p>
                      <a:pPr marL="0" indent="0">
                        <a:buNone/>
                      </a:pPr>
                      <a:r>
                        <a:rPr lang="en-US" sz="810" dirty="0">
                          <a:solidFill>
                            <a:srgbClr val="1F2D3D"/>
                          </a:solidFill>
                        </a:rPr>
                        <a:t>FloodMarks 1999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Khảo sát thực địa</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1.000 điểm, 11/1999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Biến mục tiêu flood_depth: 285 điểm ngập, 715 điểm không ngập</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810" dirty="0">
                          <a:solidFill>
                            <a:srgbClr val="1F2D3D"/>
                          </a:solidFill>
                        </a:rPr>
                        <a:t>ALOS World 3D</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JAXA</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30 m, 2006–2011</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DEM gốc; tạo slope, aspect, curvature, roughness, TPI, TWI, hillshade</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810" dirty="0">
                          <a:solidFill>
                            <a:srgbClr val="1F2D3D"/>
                          </a:solidFill>
                        </a:rPr>
                        <a:t>MERIT-HAND</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Yamazaki 2019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30 m, 2019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HAND: độ cao trên dòng chảy gần nhất, ngưỡng 100 cells</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810" dirty="0">
                          <a:solidFill>
                            <a:srgbClr val="1F2D3D"/>
                          </a:solidFill>
                        </a:rPr>
                        <a:t>JRC GSW</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JRC/Pekel</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30 m, 1984–2021</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Xác suất xuất hiện bề mặt nước gsw_occure</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810" dirty="0">
                          <a:solidFill>
                            <a:srgbClr val="1F2D3D"/>
                          </a:solidFill>
                        </a:rPr>
                        <a:t>ESA WorldCover</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ESA</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10 m → 30 m, 2021</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LULC và chuyển đổi sang hệ số Manning n</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buNone/>
                      </a:pPr>
                      <a:r>
                        <a:rPr lang="en-US" sz="810" dirty="0">
                          <a:solidFill>
                            <a:srgbClr val="1F2D3D"/>
                          </a:solidFill>
                        </a:rPr>
                        <a:t>Mưa sự kiện 1999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5 trạm khí tượng</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IDW → raster 30 m, 01–06/11/1999</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10" dirty="0">
                          <a:solidFill>
                            <a:srgbClr val="1F2D3D"/>
                          </a:solidFill>
                        </a:rPr>
                        <a:t>Động lực khí tượng precip_s_1</a:t>
                      </a:r>
                      <a:endParaRPr lang="en-US" sz="81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685800" y="5806440"/>
            <a:ext cx="2286000" cy="228600"/>
          </a:xfrm>
          <a:prstGeom prst="rect">
            <a:avLst/>
          </a:prstGeom>
          <a:noFill/>
          <a:ln/>
        </p:spPr>
        <p:txBody>
          <a:bodyPr wrap="square" lIns="0" tIns="0" rIns="0" bIns="0" rtlCol="0" anchor="ctr"/>
          <a:lstStyle/>
          <a:p>
            <a:pPr marL="0" indent="0">
              <a:buNone/>
            </a:pPr>
            <a:r>
              <a:rPr lang="en-US" sz="1200" b="1" dirty="0">
                <a:solidFill>
                  <a:srgbClr val="0B3C5D"/>
                </a:solidFill>
              </a:rPr>
              <a:t>Chuẩn hóa thống nhất</a:t>
            </a:r>
            <a:endParaRPr lang="en-US" sz="1200" dirty="0"/>
          </a:p>
        </p:txBody>
      </p:sp>
      <p:sp>
        <p:nvSpPr>
          <p:cNvPr id="5" name="Text 4"/>
          <p:cNvSpPr/>
          <p:nvPr/>
        </p:nvSpPr>
        <p:spPr>
          <a:xfrm>
            <a:off x="2743200" y="5806440"/>
            <a:ext cx="8595360" cy="228600"/>
          </a:xfrm>
          <a:prstGeom prst="rect">
            <a:avLst/>
          </a:prstGeom>
          <a:noFill/>
          <a:ln/>
        </p:spPr>
        <p:txBody>
          <a:bodyPr wrap="square" lIns="0" tIns="0" rIns="0" bIns="0" rtlCol="0" anchor="ctr">
            <a:normAutofit/>
          </a:bodyPr>
          <a:lstStyle/>
          <a:p>
            <a:pPr marL="0" indent="0">
              <a:buNone/>
            </a:pPr>
            <a:r>
              <a:rPr lang="en-US" sz="950" dirty="0">
                <a:solidFill>
                  <a:srgbClr val="1F2D3D"/>
                </a:solidFill>
              </a:rPr>
              <a:t>Tất cả raster đưa về UTM Zone 48N (EPSG:32648), độ phân giải 30 m; continuous dùng bilinear, categorical dùng nearest neighbor.</a:t>
            </a:r>
            <a:endParaRPr lang="en-US" sz="950" dirty="0"/>
          </a:p>
        </p:txBody>
      </p:sp>
      <p:sp>
        <p:nvSpPr>
          <p:cNvPr id="8" name="Shape 5"/>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9" name="Text 6"/>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0" name="Text 7"/>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06</a:t>
            </a:r>
            <a:endParaRPr lang="en-US" sz="850" dirty="0"/>
          </a:p>
        </p:txBody>
      </p:sp>
      <p:pic>
        <p:nvPicPr>
          <p:cNvPr id="12" name="Picture 11" descr="image1.png">
            <a:extLst>
              <a:ext uri="{FF2B5EF4-FFF2-40B4-BE49-F238E27FC236}">
                <a16:creationId xmlns:a16="http://schemas.microsoft.com/office/drawing/2014/main" id="{5E33897B-7B1F-BB09-57D9-2CBBDE581441}"/>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Chuẩn hóa dữ liệu trước khi huấn luyện</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Đảm bảo các nguồn dữ liệu khác nhau có thể chồng xếp chính xác trong cùng lưới 30 m.</a:t>
            </a:r>
            <a:endParaRPr lang="en-US" sz="1050" dirty="0"/>
          </a:p>
        </p:txBody>
      </p:sp>
      <p:sp>
        <p:nvSpPr>
          <p:cNvPr id="5" name="Shape 3"/>
          <p:cNvSpPr/>
          <p:nvPr/>
        </p:nvSpPr>
        <p:spPr>
          <a:xfrm>
            <a:off x="640080" y="1234440"/>
            <a:ext cx="3383280" cy="1508760"/>
          </a:xfrm>
          <a:prstGeom prst="roundRect">
            <a:avLst>
              <a:gd name="adj" fmla="val 4848"/>
            </a:avLst>
          </a:prstGeom>
          <a:solidFill>
            <a:srgbClr val="EAF3F8"/>
          </a:solidFill>
          <a:ln w="12700">
            <a:solidFill>
              <a:srgbClr val="D6DEE6"/>
            </a:solidFill>
            <a:prstDash val="solid"/>
          </a:ln>
        </p:spPr>
        <p:txBody>
          <a:bodyPr/>
          <a:lstStyle/>
          <a:p>
            <a:endParaRPr lang="vi-VN"/>
          </a:p>
        </p:txBody>
      </p:sp>
      <p:sp>
        <p:nvSpPr>
          <p:cNvPr id="6" name="Text 4"/>
          <p:cNvSpPr/>
          <p:nvPr/>
        </p:nvSpPr>
        <p:spPr>
          <a:xfrm>
            <a:off x="777240" y="1344168"/>
            <a:ext cx="411480" cy="274320"/>
          </a:xfrm>
          <a:prstGeom prst="rect">
            <a:avLst/>
          </a:prstGeom>
          <a:noFill/>
          <a:ln/>
        </p:spPr>
        <p:txBody>
          <a:bodyPr wrap="square" lIns="0" tIns="0" rIns="0" bIns="0" rtlCol="0" anchor="ctr"/>
          <a:lstStyle/>
          <a:p>
            <a:pPr marL="0" indent="0">
              <a:buNone/>
            </a:pPr>
            <a:r>
              <a:rPr lang="en-US" sz="1500" b="1" dirty="0">
                <a:solidFill>
                  <a:srgbClr val="0B3C5D"/>
                </a:solidFill>
              </a:rPr>
              <a:t>01</a:t>
            </a:r>
            <a:endParaRPr lang="en-US" sz="1500" dirty="0"/>
          </a:p>
        </p:txBody>
      </p:sp>
      <p:sp>
        <p:nvSpPr>
          <p:cNvPr id="7" name="Text 5"/>
          <p:cNvSpPr/>
          <p:nvPr/>
        </p:nvSpPr>
        <p:spPr>
          <a:xfrm>
            <a:off x="1325880" y="13716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Thu thập</a:t>
            </a:r>
            <a:endParaRPr lang="en-US" sz="1300" dirty="0"/>
          </a:p>
        </p:txBody>
      </p:sp>
      <p:sp>
        <p:nvSpPr>
          <p:cNvPr id="8" name="Text 6"/>
          <p:cNvSpPr/>
          <p:nvPr/>
        </p:nvSpPr>
        <p:spPr>
          <a:xfrm>
            <a:off x="896112" y="17373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Tải/nhập dữ liệu từ JAXA, ESA, JRC, MERIT-HAND, trạm mưa và ranh giới Huế.</a:t>
            </a:r>
            <a:endParaRPr lang="en-US" sz="1020" dirty="0"/>
          </a:p>
        </p:txBody>
      </p:sp>
      <p:sp>
        <p:nvSpPr>
          <p:cNvPr id="9" name="Shape 7"/>
          <p:cNvSpPr/>
          <p:nvPr/>
        </p:nvSpPr>
        <p:spPr>
          <a:xfrm>
            <a:off x="4389120" y="1234440"/>
            <a:ext cx="3383280" cy="1508760"/>
          </a:xfrm>
          <a:prstGeom prst="roundRect">
            <a:avLst>
              <a:gd name="adj" fmla="val 4848"/>
            </a:avLst>
          </a:prstGeom>
          <a:solidFill>
            <a:srgbClr val="EAF3F8"/>
          </a:solidFill>
          <a:ln w="12700">
            <a:solidFill>
              <a:srgbClr val="D6DEE6"/>
            </a:solidFill>
            <a:prstDash val="solid"/>
          </a:ln>
        </p:spPr>
        <p:txBody>
          <a:bodyPr/>
          <a:lstStyle/>
          <a:p>
            <a:endParaRPr lang="vi-VN"/>
          </a:p>
        </p:txBody>
      </p:sp>
      <p:sp>
        <p:nvSpPr>
          <p:cNvPr id="10" name="Text 8"/>
          <p:cNvSpPr/>
          <p:nvPr/>
        </p:nvSpPr>
        <p:spPr>
          <a:xfrm>
            <a:off x="4526280" y="1344168"/>
            <a:ext cx="411480" cy="274320"/>
          </a:xfrm>
          <a:prstGeom prst="rect">
            <a:avLst/>
          </a:prstGeom>
          <a:noFill/>
          <a:ln/>
        </p:spPr>
        <p:txBody>
          <a:bodyPr wrap="square" lIns="0" tIns="0" rIns="0" bIns="0" rtlCol="0" anchor="ctr"/>
          <a:lstStyle/>
          <a:p>
            <a:pPr marL="0" indent="0">
              <a:buNone/>
            </a:pPr>
            <a:r>
              <a:rPr lang="en-US" sz="1500" b="1" dirty="0">
                <a:solidFill>
                  <a:srgbClr val="0B3C5D"/>
                </a:solidFill>
              </a:rPr>
              <a:t>02</a:t>
            </a:r>
            <a:endParaRPr lang="en-US" sz="1500" dirty="0"/>
          </a:p>
        </p:txBody>
      </p:sp>
      <p:sp>
        <p:nvSpPr>
          <p:cNvPr id="11" name="Text 9"/>
          <p:cNvSpPr/>
          <p:nvPr/>
        </p:nvSpPr>
        <p:spPr>
          <a:xfrm>
            <a:off x="5074920" y="13716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Tái chiếu</a:t>
            </a:r>
            <a:endParaRPr lang="en-US" sz="1300" dirty="0"/>
          </a:p>
        </p:txBody>
      </p:sp>
      <p:sp>
        <p:nvSpPr>
          <p:cNvPr id="12" name="Text 10"/>
          <p:cNvSpPr/>
          <p:nvPr/>
        </p:nvSpPr>
        <p:spPr>
          <a:xfrm>
            <a:off x="4645152" y="17373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Chuyển WGS84/geographic về UTM Zone 48N (EPSG:32648).</a:t>
            </a:r>
            <a:endParaRPr lang="en-US" sz="1020" dirty="0"/>
          </a:p>
        </p:txBody>
      </p:sp>
      <p:sp>
        <p:nvSpPr>
          <p:cNvPr id="13" name="Shape 11"/>
          <p:cNvSpPr/>
          <p:nvPr/>
        </p:nvSpPr>
        <p:spPr>
          <a:xfrm>
            <a:off x="8138160" y="1234440"/>
            <a:ext cx="3383280" cy="1508760"/>
          </a:xfrm>
          <a:prstGeom prst="roundRect">
            <a:avLst>
              <a:gd name="adj" fmla="val 4848"/>
            </a:avLst>
          </a:prstGeom>
          <a:solidFill>
            <a:srgbClr val="EAF3F8"/>
          </a:solidFill>
          <a:ln w="12700">
            <a:solidFill>
              <a:srgbClr val="D6DEE6"/>
            </a:solidFill>
            <a:prstDash val="solid"/>
          </a:ln>
        </p:spPr>
        <p:txBody>
          <a:bodyPr/>
          <a:lstStyle/>
          <a:p>
            <a:endParaRPr lang="vi-VN"/>
          </a:p>
        </p:txBody>
      </p:sp>
      <p:sp>
        <p:nvSpPr>
          <p:cNvPr id="14" name="Text 12"/>
          <p:cNvSpPr/>
          <p:nvPr/>
        </p:nvSpPr>
        <p:spPr>
          <a:xfrm>
            <a:off x="8275320" y="1344168"/>
            <a:ext cx="411480" cy="274320"/>
          </a:xfrm>
          <a:prstGeom prst="rect">
            <a:avLst/>
          </a:prstGeom>
          <a:noFill/>
          <a:ln/>
        </p:spPr>
        <p:txBody>
          <a:bodyPr wrap="square" lIns="0" tIns="0" rIns="0" bIns="0" rtlCol="0" anchor="ctr"/>
          <a:lstStyle/>
          <a:p>
            <a:pPr marL="0" indent="0">
              <a:buNone/>
            </a:pPr>
            <a:r>
              <a:rPr lang="en-US" sz="1500" b="1" dirty="0">
                <a:solidFill>
                  <a:srgbClr val="0B3C5D"/>
                </a:solidFill>
              </a:rPr>
              <a:t>03</a:t>
            </a:r>
            <a:endParaRPr lang="en-US" sz="1500" dirty="0"/>
          </a:p>
        </p:txBody>
      </p:sp>
      <p:sp>
        <p:nvSpPr>
          <p:cNvPr id="15" name="Text 13"/>
          <p:cNvSpPr/>
          <p:nvPr/>
        </p:nvSpPr>
        <p:spPr>
          <a:xfrm>
            <a:off x="8823960" y="13716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Cắt vùng</a:t>
            </a:r>
            <a:endParaRPr lang="en-US" sz="1300" dirty="0"/>
          </a:p>
        </p:txBody>
      </p:sp>
      <p:sp>
        <p:nvSpPr>
          <p:cNvPr id="16" name="Text 14"/>
          <p:cNvSpPr/>
          <p:nvPr/>
        </p:nvSpPr>
        <p:spPr>
          <a:xfrm>
            <a:off x="8394192" y="17373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Clip theo ranh giới hành chính thành phố Huế.</a:t>
            </a:r>
            <a:endParaRPr lang="en-US" sz="1020" dirty="0"/>
          </a:p>
        </p:txBody>
      </p:sp>
      <p:sp>
        <p:nvSpPr>
          <p:cNvPr id="17" name="Shape 15"/>
          <p:cNvSpPr/>
          <p:nvPr/>
        </p:nvSpPr>
        <p:spPr>
          <a:xfrm>
            <a:off x="640080" y="3291840"/>
            <a:ext cx="3383280" cy="1508760"/>
          </a:xfrm>
          <a:prstGeom prst="roundRect">
            <a:avLst>
              <a:gd name="adj" fmla="val 4848"/>
            </a:avLst>
          </a:prstGeom>
          <a:solidFill>
            <a:srgbClr val="EAF6EF"/>
          </a:solidFill>
          <a:ln w="12700">
            <a:solidFill>
              <a:srgbClr val="D6DEE6"/>
            </a:solidFill>
            <a:prstDash val="solid"/>
          </a:ln>
        </p:spPr>
        <p:txBody>
          <a:bodyPr/>
          <a:lstStyle/>
          <a:p>
            <a:endParaRPr lang="vi-VN"/>
          </a:p>
        </p:txBody>
      </p:sp>
      <p:sp>
        <p:nvSpPr>
          <p:cNvPr id="18" name="Text 16"/>
          <p:cNvSpPr/>
          <p:nvPr/>
        </p:nvSpPr>
        <p:spPr>
          <a:xfrm>
            <a:off x="777240" y="3401568"/>
            <a:ext cx="411480" cy="274320"/>
          </a:xfrm>
          <a:prstGeom prst="rect">
            <a:avLst/>
          </a:prstGeom>
          <a:noFill/>
          <a:ln/>
        </p:spPr>
        <p:txBody>
          <a:bodyPr wrap="square" lIns="0" tIns="0" rIns="0" bIns="0" rtlCol="0" anchor="ctr"/>
          <a:lstStyle/>
          <a:p>
            <a:pPr marL="0" indent="0">
              <a:buNone/>
            </a:pPr>
            <a:r>
              <a:rPr lang="en-US" sz="1500" b="1" dirty="0">
                <a:solidFill>
                  <a:srgbClr val="1D7A48"/>
                </a:solidFill>
              </a:rPr>
              <a:t>04</a:t>
            </a:r>
            <a:endParaRPr lang="en-US" sz="1500" dirty="0"/>
          </a:p>
        </p:txBody>
      </p:sp>
      <p:sp>
        <p:nvSpPr>
          <p:cNvPr id="19" name="Text 17"/>
          <p:cNvSpPr/>
          <p:nvPr/>
        </p:nvSpPr>
        <p:spPr>
          <a:xfrm>
            <a:off x="1325880" y="34290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Tái lấy mẫu</a:t>
            </a:r>
            <a:endParaRPr lang="en-US" sz="1300" dirty="0"/>
          </a:p>
        </p:txBody>
      </p:sp>
      <p:sp>
        <p:nvSpPr>
          <p:cNvPr id="20" name="Text 18"/>
          <p:cNvSpPr/>
          <p:nvPr/>
        </p:nvSpPr>
        <p:spPr>
          <a:xfrm>
            <a:off x="896112" y="37947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Bilinear cho DEM/mưa; nearest neighbor cho LULC để giữ mã lớp.</a:t>
            </a:r>
            <a:endParaRPr lang="en-US" sz="1020" dirty="0"/>
          </a:p>
        </p:txBody>
      </p:sp>
      <p:sp>
        <p:nvSpPr>
          <p:cNvPr id="21" name="Shape 19"/>
          <p:cNvSpPr/>
          <p:nvPr/>
        </p:nvSpPr>
        <p:spPr>
          <a:xfrm>
            <a:off x="4389120" y="3291840"/>
            <a:ext cx="3383280" cy="1508760"/>
          </a:xfrm>
          <a:prstGeom prst="roundRect">
            <a:avLst>
              <a:gd name="adj" fmla="val 4848"/>
            </a:avLst>
          </a:prstGeom>
          <a:solidFill>
            <a:srgbClr val="EAF6EF"/>
          </a:solidFill>
          <a:ln w="12700">
            <a:solidFill>
              <a:srgbClr val="D6DEE6"/>
            </a:solidFill>
            <a:prstDash val="solid"/>
          </a:ln>
        </p:spPr>
        <p:txBody>
          <a:bodyPr/>
          <a:lstStyle/>
          <a:p>
            <a:endParaRPr lang="vi-VN"/>
          </a:p>
        </p:txBody>
      </p:sp>
      <p:sp>
        <p:nvSpPr>
          <p:cNvPr id="22" name="Text 20"/>
          <p:cNvSpPr/>
          <p:nvPr/>
        </p:nvSpPr>
        <p:spPr>
          <a:xfrm>
            <a:off x="4526280" y="3401568"/>
            <a:ext cx="411480" cy="274320"/>
          </a:xfrm>
          <a:prstGeom prst="rect">
            <a:avLst/>
          </a:prstGeom>
          <a:noFill/>
          <a:ln/>
        </p:spPr>
        <p:txBody>
          <a:bodyPr wrap="square" lIns="0" tIns="0" rIns="0" bIns="0" rtlCol="0" anchor="ctr"/>
          <a:lstStyle/>
          <a:p>
            <a:pPr marL="0" indent="0">
              <a:buNone/>
            </a:pPr>
            <a:r>
              <a:rPr lang="en-US" sz="1500" b="1" dirty="0">
                <a:solidFill>
                  <a:srgbClr val="1D7A48"/>
                </a:solidFill>
              </a:rPr>
              <a:t>05</a:t>
            </a:r>
            <a:endParaRPr lang="en-US" sz="1500" dirty="0"/>
          </a:p>
        </p:txBody>
      </p:sp>
      <p:sp>
        <p:nvSpPr>
          <p:cNvPr id="23" name="Text 21"/>
          <p:cNvSpPr/>
          <p:nvPr/>
        </p:nvSpPr>
        <p:spPr>
          <a:xfrm>
            <a:off x="5074920" y="34290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Dẫn xuất đặc trưng</a:t>
            </a:r>
            <a:endParaRPr lang="en-US" sz="1300" dirty="0"/>
          </a:p>
        </p:txBody>
      </p:sp>
      <p:sp>
        <p:nvSpPr>
          <p:cNvPr id="24" name="Text 22"/>
          <p:cNvSpPr/>
          <p:nvPr/>
        </p:nvSpPr>
        <p:spPr>
          <a:xfrm>
            <a:off x="4645152" y="37947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Tính các biến địa hình – thủy văn và biến tương tác.</a:t>
            </a:r>
            <a:endParaRPr lang="en-US" sz="1020" dirty="0"/>
          </a:p>
        </p:txBody>
      </p:sp>
      <p:sp>
        <p:nvSpPr>
          <p:cNvPr id="25" name="Shape 23"/>
          <p:cNvSpPr/>
          <p:nvPr/>
        </p:nvSpPr>
        <p:spPr>
          <a:xfrm>
            <a:off x="8138160" y="3291840"/>
            <a:ext cx="3383280" cy="1508760"/>
          </a:xfrm>
          <a:prstGeom prst="roundRect">
            <a:avLst>
              <a:gd name="adj" fmla="val 4848"/>
            </a:avLst>
          </a:prstGeom>
          <a:solidFill>
            <a:srgbClr val="EAF6EF"/>
          </a:solidFill>
          <a:ln w="12700">
            <a:solidFill>
              <a:srgbClr val="D6DEE6"/>
            </a:solidFill>
            <a:prstDash val="solid"/>
          </a:ln>
        </p:spPr>
        <p:txBody>
          <a:bodyPr/>
          <a:lstStyle/>
          <a:p>
            <a:endParaRPr lang="vi-VN"/>
          </a:p>
        </p:txBody>
      </p:sp>
      <p:sp>
        <p:nvSpPr>
          <p:cNvPr id="26" name="Text 24"/>
          <p:cNvSpPr/>
          <p:nvPr/>
        </p:nvSpPr>
        <p:spPr>
          <a:xfrm>
            <a:off x="8275320" y="3401568"/>
            <a:ext cx="411480" cy="274320"/>
          </a:xfrm>
          <a:prstGeom prst="rect">
            <a:avLst/>
          </a:prstGeom>
          <a:noFill/>
          <a:ln/>
        </p:spPr>
        <p:txBody>
          <a:bodyPr wrap="square" lIns="0" tIns="0" rIns="0" bIns="0" rtlCol="0" anchor="ctr"/>
          <a:lstStyle/>
          <a:p>
            <a:pPr marL="0" indent="0">
              <a:buNone/>
            </a:pPr>
            <a:r>
              <a:rPr lang="en-US" sz="1500" b="1" dirty="0">
                <a:solidFill>
                  <a:srgbClr val="1D7A48"/>
                </a:solidFill>
              </a:rPr>
              <a:t>06</a:t>
            </a:r>
            <a:endParaRPr lang="en-US" sz="1500" dirty="0"/>
          </a:p>
        </p:txBody>
      </p:sp>
      <p:sp>
        <p:nvSpPr>
          <p:cNvPr id="27" name="Text 25"/>
          <p:cNvSpPr/>
          <p:nvPr/>
        </p:nvSpPr>
        <p:spPr>
          <a:xfrm>
            <a:off x="8823960" y="3429000"/>
            <a:ext cx="2468880" cy="228600"/>
          </a:xfrm>
          <a:prstGeom prst="rect">
            <a:avLst/>
          </a:prstGeom>
          <a:noFill/>
          <a:ln/>
        </p:spPr>
        <p:txBody>
          <a:bodyPr wrap="square" lIns="0" tIns="0" rIns="0" bIns="0" rtlCol="0" anchor="ctr"/>
          <a:lstStyle/>
          <a:p>
            <a:pPr marL="0" indent="0">
              <a:buNone/>
            </a:pPr>
            <a:r>
              <a:rPr lang="en-US" sz="1300" b="1" dirty="0">
                <a:solidFill>
                  <a:srgbClr val="1F2D3D"/>
                </a:solidFill>
              </a:rPr>
              <a:t>Trích xuất tại điểm</a:t>
            </a:r>
            <a:endParaRPr lang="en-US" sz="1300" dirty="0"/>
          </a:p>
        </p:txBody>
      </p:sp>
      <p:sp>
        <p:nvSpPr>
          <p:cNvPr id="28" name="Text 26"/>
          <p:cNvSpPr/>
          <p:nvPr/>
        </p:nvSpPr>
        <p:spPr>
          <a:xfrm>
            <a:off x="8394192" y="3794760"/>
            <a:ext cx="2834640" cy="594360"/>
          </a:xfrm>
          <a:prstGeom prst="rect">
            <a:avLst/>
          </a:prstGeom>
          <a:noFill/>
          <a:ln/>
        </p:spPr>
        <p:txBody>
          <a:bodyPr wrap="square" lIns="0" tIns="0" rIns="0" bIns="0" rtlCol="0" anchor="ctr">
            <a:normAutofit/>
          </a:bodyPr>
          <a:lstStyle/>
          <a:p>
            <a:pPr marL="0" indent="0">
              <a:buNone/>
            </a:pPr>
            <a:r>
              <a:rPr lang="en-US" sz="1020" dirty="0">
                <a:solidFill>
                  <a:srgbClr val="1F2D3D"/>
                </a:solidFill>
              </a:rPr>
              <a:t>Lấy giá trị 31 đặc trưng tại 1.000 điểm FloodMarks để tạo bảng ML.</a:t>
            </a:r>
            <a:endParaRPr lang="en-US" sz="1020" dirty="0"/>
          </a:p>
        </p:txBody>
      </p:sp>
      <p:sp>
        <p:nvSpPr>
          <p:cNvPr id="29" name="Shape 27"/>
          <p:cNvSpPr/>
          <p:nvPr/>
        </p:nvSpPr>
        <p:spPr>
          <a:xfrm>
            <a:off x="640080" y="5486400"/>
            <a:ext cx="10881360" cy="621792"/>
          </a:xfrm>
          <a:prstGeom prst="roundRect">
            <a:avLst>
              <a:gd name="adj" fmla="val 11765"/>
            </a:avLst>
          </a:prstGeom>
          <a:solidFill>
            <a:srgbClr val="FFF3E8"/>
          </a:solidFill>
          <a:ln w="12700">
            <a:solidFill>
              <a:srgbClr val="D6DEE6"/>
            </a:solidFill>
            <a:prstDash val="solid"/>
          </a:ln>
        </p:spPr>
        <p:txBody>
          <a:bodyPr/>
          <a:lstStyle/>
          <a:p>
            <a:endParaRPr lang="vi-VN"/>
          </a:p>
        </p:txBody>
      </p:sp>
      <p:sp>
        <p:nvSpPr>
          <p:cNvPr id="30" name="Text 28"/>
          <p:cNvSpPr/>
          <p:nvPr/>
        </p:nvSpPr>
        <p:spPr>
          <a:xfrm>
            <a:off x="868680" y="5650992"/>
            <a:ext cx="1828800" cy="228600"/>
          </a:xfrm>
          <a:prstGeom prst="rect">
            <a:avLst/>
          </a:prstGeom>
          <a:noFill/>
          <a:ln/>
        </p:spPr>
        <p:txBody>
          <a:bodyPr wrap="square" lIns="0" tIns="0" rIns="0" bIns="0" rtlCol="0" anchor="ctr"/>
          <a:lstStyle/>
          <a:p>
            <a:pPr marL="0" indent="0">
              <a:buNone/>
            </a:pPr>
            <a:r>
              <a:rPr lang="en-US" sz="1200" b="1" dirty="0">
                <a:solidFill>
                  <a:srgbClr val="E87E22"/>
                </a:solidFill>
              </a:rPr>
              <a:t>Kết quả chuẩn hóa</a:t>
            </a:r>
            <a:endParaRPr lang="en-US" sz="1200" dirty="0"/>
          </a:p>
        </p:txBody>
      </p:sp>
      <p:sp>
        <p:nvSpPr>
          <p:cNvPr id="31" name="Text 29"/>
          <p:cNvSpPr/>
          <p:nvPr/>
        </p:nvSpPr>
        <p:spPr>
          <a:xfrm>
            <a:off x="2606040" y="5641848"/>
            <a:ext cx="8549640" cy="228600"/>
          </a:xfrm>
          <a:prstGeom prst="rect">
            <a:avLst/>
          </a:prstGeom>
          <a:noFill/>
          <a:ln/>
        </p:spPr>
        <p:txBody>
          <a:bodyPr wrap="square" lIns="0" tIns="0" rIns="0" bIns="0" rtlCol="0" anchor="ctr">
            <a:normAutofit/>
          </a:bodyPr>
          <a:lstStyle/>
          <a:p>
            <a:pPr marL="0" indent="0">
              <a:buNone/>
            </a:pPr>
            <a:r>
              <a:rPr lang="en-US" sz="1050" dirty="0">
                <a:solidFill>
                  <a:srgbClr val="1F2D3D"/>
                </a:solidFill>
              </a:rPr>
              <a:t>Bảng dữ liệu huấn luyện cuối cùng: 1.000 hàng × 32 cột = 31 đặc trưng đầu vào + 1 biến mục tiêu flood_depth.</a:t>
            </a:r>
            <a:endParaRPr lang="en-US" sz="1050" dirty="0"/>
          </a:p>
        </p:txBody>
      </p:sp>
      <p:sp>
        <p:nvSpPr>
          <p:cNvPr id="32" name="Shape 30"/>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33" name="Text 31"/>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34" name="Text 32"/>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07</a:t>
            </a:r>
            <a:endParaRPr lang="en-US" sz="850" dirty="0"/>
          </a:p>
        </p:txBody>
      </p:sp>
      <p:pic>
        <p:nvPicPr>
          <p:cNvPr id="36" name="Picture 35" descr="image1.png">
            <a:extLst>
              <a:ext uri="{FF2B5EF4-FFF2-40B4-BE49-F238E27FC236}">
                <a16:creationId xmlns:a16="http://schemas.microsoft.com/office/drawing/2014/main" id="{ABF180E5-D089-D47A-04FF-B3F2CC584EA1}"/>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Biến mục tiêu: FloodMarks 1999</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vi-VN" sz="1050" dirty="0">
                <a:solidFill>
                  <a:srgbClr val="5D6D7E"/>
                </a:solidFill>
              </a:rPr>
              <a:t>Dữ liệu thực địa</a:t>
            </a:r>
            <a:r>
              <a:rPr lang="en-US" sz="1050" dirty="0">
                <a:solidFill>
                  <a:srgbClr val="5D6D7E"/>
                </a:solidFill>
              </a:rPr>
              <a:t> quan trọng nhất của đồ án.</a:t>
            </a:r>
            <a:endParaRPr lang="en-US" sz="1050" dirty="0"/>
          </a:p>
        </p:txBody>
      </p:sp>
      <p:sp>
        <p:nvSpPr>
          <p:cNvPr id="5" name="Shape 3"/>
          <p:cNvSpPr/>
          <p:nvPr/>
        </p:nvSpPr>
        <p:spPr>
          <a:xfrm>
            <a:off x="548640" y="1097280"/>
            <a:ext cx="5486400" cy="3657600"/>
          </a:xfrm>
          <a:prstGeom prst="roundRect">
            <a:avLst>
              <a:gd name="adj" fmla="val 2000"/>
            </a:avLst>
          </a:prstGeom>
          <a:solidFill>
            <a:srgbClr val="FFFFFF"/>
          </a:solidFill>
          <a:ln w="12700">
            <a:solidFill>
              <a:srgbClr val="D6DEE6"/>
            </a:solidFill>
            <a:prstDash val="solid"/>
          </a:ln>
        </p:spPr>
        <p:txBody>
          <a:bodyPr/>
          <a:lstStyle/>
          <a:p>
            <a:endParaRPr lang="vi-VN"/>
          </a:p>
        </p:txBody>
      </p:sp>
      <p:pic>
        <p:nvPicPr>
          <p:cNvPr id="6" name="Image 0" descr="/mnt/data/deck_assets_new/p51_img1.png"/>
          <p:cNvPicPr>
            <a:picLocks noChangeAspect="1"/>
          </p:cNvPicPr>
          <p:nvPr/>
        </p:nvPicPr>
        <p:blipFill>
          <a:blip r:embed="rId3"/>
          <a:stretch>
            <a:fillRect/>
          </a:stretch>
        </p:blipFill>
        <p:spPr>
          <a:xfrm>
            <a:off x="614253" y="1152142"/>
            <a:ext cx="5355173" cy="3596679"/>
          </a:xfrm>
          <a:prstGeom prst="rect">
            <a:avLst/>
          </a:prstGeom>
        </p:spPr>
      </p:pic>
      <p:sp>
        <p:nvSpPr>
          <p:cNvPr id="7" name="Shape 4"/>
          <p:cNvSpPr/>
          <p:nvPr/>
        </p:nvSpPr>
        <p:spPr>
          <a:xfrm>
            <a:off x="6263640" y="1097280"/>
            <a:ext cx="5349240" cy="2971800"/>
          </a:xfrm>
          <a:prstGeom prst="roundRect">
            <a:avLst>
              <a:gd name="adj" fmla="val 2462"/>
            </a:avLst>
          </a:prstGeom>
          <a:solidFill>
            <a:srgbClr val="FFFFFF"/>
          </a:solidFill>
          <a:ln w="12700">
            <a:solidFill>
              <a:srgbClr val="D6DEE6"/>
            </a:solidFill>
            <a:prstDash val="solid"/>
          </a:ln>
        </p:spPr>
        <p:txBody>
          <a:bodyPr/>
          <a:lstStyle/>
          <a:p>
            <a:endParaRPr lang="vi-VN"/>
          </a:p>
        </p:txBody>
      </p:sp>
      <p:pic>
        <p:nvPicPr>
          <p:cNvPr id="8" name="Image 1" descr="/mnt/data/deck_assets_new/p52_img1.png"/>
          <p:cNvPicPr>
            <a:picLocks noChangeAspect="1"/>
          </p:cNvPicPr>
          <p:nvPr/>
        </p:nvPicPr>
        <p:blipFill>
          <a:blip r:embed="rId4"/>
          <a:stretch>
            <a:fillRect/>
          </a:stretch>
        </p:blipFill>
        <p:spPr>
          <a:xfrm>
            <a:off x="6309360" y="1533877"/>
            <a:ext cx="5257800" cy="2073431"/>
          </a:xfrm>
          <a:prstGeom prst="rect">
            <a:avLst/>
          </a:prstGeom>
        </p:spPr>
      </p:pic>
      <p:sp>
        <p:nvSpPr>
          <p:cNvPr id="9" name="Shape 5"/>
          <p:cNvSpPr/>
          <p:nvPr/>
        </p:nvSpPr>
        <p:spPr>
          <a:xfrm>
            <a:off x="6263640" y="4343400"/>
            <a:ext cx="5349240" cy="1143000"/>
          </a:xfrm>
          <a:prstGeom prst="roundRect">
            <a:avLst>
              <a:gd name="adj" fmla="val 6400"/>
            </a:avLst>
          </a:prstGeom>
          <a:solidFill>
            <a:srgbClr val="F4F8FB"/>
          </a:solidFill>
          <a:ln w="12700">
            <a:solidFill>
              <a:srgbClr val="D6DEE6"/>
            </a:solidFill>
            <a:prstDash val="solid"/>
          </a:ln>
        </p:spPr>
        <p:txBody>
          <a:bodyPr/>
          <a:lstStyle/>
          <a:p>
            <a:endParaRPr lang="vi-VN"/>
          </a:p>
        </p:txBody>
      </p:sp>
      <p:sp>
        <p:nvSpPr>
          <p:cNvPr id="10" name="Text 6"/>
          <p:cNvSpPr/>
          <p:nvPr/>
        </p:nvSpPr>
        <p:spPr>
          <a:xfrm>
            <a:off x="6492240" y="4526280"/>
            <a:ext cx="4846320" cy="685800"/>
          </a:xfrm>
          <a:prstGeom prst="rect">
            <a:avLst/>
          </a:prstGeom>
          <a:noFill/>
          <a:ln/>
        </p:spPr>
        <p:txBody>
          <a:bodyPr wrap="square" lIns="762" tIns="762" rIns="762" bIns="762" rtlCol="0" anchor="ctr">
            <a:normAutofit/>
          </a:bodyPr>
          <a:lstStyle/>
          <a:p>
            <a:r>
              <a:rPr lang="en-US" sz="1050" dirty="0">
                <a:solidFill>
                  <a:srgbClr val="1F2D3D"/>
                </a:solidFill>
              </a:rPr>
              <a:t>1.000 </a:t>
            </a:r>
            <a:r>
              <a:rPr lang="en-US" sz="1050" dirty="0" err="1">
                <a:solidFill>
                  <a:srgbClr val="1F2D3D"/>
                </a:solidFill>
              </a:rPr>
              <a:t>điểm</a:t>
            </a:r>
            <a:r>
              <a:rPr lang="en-US" sz="1050" dirty="0">
                <a:solidFill>
                  <a:srgbClr val="1F2D3D"/>
                </a:solidFill>
              </a:rPr>
              <a:t> </a:t>
            </a:r>
            <a:r>
              <a:rPr lang="vi-VN" sz="1050" dirty="0">
                <a:solidFill>
                  <a:srgbClr val="1F2D3D"/>
                </a:solidFill>
              </a:rPr>
              <a:t>thống kê ngập lụt</a:t>
            </a:r>
            <a:r>
              <a:rPr lang="en-US" sz="1050" dirty="0">
                <a:solidFill>
                  <a:srgbClr val="1F2D3D"/>
                </a:solidFill>
              </a:rPr>
              <a:t> sau trận lũ 11/1999.</a:t>
            </a:r>
            <a:endParaRPr lang="en-US" sz="1050" dirty="0"/>
          </a:p>
          <a:p>
            <a:r>
              <a:rPr lang="en-US" sz="1050" dirty="0">
                <a:solidFill>
                  <a:srgbClr val="1F2D3D"/>
                </a:solidFill>
              </a:rPr>
              <a:t>285 điểm có ngập (0,1–5 m), 715 điểm không ngập.</a:t>
            </a:r>
            <a:endParaRPr lang="en-US" sz="1050" dirty="0"/>
          </a:p>
          <a:p>
            <a:r>
              <a:rPr lang="en-US" sz="1050" dirty="0">
                <a:solidFill>
                  <a:srgbClr val="1F2D3D"/>
                </a:solidFill>
              </a:rPr>
              <a:t>Dữ liệu có tính zero-inflated: nhiều điểm bằng 0, gây thách thức cho hồi quy.</a:t>
            </a:r>
            <a:endParaRPr lang="en-US" sz="1050" dirty="0"/>
          </a:p>
        </p:txBody>
      </p:sp>
      <p:sp>
        <p:nvSpPr>
          <p:cNvPr id="11" name="Text 7"/>
          <p:cNvSpPr/>
          <p:nvPr/>
        </p:nvSpPr>
        <p:spPr>
          <a:xfrm>
            <a:off x="548640" y="5559552"/>
            <a:ext cx="11064240" cy="201168"/>
          </a:xfrm>
          <a:prstGeom prst="rect">
            <a:avLst/>
          </a:prstGeom>
          <a:noFill/>
          <a:ln/>
        </p:spPr>
        <p:txBody>
          <a:bodyPr wrap="square" lIns="0" tIns="0" rIns="0" bIns="0" rtlCol="0" anchor="ctr"/>
          <a:lstStyle/>
          <a:p>
            <a:pPr marL="0" indent="0" algn="ctr">
              <a:buNone/>
            </a:pPr>
            <a:endParaRPr lang="en-US" sz="750" dirty="0"/>
          </a:p>
        </p:txBody>
      </p:sp>
      <p:sp>
        <p:nvSpPr>
          <p:cNvPr id="12" name="Shape 8"/>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3" name="Text 9"/>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4" name="Text 10"/>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08</a:t>
            </a:r>
            <a:endParaRPr lang="en-US" sz="850" dirty="0"/>
          </a:p>
        </p:txBody>
      </p:sp>
      <p:pic>
        <p:nvPicPr>
          <p:cNvPr id="16" name="Picture 15" descr="image1.png">
            <a:extLst>
              <a:ext uri="{FF2B5EF4-FFF2-40B4-BE49-F238E27FC236}">
                <a16:creationId xmlns:a16="http://schemas.microsoft.com/office/drawing/2014/main" id="{78795702-B6E4-5362-A6B5-BFC9255E84F0}"/>
              </a:ext>
            </a:extLst>
          </p:cNvPr>
          <p:cNvPicPr>
            <a:picLocks noChangeAspect="1"/>
          </p:cNvPicPr>
          <p:nvPr/>
        </p:nvPicPr>
        <p:blipFill>
          <a:blip r:embed="rId5"/>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Tiền xử lý FloodMarks và phân cấp độ ngập</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Bước này quyết định tính khách quan khi đánh giá các mô hình.</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143000"/>
          <a:ext cx="6675120" cy="3794760"/>
        </p:xfrm>
        <a:graphic>
          <a:graphicData uri="http://schemas.openxmlformats.org/drawingml/2006/table">
            <a:tbl>
              <a:tblPr/>
              <a:tblGrid>
                <a:gridCol w="2225040">
                  <a:extLst>
                    <a:ext uri="{9D8B030D-6E8A-4147-A177-3AD203B41FA5}">
                      <a16:colId xmlns:a16="http://schemas.microsoft.com/office/drawing/2014/main" val="20000"/>
                    </a:ext>
                  </a:extLst>
                </a:gridCol>
                <a:gridCol w="2225040">
                  <a:extLst>
                    <a:ext uri="{9D8B030D-6E8A-4147-A177-3AD203B41FA5}">
                      <a16:colId xmlns:a16="http://schemas.microsoft.com/office/drawing/2014/main" val="20001"/>
                    </a:ext>
                  </a:extLst>
                </a:gridCol>
                <a:gridCol w="2225040">
                  <a:extLst>
                    <a:ext uri="{9D8B030D-6E8A-4147-A177-3AD203B41FA5}">
                      <a16:colId xmlns:a16="http://schemas.microsoft.com/office/drawing/2014/main" val="20002"/>
                    </a:ext>
                  </a:extLst>
                </a:gridCol>
              </a:tblGrid>
              <a:tr h="632460">
                <a:tc>
                  <a:txBody>
                    <a:bodyPr/>
                    <a:lstStyle/>
                    <a:p>
                      <a:pPr marL="0" indent="0">
                        <a:buNone/>
                      </a:pPr>
                      <a:r>
                        <a:rPr lang="en-US" sz="860" b="1" dirty="0">
                          <a:solidFill>
                            <a:srgbClr val="FFFFFF"/>
                          </a:solidFill>
                        </a:rPr>
                        <a:t>Bước xử lý</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60" b="1" dirty="0">
                          <a:solidFill>
                            <a:srgbClr val="FFFFFF"/>
                          </a:solidFill>
                        </a:rPr>
                        <a:t>Mục đích</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60" b="1" dirty="0">
                          <a:solidFill>
                            <a:srgbClr val="FFFFFF"/>
                          </a:solidFill>
                        </a:rPr>
                        <a:t>Ghi chú kỹ thuật</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632460">
                <a:tc>
                  <a:txBody>
                    <a:bodyPr/>
                    <a:lstStyle/>
                    <a:p>
                      <a:pPr marL="0" indent="0">
                        <a:buNone/>
                      </a:pPr>
                      <a:r>
                        <a:rPr lang="en-US" sz="860" dirty="0">
                          <a:solidFill>
                            <a:srgbClr val="1F2D3D"/>
                          </a:solidFill>
                        </a:rPr>
                        <a:t>Làm sạch dữ liệu</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Loại điểm ngoài ranh giới, giá trị âm, bất thường &gt;5 m, trùng tọa độ</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Sau kiểm tra giữ 1.000 điểm hợp lệ</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2460">
                <a:tc>
                  <a:txBody>
                    <a:bodyPr/>
                    <a:lstStyle/>
                    <a:p>
                      <a:pPr marL="0" indent="0">
                        <a:buNone/>
                      </a:pPr>
                      <a:r>
                        <a:rPr lang="en-US" sz="860" dirty="0">
                          <a:solidFill>
                            <a:srgbClr val="1F2D3D"/>
                          </a:solidFill>
                        </a:rPr>
                        <a:t>Chuyển hệ tọa độ</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Tương thích với raster đầu vào</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WGS84 → UTM Zone 48N</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2460">
                <a:tc>
                  <a:txBody>
                    <a:bodyPr/>
                    <a:lstStyle/>
                    <a:p>
                      <a:pPr marL="0" indent="0">
                        <a:buNone/>
                      </a:pPr>
                      <a:r>
                        <a:rPr lang="en-US" sz="860" dirty="0">
                          <a:solidFill>
                            <a:srgbClr val="1F2D3D"/>
                          </a:solidFill>
                        </a:rPr>
                        <a:t>Trích xuất raster</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Gán 31 đặc trưng tại từng điểm khảo sát</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Bilinear cho raster liên tục</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460">
                <a:tc>
                  <a:txBody>
                    <a:bodyPr/>
                    <a:lstStyle/>
                    <a:p>
                      <a:pPr marL="0" indent="0">
                        <a:buNone/>
                      </a:pPr>
                      <a:r>
                        <a:rPr lang="en-US" sz="860" dirty="0">
                          <a:solidFill>
                            <a:srgbClr val="1F2D3D"/>
                          </a:solidFill>
                        </a:rPr>
                        <a:t>Phân chia dữ liệu</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Đánh giá khách quan</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80:10:10, lấy mẫu phân tầng theo cấp ngập</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2460">
                <a:tc>
                  <a:txBody>
                    <a:bodyPr/>
                    <a:lstStyle/>
                    <a:p>
                      <a:pPr marL="0" indent="0">
                        <a:buNone/>
                      </a:pPr>
                      <a:r>
                        <a:rPr lang="en-US" sz="860" dirty="0">
                          <a:solidFill>
                            <a:srgbClr val="1F2D3D"/>
                          </a:solidFill>
                        </a:rPr>
                        <a:t>Phân cấp 6 mức</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Đánh giá phân loại từ kết quả hồi quy</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60" dirty="0">
                          <a:solidFill>
                            <a:srgbClr val="1F2D3D"/>
                          </a:solidFill>
                        </a:rPr>
                        <a:t>0; 0–0,5; 0,5–1; 1–1,5; 1,5–2; &gt;2 m</a:t>
                      </a:r>
                      <a:endParaRPr lang="en-US" sz="86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7635240" y="1143000"/>
            <a:ext cx="3886200" cy="3794760"/>
          </a:xfrm>
          <a:prstGeom prst="roundRect">
            <a:avLst>
              <a:gd name="adj" fmla="val 1928"/>
            </a:avLst>
          </a:prstGeom>
          <a:solidFill>
            <a:srgbClr val="FFF3E8"/>
          </a:solidFill>
          <a:ln w="12700">
            <a:solidFill>
              <a:srgbClr val="D6DEE6"/>
            </a:solidFill>
            <a:prstDash val="solid"/>
          </a:ln>
        </p:spPr>
        <p:txBody>
          <a:bodyPr/>
          <a:lstStyle/>
          <a:p>
            <a:endParaRPr lang="vi-VN"/>
          </a:p>
        </p:txBody>
      </p:sp>
      <p:sp>
        <p:nvSpPr>
          <p:cNvPr id="7" name="Text 4"/>
          <p:cNvSpPr/>
          <p:nvPr/>
        </p:nvSpPr>
        <p:spPr>
          <a:xfrm>
            <a:off x="7863840" y="1371600"/>
            <a:ext cx="3383280" cy="274320"/>
          </a:xfrm>
          <a:prstGeom prst="rect">
            <a:avLst/>
          </a:prstGeom>
          <a:noFill/>
          <a:ln/>
        </p:spPr>
        <p:txBody>
          <a:bodyPr wrap="square" lIns="0" tIns="0" rIns="0" bIns="0" rtlCol="0" anchor="ctr"/>
          <a:lstStyle/>
          <a:p>
            <a:pPr marL="0" indent="0">
              <a:buNone/>
            </a:pPr>
            <a:r>
              <a:rPr lang="en-US" sz="1500" b="1" dirty="0">
                <a:solidFill>
                  <a:srgbClr val="E87E22"/>
                </a:solidFill>
              </a:rPr>
              <a:t>Ý nghĩa thực tiễn của 6 cấp</a:t>
            </a:r>
            <a:endParaRPr lang="en-US" sz="1500" dirty="0"/>
          </a:p>
        </p:txBody>
      </p:sp>
      <p:sp>
        <p:nvSpPr>
          <p:cNvPr id="8" name="Text 5"/>
          <p:cNvSpPr/>
          <p:nvPr/>
        </p:nvSpPr>
        <p:spPr>
          <a:xfrm>
            <a:off x="8001000" y="1874520"/>
            <a:ext cx="3108960" cy="1783080"/>
          </a:xfrm>
          <a:prstGeom prst="rect">
            <a:avLst/>
          </a:prstGeom>
          <a:noFill/>
          <a:ln/>
        </p:spPr>
        <p:txBody>
          <a:bodyPr wrap="square" lIns="762" tIns="762" rIns="762" bIns="762" rtlCol="0" anchor="ctr">
            <a:normAutofit/>
          </a:bodyPr>
          <a:lstStyle/>
          <a:p>
            <a:r>
              <a:rPr lang="en-US" sz="1050" dirty="0">
                <a:solidFill>
                  <a:srgbClr val="1F2D3D"/>
                </a:solidFill>
              </a:rPr>
              <a:t>Cấp 0: không ngập.</a:t>
            </a:r>
            <a:endParaRPr lang="en-US" sz="1050" dirty="0"/>
          </a:p>
          <a:p>
            <a:r>
              <a:rPr lang="en-US" sz="1050" dirty="0">
                <a:solidFill>
                  <a:srgbClr val="1F2D3D"/>
                </a:solidFill>
              </a:rPr>
              <a:t>Cấp 1: rất nhẹ, dưới 0,5 m.</a:t>
            </a:r>
            <a:endParaRPr lang="en-US" sz="1050" dirty="0"/>
          </a:p>
          <a:p>
            <a:r>
              <a:rPr lang="en-US" sz="1050" dirty="0">
                <a:solidFill>
                  <a:srgbClr val="1F2D3D"/>
                </a:solidFill>
              </a:rPr>
              <a:t>Cấp 2: nhẹ, 0,5–1 m.</a:t>
            </a:r>
            <a:endParaRPr lang="en-US" sz="1050" dirty="0"/>
          </a:p>
          <a:p>
            <a:r>
              <a:rPr lang="en-US" sz="1050" dirty="0">
                <a:solidFill>
                  <a:srgbClr val="1F2D3D"/>
                </a:solidFill>
              </a:rPr>
              <a:t>Cấp 3: trung bình, 1–1,5 m.</a:t>
            </a:r>
            <a:endParaRPr lang="en-US" sz="1050" dirty="0"/>
          </a:p>
          <a:p>
            <a:r>
              <a:rPr lang="en-US" sz="1050" dirty="0">
                <a:solidFill>
                  <a:srgbClr val="1F2D3D"/>
                </a:solidFill>
              </a:rPr>
              <a:t>Cấp 4: nặng, 1,5–2 m.</a:t>
            </a:r>
            <a:endParaRPr lang="en-US" sz="1050" dirty="0"/>
          </a:p>
          <a:p>
            <a:r>
              <a:rPr lang="en-US" sz="1050" dirty="0">
                <a:solidFill>
                  <a:srgbClr val="1F2D3D"/>
                </a:solidFill>
              </a:rPr>
              <a:t>Cấp 5: rất nặng/thảm họa, trên 2 m.</a:t>
            </a:r>
            <a:endParaRPr lang="en-US" sz="1050" dirty="0"/>
          </a:p>
        </p:txBody>
      </p:sp>
      <p:sp>
        <p:nvSpPr>
          <p:cNvPr id="9" name="Text 6"/>
          <p:cNvSpPr/>
          <p:nvPr/>
        </p:nvSpPr>
        <p:spPr>
          <a:xfrm>
            <a:off x="7909560" y="4160520"/>
            <a:ext cx="3200400" cy="457200"/>
          </a:xfrm>
          <a:prstGeom prst="rect">
            <a:avLst/>
          </a:prstGeom>
          <a:noFill/>
          <a:ln/>
        </p:spPr>
        <p:txBody>
          <a:bodyPr wrap="square" lIns="0" tIns="0" rIns="0" bIns="0" rtlCol="0" anchor="ctr">
            <a:normAutofit/>
          </a:bodyPr>
          <a:lstStyle/>
          <a:p>
            <a:pPr marL="0" indent="0">
              <a:buNone/>
            </a:pPr>
            <a:r>
              <a:rPr lang="en-US" sz="950" dirty="0">
                <a:solidFill>
                  <a:srgbClr val="1F2D3D"/>
                </a:solidFill>
              </a:rPr>
              <a:t>Lưu ý: dữ liệu phản ánh một sự kiện lũ lịch sử duy nhất, có phân bố không đều và bị censoring ở ngưỡng 5 m.</a:t>
            </a:r>
            <a:endParaRPr lang="en-US" sz="950" dirty="0"/>
          </a:p>
        </p:txBody>
      </p:sp>
      <p:sp>
        <p:nvSpPr>
          <p:cNvPr id="5" name="Shape 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1" name="Text 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2" name="Text 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09</a:t>
            </a:r>
            <a:endParaRPr lang="en-US" sz="850" dirty="0"/>
          </a:p>
        </p:txBody>
      </p:sp>
      <p:pic>
        <p:nvPicPr>
          <p:cNvPr id="14" name="Picture 13" descr="image1.png">
            <a:extLst>
              <a:ext uri="{FF2B5EF4-FFF2-40B4-BE49-F238E27FC236}">
                <a16:creationId xmlns:a16="http://schemas.microsoft.com/office/drawing/2014/main" id="{731425C0-C1BC-CF66-022C-8495B481F4B1}"/>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16 biến gốc đầu vào: ý nghĩa và cách xử lý</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Các biến gốc được chia thành 4 nhóm vật lý: địa hình, thủy văn, lớp phủ và khí tượng.</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3956666828"/>
              </p:ext>
            </p:extLst>
          </p:nvPr>
        </p:nvGraphicFramePr>
        <p:xfrm>
          <a:off x="594360" y="1375840"/>
          <a:ext cx="11018520" cy="3722916"/>
        </p:xfrm>
        <a:graphic>
          <a:graphicData uri="http://schemas.openxmlformats.org/drawingml/2006/table">
            <a:tbl>
              <a:tblPr/>
              <a:tblGrid>
                <a:gridCol w="3672840">
                  <a:extLst>
                    <a:ext uri="{9D8B030D-6E8A-4147-A177-3AD203B41FA5}">
                      <a16:colId xmlns:a16="http://schemas.microsoft.com/office/drawing/2014/main" val="20000"/>
                    </a:ext>
                  </a:extLst>
                </a:gridCol>
                <a:gridCol w="3672840">
                  <a:extLst>
                    <a:ext uri="{9D8B030D-6E8A-4147-A177-3AD203B41FA5}">
                      <a16:colId xmlns:a16="http://schemas.microsoft.com/office/drawing/2014/main" val="20001"/>
                    </a:ext>
                  </a:extLst>
                </a:gridCol>
                <a:gridCol w="3672840">
                  <a:extLst>
                    <a:ext uri="{9D8B030D-6E8A-4147-A177-3AD203B41FA5}">
                      <a16:colId xmlns:a16="http://schemas.microsoft.com/office/drawing/2014/main" val="20002"/>
                    </a:ext>
                  </a:extLst>
                </a:gridCol>
              </a:tblGrid>
              <a:tr h="620486">
                <a:tc>
                  <a:txBody>
                    <a:bodyPr/>
                    <a:lstStyle/>
                    <a:p>
                      <a:pPr marL="0" indent="0">
                        <a:buNone/>
                      </a:pPr>
                      <a:r>
                        <a:rPr lang="en-US" sz="840" b="1" dirty="0">
                          <a:solidFill>
                            <a:srgbClr val="FFFFFF"/>
                          </a:solidFill>
                        </a:rPr>
                        <a:t>Nhóm</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40" b="1" dirty="0">
                          <a:solidFill>
                            <a:srgbClr val="FFFFFF"/>
                          </a:solidFill>
                        </a:rPr>
                        <a:t>Biến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40" b="1" dirty="0">
                          <a:solidFill>
                            <a:srgbClr val="FFFFFF"/>
                          </a:solidFill>
                        </a:rPr>
                        <a:t>Ý nghĩa / xử lý chính</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620486">
                <a:tc>
                  <a:txBody>
                    <a:bodyPr/>
                    <a:lstStyle/>
                    <a:p>
                      <a:pPr marL="0" indent="0">
                        <a:buNone/>
                      </a:pPr>
                      <a:r>
                        <a:rPr lang="en-US" sz="840" dirty="0">
                          <a:solidFill>
                            <a:srgbClr val="1F2D3D"/>
                          </a:solidFill>
                        </a:rPr>
                        <a:t>Địa hình</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dsm_bathy, slope, aspect, curvature, roughness, tpi, hillshade</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Từ AW3D30; tính bằng cửa sổ 3×3 hoặc vùng lân cận, chuẩn hóa 30 m</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0486">
                <a:tc>
                  <a:txBody>
                    <a:bodyPr/>
                    <a:lstStyle/>
                    <a:p>
                      <a:pPr marL="0" indent="0">
                        <a:buNone/>
                      </a:pPr>
                      <a:r>
                        <a:rPr lang="vi-VN" sz="840" dirty="0">
                          <a:solidFill>
                            <a:srgbClr val="1F2D3D"/>
                          </a:solidFill>
                        </a:rPr>
                        <a:t>Thủy văn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hand30_100, distance_r, </a:t>
                      </a:r>
                      <a:r>
                        <a:rPr lang="en-US" sz="840" dirty="0" err="1">
                          <a:solidFill>
                            <a:srgbClr val="1F2D3D"/>
                          </a:solidFill>
                        </a:rPr>
                        <a:t>density_ri</a:t>
                      </a:r>
                      <a:r>
                        <a:rPr lang="en-US" sz="840" dirty="0">
                          <a:solidFill>
                            <a:srgbClr val="1F2D3D"/>
                          </a:solidFill>
                        </a:rPr>
                        <a:t>, flow_accum_10m, spi_10m</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40" dirty="0">
                          <a:solidFill>
                            <a:srgbClr val="1F2D3D"/>
                          </a:solidFill>
                        </a:rPr>
                        <a:t>HAND từ MERIT-Hydro; distance Euclidean tới sông; density kernel r≈500 m, </a:t>
                      </a:r>
                      <a:r>
                        <a:rPr lang="en-US" sz="840" dirty="0" err="1">
                          <a:solidFill>
                            <a:srgbClr val="1F2D3D"/>
                          </a:solidFill>
                        </a:rPr>
                        <a:t>Dựa</a:t>
                      </a:r>
                      <a:r>
                        <a:rPr lang="en-US" sz="840" dirty="0">
                          <a:solidFill>
                            <a:srgbClr val="1F2D3D"/>
                          </a:solidFill>
                        </a:rPr>
                        <a:t> </a:t>
                      </a:r>
                      <a:r>
                        <a:rPr lang="en-US" sz="840" dirty="0" err="1">
                          <a:solidFill>
                            <a:srgbClr val="1F2D3D"/>
                          </a:solidFill>
                        </a:rPr>
                        <a:t>trên</a:t>
                      </a:r>
                      <a:r>
                        <a:rPr lang="en-US" sz="840" dirty="0">
                          <a:solidFill>
                            <a:srgbClr val="1F2D3D"/>
                          </a:solidFill>
                        </a:rPr>
                        <a:t> </a:t>
                      </a:r>
                      <a:r>
                        <a:rPr lang="en-US" sz="840" dirty="0" err="1">
                          <a:solidFill>
                            <a:srgbClr val="1F2D3D"/>
                          </a:solidFill>
                        </a:rPr>
                        <a:t>hướng</a:t>
                      </a:r>
                      <a:r>
                        <a:rPr lang="en-US" sz="840" dirty="0">
                          <a:solidFill>
                            <a:srgbClr val="1F2D3D"/>
                          </a:solidFill>
                        </a:rPr>
                        <a:t> </a:t>
                      </a:r>
                      <a:r>
                        <a:rPr lang="en-US" sz="840" dirty="0" err="1">
                          <a:solidFill>
                            <a:srgbClr val="1F2D3D"/>
                          </a:solidFill>
                        </a:rPr>
                        <a:t>dòng</a:t>
                      </a:r>
                      <a:r>
                        <a:rPr lang="en-US" sz="840" dirty="0">
                          <a:solidFill>
                            <a:srgbClr val="1F2D3D"/>
                          </a:solidFill>
                        </a:rPr>
                        <a:t> </a:t>
                      </a:r>
                      <a:r>
                        <a:rPr lang="en-US" sz="840" dirty="0" err="1">
                          <a:solidFill>
                            <a:srgbClr val="1F2D3D"/>
                          </a:solidFill>
                        </a:rPr>
                        <a:t>chảy</a:t>
                      </a:r>
                      <a:r>
                        <a:rPr lang="en-US" sz="840" dirty="0">
                          <a:solidFill>
                            <a:srgbClr val="1F2D3D"/>
                          </a:solidFill>
                        </a:rPr>
                        <a:t> D8; flow/SPI log-transform </a:t>
                      </a:r>
                      <a:r>
                        <a:rPr lang="en-US" sz="840" dirty="0" err="1">
                          <a:solidFill>
                            <a:srgbClr val="1F2D3D"/>
                          </a:solidFill>
                        </a:rPr>
                        <a:t>để</a:t>
                      </a:r>
                      <a:r>
                        <a:rPr lang="en-US" sz="840" dirty="0">
                          <a:solidFill>
                            <a:srgbClr val="1F2D3D"/>
                          </a:solidFill>
                        </a:rPr>
                        <a:t> </a:t>
                      </a:r>
                      <a:r>
                        <a:rPr lang="en-US" sz="840" dirty="0" err="1">
                          <a:solidFill>
                            <a:srgbClr val="1F2D3D"/>
                          </a:solidFill>
                        </a:rPr>
                        <a:t>giảm</a:t>
                      </a:r>
                      <a:r>
                        <a:rPr lang="en-US" sz="840" dirty="0">
                          <a:solidFill>
                            <a:srgbClr val="1F2D3D"/>
                          </a:solidFill>
                        </a:rPr>
                        <a:t> </a:t>
                      </a:r>
                      <a:r>
                        <a:rPr lang="en-US" sz="840" dirty="0" err="1">
                          <a:solidFill>
                            <a:srgbClr val="1F2D3D"/>
                          </a:solidFill>
                        </a:rPr>
                        <a:t>lệch</a:t>
                      </a:r>
                      <a:r>
                        <a:rPr lang="en-US" sz="840" dirty="0">
                          <a:solidFill>
                            <a:srgbClr val="1F2D3D"/>
                          </a:solidFill>
                        </a:rPr>
                        <a:t> </a:t>
                      </a:r>
                      <a:r>
                        <a:rPr lang="en-US" sz="840" dirty="0" err="1">
                          <a:solidFill>
                            <a:srgbClr val="1F2D3D"/>
                          </a:solidFill>
                        </a:rPr>
                        <a:t>phân</a:t>
                      </a:r>
                      <a:r>
                        <a:rPr lang="en-US" sz="840" dirty="0">
                          <a:solidFill>
                            <a:srgbClr val="1F2D3D"/>
                          </a:solidFill>
                        </a:rPr>
                        <a:t> </a:t>
                      </a:r>
                      <a:r>
                        <a:rPr lang="en-US" sz="840" dirty="0" err="1">
                          <a:solidFill>
                            <a:srgbClr val="1F2D3D"/>
                          </a:solidFill>
                        </a:rPr>
                        <a:t>phối</a:t>
                      </a:r>
                      <a:endParaRPr lang="en-US" sz="840" dirty="0"/>
                    </a:p>
                    <a:p>
                      <a:pPr marL="0" indent="0">
                        <a:buNone/>
                      </a:pP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0486">
                <a:tc>
                  <a:txBody>
                    <a:bodyPr/>
                    <a:lstStyle/>
                    <a:p>
                      <a:pPr marL="0" indent="0">
                        <a:buNone/>
                      </a:pPr>
                      <a:r>
                        <a:rPr lang="vi-VN" sz="840" dirty="0">
                          <a:solidFill>
                            <a:srgbClr val="1F2D3D"/>
                          </a:solidFill>
                        </a:rPr>
                        <a:t>Bề mặt nước</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gsw_occure</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JRC GSW Occurrence 0–100%, tái lấy mẫu 30 m</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0486">
                <a:tc>
                  <a:txBody>
                    <a:bodyPr/>
                    <a:lstStyle/>
                    <a:p>
                      <a:pPr marL="0" indent="0">
                        <a:buNone/>
                      </a:pPr>
                      <a:r>
                        <a:rPr lang="en-US" sz="840" dirty="0">
                          <a:solidFill>
                            <a:srgbClr val="1F2D3D"/>
                          </a:solidFill>
                        </a:rPr>
                        <a:t>Lớp phủ – nhám</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lulc, manning_n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ESA WorldCover 2021 10 m → 30 m; chuyển mã lớp phủ sang hệ số Manning 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0486">
                <a:tc>
                  <a:txBody>
                    <a:bodyPr/>
                    <a:lstStyle/>
                    <a:p>
                      <a:pPr marL="0" indent="0">
                        <a:buNone/>
                      </a:pPr>
                      <a:r>
                        <a:rPr lang="en-US" sz="840" dirty="0">
                          <a:solidFill>
                            <a:srgbClr val="1F2D3D"/>
                          </a:solidFill>
                        </a:rPr>
                        <a:t>Khí tượng</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precip_s_1</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Mưa tích lũy 01–06/11/1999 từ 5 trạm; nội suy IDW β=2</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822960" y="5623560"/>
            <a:ext cx="10561320" cy="475488"/>
          </a:xfrm>
          <a:prstGeom prst="roundRect">
            <a:avLst>
              <a:gd name="adj" fmla="val 15385"/>
            </a:avLst>
          </a:prstGeom>
          <a:solidFill>
            <a:srgbClr val="EAF6EF"/>
          </a:solidFill>
          <a:ln w="12700">
            <a:solidFill>
              <a:srgbClr val="D6DEE6"/>
            </a:solidFill>
            <a:prstDash val="solid"/>
          </a:ln>
        </p:spPr>
        <p:txBody>
          <a:bodyPr/>
          <a:lstStyle/>
          <a:p>
            <a:endParaRPr lang="vi-VN"/>
          </a:p>
        </p:txBody>
      </p:sp>
      <p:sp>
        <p:nvSpPr>
          <p:cNvPr id="7" name="Text 4"/>
          <p:cNvSpPr/>
          <p:nvPr/>
        </p:nvSpPr>
        <p:spPr>
          <a:xfrm>
            <a:off x="1005840" y="5751576"/>
            <a:ext cx="10149840" cy="173736"/>
          </a:xfrm>
          <a:prstGeom prst="rect">
            <a:avLst/>
          </a:prstGeom>
          <a:noFill/>
          <a:ln/>
        </p:spPr>
        <p:txBody>
          <a:bodyPr wrap="square" lIns="0" tIns="0" rIns="0" bIns="0" rtlCol="0" anchor="ctr">
            <a:normAutofit/>
          </a:bodyPr>
          <a:lstStyle/>
          <a:p>
            <a:pPr marL="0" indent="0">
              <a:buNone/>
            </a:pPr>
            <a:r>
              <a:rPr lang="en-US" sz="920" dirty="0">
                <a:solidFill>
                  <a:srgbClr val="1F2D3D"/>
                </a:solidFill>
              </a:rPr>
              <a:t>Các biến gốc không chỉ là “dữ liệu GIS” mà phản ánh trực tiếp các cơ chế sinh lũ: độ cao, tích nước, kết nối sông, lịch sử mặt nước, ma sát bề mặt và lượng mưa.</a:t>
            </a:r>
            <a:endParaRPr lang="en-US" sz="920" dirty="0"/>
          </a:p>
        </p:txBody>
      </p:sp>
      <p:sp>
        <p:nvSpPr>
          <p:cNvPr id="8" name="Shape 5"/>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9" name="Text 6"/>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0" name="Text 7"/>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10</a:t>
            </a:r>
            <a:endParaRPr lang="en-US" sz="850" dirty="0"/>
          </a:p>
        </p:txBody>
      </p:sp>
      <p:pic>
        <p:nvPicPr>
          <p:cNvPr id="12" name="Picture 11" descr="image1.png">
            <a:extLst>
              <a:ext uri="{FF2B5EF4-FFF2-40B4-BE49-F238E27FC236}">
                <a16:creationId xmlns:a16="http://schemas.microsoft.com/office/drawing/2014/main" id="{25AE6C94-FC0B-F86D-DEA2-A17A2A10C623}"/>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ALOS World 3D / AW3D30: nền tảng địa hình</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DEM là đặc trưng chi phối mạnh nhất trong cả Random Forest và XGBoost.</a:t>
            </a:r>
            <a:endParaRPr lang="en-US" sz="1050" dirty="0"/>
          </a:p>
        </p:txBody>
      </p:sp>
      <p:sp>
        <p:nvSpPr>
          <p:cNvPr id="5" name="Shape 3"/>
          <p:cNvSpPr/>
          <p:nvPr/>
        </p:nvSpPr>
        <p:spPr>
          <a:xfrm>
            <a:off x="594360" y="1051560"/>
            <a:ext cx="5943600" cy="4251960"/>
          </a:xfrm>
          <a:prstGeom prst="roundRect">
            <a:avLst>
              <a:gd name="adj" fmla="val 1720"/>
            </a:avLst>
          </a:prstGeom>
          <a:solidFill>
            <a:srgbClr val="FFFFFF"/>
          </a:solidFill>
          <a:ln w="12700">
            <a:solidFill>
              <a:srgbClr val="D6DEE6"/>
            </a:solidFill>
            <a:prstDash val="solid"/>
          </a:ln>
        </p:spPr>
        <p:txBody>
          <a:bodyPr/>
          <a:lstStyle/>
          <a:p>
            <a:endParaRPr lang="vi-VN"/>
          </a:p>
        </p:txBody>
      </p:sp>
      <p:pic>
        <p:nvPicPr>
          <p:cNvPr id="6" name="Image 0" descr="/mnt/data/deck_assets_new/p54_img1.png"/>
          <p:cNvPicPr>
            <a:picLocks noChangeAspect="1"/>
          </p:cNvPicPr>
          <p:nvPr/>
        </p:nvPicPr>
        <p:blipFill>
          <a:blip r:embed="rId3"/>
          <a:stretch>
            <a:fillRect/>
          </a:stretch>
        </p:blipFill>
        <p:spPr>
          <a:xfrm>
            <a:off x="594360" y="1077423"/>
            <a:ext cx="5943600" cy="4200234"/>
          </a:xfrm>
          <a:prstGeom prst="rect">
            <a:avLst/>
          </a:prstGeom>
        </p:spPr>
      </p:pic>
      <p:sp>
        <p:nvSpPr>
          <p:cNvPr id="7" name="Shape 4"/>
          <p:cNvSpPr/>
          <p:nvPr/>
        </p:nvSpPr>
        <p:spPr>
          <a:xfrm>
            <a:off x="6812280" y="1143000"/>
            <a:ext cx="4617720" cy="960120"/>
          </a:xfrm>
          <a:prstGeom prst="roundRect">
            <a:avLst>
              <a:gd name="adj" fmla="val 7619"/>
            </a:avLst>
          </a:prstGeom>
          <a:solidFill>
            <a:srgbClr val="EAF3F8"/>
          </a:solidFill>
          <a:ln w="12700">
            <a:solidFill>
              <a:srgbClr val="D6DEE6"/>
            </a:solidFill>
            <a:prstDash val="solid"/>
          </a:ln>
        </p:spPr>
        <p:txBody>
          <a:bodyPr/>
          <a:lstStyle/>
          <a:p>
            <a:endParaRPr lang="vi-VN"/>
          </a:p>
        </p:txBody>
      </p:sp>
      <p:sp>
        <p:nvSpPr>
          <p:cNvPr id="8" name="Text 5"/>
          <p:cNvSpPr/>
          <p:nvPr/>
        </p:nvSpPr>
        <p:spPr>
          <a:xfrm>
            <a:off x="7086600" y="1325880"/>
            <a:ext cx="4023360" cy="228600"/>
          </a:xfrm>
          <a:prstGeom prst="rect">
            <a:avLst/>
          </a:prstGeom>
          <a:noFill/>
          <a:ln/>
        </p:spPr>
        <p:txBody>
          <a:bodyPr wrap="square" lIns="0" tIns="0" rIns="0" bIns="0" rtlCol="0" anchor="ctr"/>
          <a:lstStyle/>
          <a:p>
            <a:pPr marL="0" indent="0">
              <a:buNone/>
            </a:pPr>
            <a:r>
              <a:rPr lang="en-US" sz="1500" b="1" dirty="0">
                <a:solidFill>
                  <a:srgbClr val="0B3C5D"/>
                </a:solidFill>
              </a:rPr>
              <a:t>Nguồn và chuẩn hóa</a:t>
            </a:r>
            <a:endParaRPr lang="en-US" sz="1500" dirty="0"/>
          </a:p>
        </p:txBody>
      </p:sp>
      <p:sp>
        <p:nvSpPr>
          <p:cNvPr id="9" name="Text 6"/>
          <p:cNvSpPr/>
          <p:nvPr/>
        </p:nvSpPr>
        <p:spPr>
          <a:xfrm>
            <a:off x="7086600" y="1618488"/>
            <a:ext cx="4023360" cy="329184"/>
          </a:xfrm>
          <a:prstGeom prst="rect">
            <a:avLst/>
          </a:prstGeom>
          <a:noFill/>
          <a:ln/>
        </p:spPr>
        <p:txBody>
          <a:bodyPr wrap="square" lIns="0" tIns="0" rIns="0" bIns="0" rtlCol="0" anchor="ctr">
            <a:normAutofit/>
          </a:bodyPr>
          <a:lstStyle/>
          <a:p>
            <a:pPr marL="0" indent="0">
              <a:buNone/>
            </a:pPr>
            <a:r>
              <a:rPr lang="en-US" sz="1030" dirty="0">
                <a:solidFill>
                  <a:srgbClr val="1F2D3D"/>
                </a:solidFill>
              </a:rPr>
              <a:t>AW3D30 từ JAXA, độ phân giải 30 m, thu từ ảnh stereo ALOS PRISM giai đoạn 2006–2011.</a:t>
            </a:r>
            <a:endParaRPr lang="en-US" sz="1030" dirty="0"/>
          </a:p>
        </p:txBody>
      </p:sp>
      <p:sp>
        <p:nvSpPr>
          <p:cNvPr id="10" name="Shape 7"/>
          <p:cNvSpPr/>
          <p:nvPr/>
        </p:nvSpPr>
        <p:spPr>
          <a:xfrm>
            <a:off x="6812280" y="2331720"/>
            <a:ext cx="4617720" cy="1216152"/>
          </a:xfrm>
          <a:prstGeom prst="roundRect">
            <a:avLst>
              <a:gd name="adj" fmla="val 6015"/>
            </a:avLst>
          </a:prstGeom>
          <a:solidFill>
            <a:srgbClr val="EAF6EF"/>
          </a:solidFill>
          <a:ln w="12700">
            <a:solidFill>
              <a:srgbClr val="D6DEE6"/>
            </a:solidFill>
            <a:prstDash val="solid"/>
          </a:ln>
        </p:spPr>
        <p:txBody>
          <a:bodyPr/>
          <a:lstStyle/>
          <a:p>
            <a:endParaRPr lang="vi-VN"/>
          </a:p>
        </p:txBody>
      </p:sp>
      <p:sp>
        <p:nvSpPr>
          <p:cNvPr id="11" name="Text 8"/>
          <p:cNvSpPr/>
          <p:nvPr/>
        </p:nvSpPr>
        <p:spPr>
          <a:xfrm>
            <a:off x="7086600" y="2514600"/>
            <a:ext cx="4023360" cy="228600"/>
          </a:xfrm>
          <a:prstGeom prst="rect">
            <a:avLst/>
          </a:prstGeom>
          <a:noFill/>
          <a:ln/>
        </p:spPr>
        <p:txBody>
          <a:bodyPr wrap="square" lIns="0" tIns="0" rIns="0" bIns="0" rtlCol="0" anchor="ctr"/>
          <a:lstStyle/>
          <a:p>
            <a:pPr marL="0" indent="0">
              <a:buNone/>
            </a:pPr>
            <a:r>
              <a:rPr lang="en-US" sz="1500" b="1" dirty="0">
                <a:solidFill>
                  <a:srgbClr val="1D7A48"/>
                </a:solidFill>
              </a:rPr>
              <a:t>Tiền xử lý</a:t>
            </a:r>
            <a:endParaRPr lang="en-US" sz="1500" dirty="0"/>
          </a:p>
        </p:txBody>
      </p:sp>
      <p:sp>
        <p:nvSpPr>
          <p:cNvPr id="12" name="Text 9"/>
          <p:cNvSpPr/>
          <p:nvPr/>
        </p:nvSpPr>
        <p:spPr>
          <a:xfrm>
            <a:off x="7178040" y="2816352"/>
            <a:ext cx="3657600" cy="594360"/>
          </a:xfrm>
          <a:prstGeom prst="rect">
            <a:avLst/>
          </a:prstGeom>
          <a:noFill/>
          <a:ln/>
        </p:spPr>
        <p:txBody>
          <a:bodyPr wrap="square" lIns="762" tIns="762" rIns="762" bIns="762" rtlCol="0" anchor="ctr">
            <a:normAutofit/>
          </a:bodyPr>
          <a:lstStyle/>
          <a:p>
            <a:r>
              <a:rPr lang="en-US" sz="950" dirty="0">
                <a:solidFill>
                  <a:srgbClr val="1F2D3D"/>
                </a:solidFill>
              </a:rPr>
              <a:t>Ghép tile → clip theo Huế.</a:t>
            </a:r>
            <a:endParaRPr lang="en-US" sz="950" dirty="0"/>
          </a:p>
          <a:p>
            <a:r>
              <a:rPr lang="en-US" sz="950" dirty="0">
                <a:solidFill>
                  <a:srgbClr val="1F2D3D"/>
                </a:solidFill>
              </a:rPr>
              <a:t>WGS84 → UTM 48N.</a:t>
            </a:r>
            <a:endParaRPr lang="en-US" sz="950" dirty="0"/>
          </a:p>
          <a:p>
            <a:r>
              <a:rPr lang="en-US" sz="950" dirty="0">
                <a:solidFill>
                  <a:srgbClr val="1F2D3D"/>
                </a:solidFill>
              </a:rPr>
              <a:t>Resampling bilinear 30 m.</a:t>
            </a:r>
            <a:endParaRPr lang="en-US" sz="950" dirty="0"/>
          </a:p>
          <a:p>
            <a:r>
              <a:rPr lang="en-US" sz="950" dirty="0">
                <a:solidFill>
                  <a:srgbClr val="1F2D3D"/>
                </a:solidFill>
              </a:rPr>
              <a:t>Kiểm tra NoData.</a:t>
            </a:r>
            <a:endParaRPr lang="en-US" sz="950" dirty="0"/>
          </a:p>
        </p:txBody>
      </p:sp>
      <p:sp>
        <p:nvSpPr>
          <p:cNvPr id="13" name="Shape 10"/>
          <p:cNvSpPr/>
          <p:nvPr/>
        </p:nvSpPr>
        <p:spPr>
          <a:xfrm>
            <a:off x="6812280" y="3749040"/>
            <a:ext cx="4617720" cy="1353312"/>
          </a:xfrm>
          <a:prstGeom prst="roundRect">
            <a:avLst>
              <a:gd name="adj" fmla="val 5405"/>
            </a:avLst>
          </a:prstGeom>
          <a:solidFill>
            <a:srgbClr val="FFF3E8"/>
          </a:solidFill>
          <a:ln w="12700">
            <a:solidFill>
              <a:srgbClr val="D6DEE6"/>
            </a:solidFill>
            <a:prstDash val="solid"/>
          </a:ln>
        </p:spPr>
        <p:txBody>
          <a:bodyPr/>
          <a:lstStyle/>
          <a:p>
            <a:endParaRPr lang="vi-VN"/>
          </a:p>
        </p:txBody>
      </p:sp>
      <p:sp>
        <p:nvSpPr>
          <p:cNvPr id="14" name="Text 11"/>
          <p:cNvSpPr/>
          <p:nvPr/>
        </p:nvSpPr>
        <p:spPr>
          <a:xfrm>
            <a:off x="7086600" y="3931920"/>
            <a:ext cx="4023360" cy="228600"/>
          </a:xfrm>
          <a:prstGeom prst="rect">
            <a:avLst/>
          </a:prstGeom>
          <a:noFill/>
          <a:ln/>
        </p:spPr>
        <p:txBody>
          <a:bodyPr wrap="square" lIns="0" tIns="0" rIns="0" bIns="0" rtlCol="0" anchor="ctr"/>
          <a:lstStyle/>
          <a:p>
            <a:pPr marL="0" indent="0">
              <a:buNone/>
            </a:pPr>
            <a:r>
              <a:rPr lang="en-US" sz="1500" b="1" dirty="0">
                <a:solidFill>
                  <a:srgbClr val="E87E22"/>
                </a:solidFill>
              </a:rPr>
              <a:t>Vai trò trong mô hình</a:t>
            </a:r>
            <a:endParaRPr lang="en-US" sz="1500" dirty="0"/>
          </a:p>
        </p:txBody>
      </p:sp>
      <p:sp>
        <p:nvSpPr>
          <p:cNvPr id="15" name="Text 12"/>
          <p:cNvSpPr/>
          <p:nvPr/>
        </p:nvSpPr>
        <p:spPr>
          <a:xfrm>
            <a:off x="7086600" y="4251960"/>
            <a:ext cx="3931920" cy="502920"/>
          </a:xfrm>
          <a:prstGeom prst="rect">
            <a:avLst/>
          </a:prstGeom>
          <a:noFill/>
          <a:ln/>
        </p:spPr>
        <p:txBody>
          <a:bodyPr wrap="square" lIns="0" tIns="0" rIns="0" bIns="0" rtlCol="0" anchor="ctr">
            <a:normAutofit/>
          </a:bodyPr>
          <a:lstStyle/>
          <a:p>
            <a:pPr marL="0" indent="0">
              <a:buNone/>
            </a:pPr>
            <a:r>
              <a:rPr lang="en-US" sz="1010" dirty="0">
                <a:solidFill>
                  <a:srgbClr val="1F2D3D"/>
                </a:solidFill>
              </a:rPr>
              <a:t>dsm_bathy là biến trực tiếp nhất: vùng thấp có xác suất và độ sâu ngập cao hơn; các biến tương tác với DEM xuất hiện trong top feature importance.</a:t>
            </a:r>
            <a:endParaRPr lang="en-US" sz="1010" dirty="0"/>
          </a:p>
        </p:txBody>
      </p:sp>
      <p:sp>
        <p:nvSpPr>
          <p:cNvPr id="16" name="Text 13"/>
          <p:cNvSpPr/>
          <p:nvPr/>
        </p:nvSpPr>
        <p:spPr>
          <a:xfrm>
            <a:off x="594360" y="5394960"/>
            <a:ext cx="5943600" cy="201168"/>
          </a:xfrm>
          <a:prstGeom prst="rect">
            <a:avLst/>
          </a:prstGeom>
          <a:noFill/>
          <a:ln/>
        </p:spPr>
        <p:txBody>
          <a:bodyPr wrap="square" lIns="0" tIns="0" rIns="0" bIns="0" rtlCol="0" anchor="ctr"/>
          <a:lstStyle/>
          <a:p>
            <a:pPr marL="0" indent="0" algn="ctr">
              <a:buNone/>
            </a:pPr>
            <a:r>
              <a:rPr lang="en-US" sz="750" i="1" dirty="0">
                <a:solidFill>
                  <a:srgbClr val="5D6D7E"/>
                </a:solidFill>
              </a:rPr>
              <a:t>DEM AW3D30 của thành phố Huế</a:t>
            </a:r>
            <a:endParaRPr lang="en-US" sz="750" dirty="0"/>
          </a:p>
        </p:txBody>
      </p:sp>
      <p:sp>
        <p:nvSpPr>
          <p:cNvPr id="17" name="Shape 14"/>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8" name="Text 15"/>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9" name="Text 16"/>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11</a:t>
            </a:r>
            <a:endParaRPr lang="en-US" sz="850" dirty="0"/>
          </a:p>
        </p:txBody>
      </p:sp>
      <p:pic>
        <p:nvPicPr>
          <p:cNvPr id="21" name="Picture 20" descr="image1.png">
            <a:extLst>
              <a:ext uri="{FF2B5EF4-FFF2-40B4-BE49-F238E27FC236}">
                <a16:creationId xmlns:a16="http://schemas.microsoft.com/office/drawing/2014/main" id="{300370AD-78C4-6220-E511-D277DAA98044}"/>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Các đặc trưng địa hình dẫn xuất từ DEM</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Tính bằng phân tích cửa sổ trượt và vùng lân cận để mô tả hình thái bề mặt.</a:t>
            </a:r>
            <a:endParaRPr lang="en-US" sz="1050" dirty="0"/>
          </a:p>
        </p:txBody>
      </p:sp>
      <p:sp>
        <p:nvSpPr>
          <p:cNvPr id="5" name="Shape 3"/>
          <p:cNvSpPr/>
          <p:nvPr/>
        </p:nvSpPr>
        <p:spPr>
          <a:xfrm>
            <a:off x="594360" y="1115568"/>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6" name="Image 0" descr="/mnt/data/deck_assets_new/p57_img1.png"/>
          <p:cNvPicPr>
            <a:picLocks noChangeAspect="1"/>
          </p:cNvPicPr>
          <p:nvPr/>
        </p:nvPicPr>
        <p:blipFill>
          <a:blip r:embed="rId3"/>
          <a:stretch>
            <a:fillRect/>
          </a:stretch>
        </p:blipFill>
        <p:spPr>
          <a:xfrm>
            <a:off x="1006556" y="1115568"/>
            <a:ext cx="2650328" cy="1874520"/>
          </a:xfrm>
          <a:prstGeom prst="rect">
            <a:avLst/>
          </a:prstGeom>
        </p:spPr>
      </p:pic>
      <p:sp>
        <p:nvSpPr>
          <p:cNvPr id="7" name="Shape 4"/>
          <p:cNvSpPr/>
          <p:nvPr/>
        </p:nvSpPr>
        <p:spPr>
          <a:xfrm>
            <a:off x="4343400" y="1115568"/>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8" name="Image 1" descr="/mnt/data/deck_assets_new/p57_img2.png"/>
          <p:cNvPicPr>
            <a:picLocks noChangeAspect="1"/>
          </p:cNvPicPr>
          <p:nvPr/>
        </p:nvPicPr>
        <p:blipFill>
          <a:blip r:embed="rId4"/>
          <a:stretch>
            <a:fillRect/>
          </a:stretch>
        </p:blipFill>
        <p:spPr>
          <a:xfrm>
            <a:off x="4753499" y="1115568"/>
            <a:ext cx="2654522" cy="1874520"/>
          </a:xfrm>
          <a:prstGeom prst="rect">
            <a:avLst/>
          </a:prstGeom>
        </p:spPr>
      </p:pic>
      <p:sp>
        <p:nvSpPr>
          <p:cNvPr id="9" name="Shape 5"/>
          <p:cNvSpPr/>
          <p:nvPr/>
        </p:nvSpPr>
        <p:spPr>
          <a:xfrm>
            <a:off x="8092440" y="1115568"/>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10" name="Image 2" descr="/mnt/data/deck_assets_new/p57_img5.png"/>
          <p:cNvPicPr>
            <a:picLocks noChangeAspect="1"/>
          </p:cNvPicPr>
          <p:nvPr/>
        </p:nvPicPr>
        <p:blipFill>
          <a:blip r:embed="rId5"/>
          <a:stretch>
            <a:fillRect/>
          </a:stretch>
        </p:blipFill>
        <p:spPr>
          <a:xfrm>
            <a:off x="8504636" y="1115568"/>
            <a:ext cx="2650328" cy="1874520"/>
          </a:xfrm>
          <a:prstGeom prst="rect">
            <a:avLst/>
          </a:prstGeom>
        </p:spPr>
      </p:pic>
      <p:sp>
        <p:nvSpPr>
          <p:cNvPr id="11" name="Shape 6"/>
          <p:cNvSpPr/>
          <p:nvPr/>
        </p:nvSpPr>
        <p:spPr>
          <a:xfrm>
            <a:off x="594360" y="3364992"/>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12" name="Image 3" descr="/mnt/data/deck_assets_new/p57_img3.png"/>
          <p:cNvPicPr>
            <a:picLocks noChangeAspect="1"/>
          </p:cNvPicPr>
          <p:nvPr/>
        </p:nvPicPr>
        <p:blipFill>
          <a:blip r:embed="rId6"/>
          <a:stretch>
            <a:fillRect/>
          </a:stretch>
        </p:blipFill>
        <p:spPr>
          <a:xfrm>
            <a:off x="1004976" y="3364992"/>
            <a:ext cx="2653487" cy="1874520"/>
          </a:xfrm>
          <a:prstGeom prst="rect">
            <a:avLst/>
          </a:prstGeom>
        </p:spPr>
      </p:pic>
      <p:sp>
        <p:nvSpPr>
          <p:cNvPr id="13" name="Shape 7"/>
          <p:cNvSpPr/>
          <p:nvPr/>
        </p:nvSpPr>
        <p:spPr>
          <a:xfrm>
            <a:off x="4343400" y="3364992"/>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14" name="Image 4" descr="/mnt/data/deck_assets_new/p57_img4.png"/>
          <p:cNvPicPr>
            <a:picLocks noChangeAspect="1"/>
          </p:cNvPicPr>
          <p:nvPr/>
        </p:nvPicPr>
        <p:blipFill>
          <a:blip r:embed="rId7"/>
          <a:stretch>
            <a:fillRect/>
          </a:stretch>
        </p:blipFill>
        <p:spPr>
          <a:xfrm>
            <a:off x="4755449" y="3364992"/>
            <a:ext cx="2650622" cy="1874520"/>
          </a:xfrm>
          <a:prstGeom prst="rect">
            <a:avLst/>
          </a:prstGeom>
        </p:spPr>
      </p:pic>
      <p:sp>
        <p:nvSpPr>
          <p:cNvPr id="15" name="Shape 8"/>
          <p:cNvSpPr/>
          <p:nvPr/>
        </p:nvSpPr>
        <p:spPr>
          <a:xfrm>
            <a:off x="8092440" y="3364992"/>
            <a:ext cx="347472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16" name="Image 5" descr="/mnt/data/deck_assets_new/p57_img6.png"/>
          <p:cNvPicPr>
            <a:picLocks noChangeAspect="1"/>
          </p:cNvPicPr>
          <p:nvPr/>
        </p:nvPicPr>
        <p:blipFill>
          <a:blip r:embed="rId8"/>
          <a:stretch>
            <a:fillRect/>
          </a:stretch>
        </p:blipFill>
        <p:spPr>
          <a:xfrm>
            <a:off x="8504070" y="3364992"/>
            <a:ext cx="2651459" cy="1874520"/>
          </a:xfrm>
          <a:prstGeom prst="rect">
            <a:avLst/>
          </a:prstGeom>
        </p:spPr>
      </p:pic>
      <p:sp>
        <p:nvSpPr>
          <p:cNvPr id="17" name="Text 9"/>
          <p:cNvSpPr/>
          <p:nvPr/>
        </p:nvSpPr>
        <p:spPr>
          <a:xfrm>
            <a:off x="594360" y="3035808"/>
            <a:ext cx="3474720" cy="182880"/>
          </a:xfrm>
          <a:prstGeom prst="rect">
            <a:avLst/>
          </a:prstGeom>
          <a:noFill/>
          <a:ln/>
        </p:spPr>
        <p:txBody>
          <a:bodyPr wrap="square" lIns="0" tIns="0" rIns="0" bIns="0" rtlCol="0" anchor="ctr"/>
          <a:lstStyle/>
          <a:p>
            <a:pPr marL="0" indent="0" algn="ctr">
              <a:buNone/>
            </a:pPr>
            <a:r>
              <a:rPr lang="en-US" sz="850" dirty="0">
                <a:solidFill>
                  <a:srgbClr val="5D6D7E"/>
                </a:solidFill>
              </a:rPr>
              <a:t>Slope: </a:t>
            </a:r>
            <a:r>
              <a:rPr lang="vi-VN" sz="850" dirty="0">
                <a:solidFill>
                  <a:srgbClr val="5D6D7E"/>
                </a:solidFill>
              </a:rPr>
              <a:t>Độ dốc</a:t>
            </a:r>
            <a:endParaRPr lang="en-US" sz="850" dirty="0"/>
          </a:p>
        </p:txBody>
      </p:sp>
      <p:sp>
        <p:nvSpPr>
          <p:cNvPr id="18" name="Text 10"/>
          <p:cNvSpPr/>
          <p:nvPr/>
        </p:nvSpPr>
        <p:spPr>
          <a:xfrm>
            <a:off x="4343400" y="3035808"/>
            <a:ext cx="3474720" cy="182880"/>
          </a:xfrm>
          <a:prstGeom prst="rect">
            <a:avLst/>
          </a:prstGeom>
          <a:noFill/>
          <a:ln/>
        </p:spPr>
        <p:txBody>
          <a:bodyPr wrap="square" lIns="0" tIns="0" rIns="0" bIns="0" rtlCol="0" anchor="ctr"/>
          <a:lstStyle/>
          <a:p>
            <a:pPr marL="0" indent="0" algn="ctr">
              <a:buNone/>
            </a:pPr>
            <a:r>
              <a:rPr lang="en-US" sz="850" dirty="0">
                <a:solidFill>
                  <a:srgbClr val="5D6D7E"/>
                </a:solidFill>
              </a:rPr>
              <a:t>Aspect: </a:t>
            </a:r>
            <a:r>
              <a:rPr lang="en-US" sz="850" dirty="0" err="1">
                <a:solidFill>
                  <a:srgbClr val="5D6D7E"/>
                </a:solidFill>
              </a:rPr>
              <a:t>Hướng</a:t>
            </a:r>
            <a:r>
              <a:rPr lang="en-US" sz="850" dirty="0">
                <a:solidFill>
                  <a:srgbClr val="5D6D7E"/>
                </a:solidFill>
              </a:rPr>
              <a:t> </a:t>
            </a:r>
            <a:r>
              <a:rPr lang="vi-VN" sz="850" dirty="0">
                <a:solidFill>
                  <a:srgbClr val="5D6D7E"/>
                </a:solidFill>
              </a:rPr>
              <a:t>dốc</a:t>
            </a:r>
            <a:endParaRPr lang="en-US" sz="850" dirty="0"/>
          </a:p>
        </p:txBody>
      </p:sp>
      <p:sp>
        <p:nvSpPr>
          <p:cNvPr id="19" name="Text 11"/>
          <p:cNvSpPr/>
          <p:nvPr/>
        </p:nvSpPr>
        <p:spPr>
          <a:xfrm>
            <a:off x="8092440" y="3035808"/>
            <a:ext cx="3474720" cy="182880"/>
          </a:xfrm>
          <a:prstGeom prst="rect">
            <a:avLst/>
          </a:prstGeom>
          <a:noFill/>
          <a:ln/>
        </p:spPr>
        <p:txBody>
          <a:bodyPr wrap="square" lIns="0" tIns="0" rIns="0" bIns="0" rtlCol="0" anchor="ctr"/>
          <a:lstStyle/>
          <a:p>
            <a:pPr marL="0" indent="0" algn="ctr">
              <a:buNone/>
            </a:pPr>
            <a:r>
              <a:rPr lang="vi-VN" sz="850" dirty="0" err="1">
                <a:solidFill>
                  <a:srgbClr val="5D6D7E"/>
                </a:solidFill>
              </a:rPr>
              <a:t>Hillshade</a:t>
            </a:r>
            <a:r>
              <a:rPr lang="vi-VN" sz="850" dirty="0">
                <a:solidFill>
                  <a:srgbClr val="5D6D7E"/>
                </a:solidFill>
              </a:rPr>
              <a:t>: Độ bóng sườn</a:t>
            </a:r>
            <a:endParaRPr lang="en-US" sz="850" dirty="0"/>
          </a:p>
        </p:txBody>
      </p:sp>
      <p:sp>
        <p:nvSpPr>
          <p:cNvPr id="20" name="Text 12"/>
          <p:cNvSpPr/>
          <p:nvPr/>
        </p:nvSpPr>
        <p:spPr>
          <a:xfrm>
            <a:off x="594360" y="5285232"/>
            <a:ext cx="3474720" cy="182880"/>
          </a:xfrm>
          <a:prstGeom prst="rect">
            <a:avLst/>
          </a:prstGeom>
          <a:noFill/>
          <a:ln/>
        </p:spPr>
        <p:txBody>
          <a:bodyPr wrap="square" lIns="0" tIns="0" rIns="0" bIns="0" rtlCol="0" anchor="ctr"/>
          <a:lstStyle/>
          <a:p>
            <a:pPr marL="0" indent="0" algn="ctr">
              <a:buNone/>
            </a:pPr>
            <a:r>
              <a:rPr lang="en-US" sz="850" dirty="0">
                <a:solidFill>
                  <a:srgbClr val="5D6D7E"/>
                </a:solidFill>
              </a:rPr>
              <a:t>TWI: </a:t>
            </a:r>
            <a:r>
              <a:rPr lang="vi-VN" sz="850" dirty="0">
                <a:solidFill>
                  <a:srgbClr val="5D6D7E"/>
                </a:solidFill>
              </a:rPr>
              <a:t>Chỉ số độ ẩm địa hình</a:t>
            </a:r>
            <a:endParaRPr lang="en-US" sz="850" dirty="0"/>
          </a:p>
        </p:txBody>
      </p:sp>
      <p:sp>
        <p:nvSpPr>
          <p:cNvPr id="21" name="Text 13"/>
          <p:cNvSpPr/>
          <p:nvPr/>
        </p:nvSpPr>
        <p:spPr>
          <a:xfrm>
            <a:off x="4343400" y="5285232"/>
            <a:ext cx="3474720" cy="182880"/>
          </a:xfrm>
          <a:prstGeom prst="rect">
            <a:avLst/>
          </a:prstGeom>
          <a:noFill/>
          <a:ln/>
        </p:spPr>
        <p:txBody>
          <a:bodyPr wrap="square" lIns="0" tIns="0" rIns="0" bIns="0" rtlCol="0" anchor="ctr"/>
          <a:lstStyle/>
          <a:p>
            <a:pPr algn="ctr"/>
            <a:r>
              <a:rPr lang="en-US" sz="850" dirty="0">
                <a:solidFill>
                  <a:srgbClr val="5D6D7E"/>
                </a:solidFill>
              </a:rPr>
              <a:t>Curvature: </a:t>
            </a:r>
            <a:r>
              <a:rPr lang="vi-VN" sz="850" dirty="0">
                <a:solidFill>
                  <a:srgbClr val="5D6D7E"/>
                </a:solidFill>
              </a:rPr>
              <a:t>Độ cong</a:t>
            </a:r>
            <a:endParaRPr lang="en-US" sz="850" dirty="0"/>
          </a:p>
        </p:txBody>
      </p:sp>
      <p:sp>
        <p:nvSpPr>
          <p:cNvPr id="22" name="Text 14"/>
          <p:cNvSpPr/>
          <p:nvPr/>
        </p:nvSpPr>
        <p:spPr>
          <a:xfrm>
            <a:off x="8092440" y="5285232"/>
            <a:ext cx="3474720" cy="182880"/>
          </a:xfrm>
          <a:prstGeom prst="rect">
            <a:avLst/>
          </a:prstGeom>
          <a:noFill/>
          <a:ln/>
        </p:spPr>
        <p:txBody>
          <a:bodyPr wrap="square" lIns="0" tIns="0" rIns="0" bIns="0" rtlCol="0" anchor="ctr"/>
          <a:lstStyle/>
          <a:p>
            <a:pPr marL="0" indent="0" algn="ctr">
              <a:buNone/>
            </a:pPr>
            <a:r>
              <a:rPr lang="en-US" sz="850" dirty="0">
                <a:solidFill>
                  <a:srgbClr val="5D6D7E"/>
                </a:solidFill>
              </a:rPr>
              <a:t>Roughness: độ gồ ghề</a:t>
            </a:r>
            <a:endParaRPr lang="en-US" sz="850" dirty="0"/>
          </a:p>
        </p:txBody>
      </p:sp>
      <p:sp>
        <p:nvSpPr>
          <p:cNvPr id="23" name="Shape 15"/>
          <p:cNvSpPr/>
          <p:nvPr/>
        </p:nvSpPr>
        <p:spPr>
          <a:xfrm>
            <a:off x="594360" y="5650992"/>
            <a:ext cx="10972800" cy="411480"/>
          </a:xfrm>
          <a:prstGeom prst="roundRect">
            <a:avLst>
              <a:gd name="adj" fmla="val 17778"/>
            </a:avLst>
          </a:prstGeom>
          <a:solidFill>
            <a:srgbClr val="F4F8FB"/>
          </a:solidFill>
          <a:ln w="12700">
            <a:solidFill>
              <a:srgbClr val="D6DEE6"/>
            </a:solidFill>
            <a:prstDash val="solid"/>
          </a:ln>
        </p:spPr>
        <p:txBody>
          <a:bodyPr/>
          <a:lstStyle/>
          <a:p>
            <a:endParaRPr lang="vi-VN"/>
          </a:p>
        </p:txBody>
      </p:sp>
      <p:sp>
        <p:nvSpPr>
          <p:cNvPr id="24" name="Text 16"/>
          <p:cNvSpPr/>
          <p:nvPr/>
        </p:nvSpPr>
        <p:spPr>
          <a:xfrm>
            <a:off x="822960" y="5779008"/>
            <a:ext cx="10561320" cy="146304"/>
          </a:xfrm>
          <a:prstGeom prst="rect">
            <a:avLst/>
          </a:prstGeom>
          <a:noFill/>
          <a:ln/>
        </p:spPr>
        <p:txBody>
          <a:bodyPr wrap="square" lIns="0" tIns="0" rIns="0" bIns="0" rtlCol="0" anchor="ctr">
            <a:normAutofit/>
          </a:bodyPr>
          <a:lstStyle/>
          <a:p>
            <a:pPr marL="0" indent="0">
              <a:buNone/>
            </a:pPr>
            <a:r>
              <a:rPr lang="en-US" sz="860" dirty="0">
                <a:solidFill>
                  <a:srgbClr val="1F2D3D"/>
                </a:solidFill>
              </a:rPr>
              <a:t>Các biến này giúp mô hình phân biệt vùng đồng bằng phẳng dễ tích </a:t>
            </a:r>
            <a:r>
              <a:rPr lang="en-US" sz="860" dirty="0" err="1">
                <a:solidFill>
                  <a:srgbClr val="1F2D3D"/>
                </a:solidFill>
              </a:rPr>
              <a:t>nước</a:t>
            </a:r>
            <a:r>
              <a:rPr lang="en-US" sz="860" dirty="0">
                <a:solidFill>
                  <a:srgbClr val="1F2D3D"/>
                </a:solidFill>
              </a:rPr>
              <a:t>, </a:t>
            </a:r>
            <a:r>
              <a:rPr lang="en-US" sz="860" dirty="0" err="1">
                <a:solidFill>
                  <a:srgbClr val="1F2D3D"/>
                </a:solidFill>
              </a:rPr>
              <a:t>bề</a:t>
            </a:r>
            <a:r>
              <a:rPr lang="en-US" sz="860" dirty="0">
                <a:solidFill>
                  <a:srgbClr val="1F2D3D"/>
                </a:solidFill>
              </a:rPr>
              <a:t> </a:t>
            </a:r>
            <a:r>
              <a:rPr lang="en-US" sz="860" dirty="0" err="1">
                <a:solidFill>
                  <a:srgbClr val="1F2D3D"/>
                </a:solidFill>
              </a:rPr>
              <a:t>mặt</a:t>
            </a:r>
            <a:r>
              <a:rPr lang="en-US" sz="860" dirty="0">
                <a:solidFill>
                  <a:srgbClr val="1F2D3D"/>
                </a:solidFill>
              </a:rPr>
              <a:t> </a:t>
            </a:r>
            <a:r>
              <a:rPr lang="en-US" sz="860" dirty="0" err="1">
                <a:solidFill>
                  <a:srgbClr val="1F2D3D"/>
                </a:solidFill>
              </a:rPr>
              <a:t>lõm</a:t>
            </a:r>
            <a:r>
              <a:rPr lang="en-US" sz="860" dirty="0">
                <a:solidFill>
                  <a:srgbClr val="1F2D3D"/>
                </a:solidFill>
              </a:rPr>
              <a:t> </a:t>
            </a:r>
            <a:r>
              <a:rPr lang="en-US" sz="860" dirty="0" err="1">
                <a:solidFill>
                  <a:srgbClr val="1F2D3D"/>
                </a:solidFill>
              </a:rPr>
              <a:t>có</a:t>
            </a:r>
            <a:r>
              <a:rPr lang="en-US" sz="860" dirty="0">
                <a:solidFill>
                  <a:srgbClr val="1F2D3D"/>
                </a:solidFill>
              </a:rPr>
              <a:t> curvature </a:t>
            </a:r>
            <a:r>
              <a:rPr lang="en-US" sz="860" dirty="0" err="1">
                <a:solidFill>
                  <a:srgbClr val="1F2D3D"/>
                </a:solidFill>
              </a:rPr>
              <a:t>âm</a:t>
            </a:r>
            <a:r>
              <a:rPr lang="en-US" sz="860" dirty="0">
                <a:solidFill>
                  <a:srgbClr val="1F2D3D"/>
                </a:solidFill>
              </a:rPr>
              <a:t> </a:t>
            </a:r>
            <a:r>
              <a:rPr lang="en-US" sz="860" dirty="0" err="1">
                <a:solidFill>
                  <a:srgbClr val="1F2D3D"/>
                </a:solidFill>
              </a:rPr>
              <a:t>và</a:t>
            </a:r>
            <a:r>
              <a:rPr lang="en-US" sz="860" dirty="0">
                <a:solidFill>
                  <a:srgbClr val="1F2D3D"/>
                </a:solidFill>
              </a:rPr>
              <a:t> </a:t>
            </a:r>
            <a:r>
              <a:rPr lang="en-US" sz="860" dirty="0" err="1">
                <a:solidFill>
                  <a:srgbClr val="1F2D3D"/>
                </a:solidFill>
              </a:rPr>
              <a:t>vùng</a:t>
            </a:r>
            <a:r>
              <a:rPr lang="en-US" sz="860" dirty="0">
                <a:solidFill>
                  <a:srgbClr val="1F2D3D"/>
                </a:solidFill>
              </a:rPr>
              <a:t> núi dốc thoát nước nhanh.</a:t>
            </a:r>
            <a:endParaRPr lang="en-US" sz="860" dirty="0"/>
          </a:p>
        </p:txBody>
      </p:sp>
      <p:sp>
        <p:nvSpPr>
          <p:cNvPr id="25" name="Shape 1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6" name="Text 1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7" name="Text 1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12</a:t>
            </a:r>
            <a:endParaRPr lang="en-US" sz="850" dirty="0"/>
          </a:p>
        </p:txBody>
      </p:sp>
      <p:pic>
        <p:nvPicPr>
          <p:cNvPr id="29" name="Picture 28" descr="image1.png">
            <a:extLst>
              <a:ext uri="{FF2B5EF4-FFF2-40B4-BE49-F238E27FC236}">
                <a16:creationId xmlns:a16="http://schemas.microsoft.com/office/drawing/2014/main" id="{EC5C1D04-39A2-2960-739E-15574BEAA7D4}"/>
              </a:ext>
            </a:extLst>
          </p:cNvPr>
          <p:cNvPicPr>
            <a:picLocks noChangeAspect="1"/>
          </p:cNvPicPr>
          <p:nvPr/>
        </p:nvPicPr>
        <p:blipFill>
          <a:blip r:embed="rId9"/>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2ACAE-2723-2ECD-A00E-3FD77E46CD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97DF2E-05E3-3D6B-AD71-EA1110EB203F}"/>
              </a:ext>
            </a:extLst>
          </p:cNvPr>
          <p:cNvSpPr/>
          <p:nvPr/>
        </p:nvSpPr>
        <p:spPr>
          <a:xfrm>
            <a:off x="548640" y="292608"/>
            <a:ext cx="10972800" cy="411480"/>
          </a:xfrm>
          <a:prstGeom prst="rect">
            <a:avLst/>
          </a:prstGeom>
          <a:noFill/>
          <a:ln/>
        </p:spPr>
        <p:txBody>
          <a:bodyPr wrap="square" lIns="0" tIns="0" rIns="0" bIns="0" rtlCol="0" anchor="ctr"/>
          <a:lstStyle/>
          <a:p>
            <a:r>
              <a:rPr lang="en-US" sz="2400" b="1" dirty="0">
                <a:solidFill>
                  <a:srgbClr val="0B3C5D"/>
                </a:solidFill>
              </a:rPr>
              <a:t>Height Above Nearest Drainage </a:t>
            </a:r>
            <a:endParaRPr lang="en-US" sz="2400" dirty="0"/>
          </a:p>
        </p:txBody>
      </p:sp>
      <p:sp>
        <p:nvSpPr>
          <p:cNvPr id="3" name="Shape 1">
            <a:extLst>
              <a:ext uri="{FF2B5EF4-FFF2-40B4-BE49-F238E27FC236}">
                <a16:creationId xmlns:a16="http://schemas.microsoft.com/office/drawing/2014/main" id="{E0235C84-4DE3-E25C-504B-91E19209CDDB}"/>
              </a:ext>
            </a:extLst>
          </p:cNvPr>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a:extLst>
              <a:ext uri="{FF2B5EF4-FFF2-40B4-BE49-F238E27FC236}">
                <a16:creationId xmlns:a16="http://schemas.microsoft.com/office/drawing/2014/main" id="{BC45A581-2A1F-9BC0-4362-8FACBF6D6817}"/>
              </a:ext>
            </a:extLst>
          </p:cNvPr>
          <p:cNvSpPr/>
          <p:nvPr/>
        </p:nvSpPr>
        <p:spPr>
          <a:xfrm>
            <a:off x="548640" y="868680"/>
            <a:ext cx="11064240" cy="228600"/>
          </a:xfrm>
          <a:prstGeom prst="rect">
            <a:avLst/>
          </a:prstGeom>
          <a:noFill/>
          <a:ln/>
        </p:spPr>
        <p:txBody>
          <a:bodyPr wrap="square" lIns="0" tIns="0" rIns="0" bIns="0" rtlCol="0" anchor="ctr"/>
          <a:lstStyle/>
          <a:p>
            <a:pPr marL="0" indent="0">
              <a:buNone/>
            </a:pPr>
            <a:r>
              <a:rPr lang="vi-VN" sz="1050" dirty="0">
                <a:solidFill>
                  <a:srgbClr val="5D6D7E"/>
                </a:solidFill>
              </a:rPr>
              <a:t>Biến HAND_30_100 biểu diễn độ cao tương đối của từng điểm ảnh so với dòng chảy gần nhất, giúp xác định mức độ dễ bị ngập theo vị trí địa hình – thủy văn.</a:t>
            </a:r>
            <a:endParaRPr lang="en-US" sz="1050" dirty="0"/>
          </a:p>
        </p:txBody>
      </p:sp>
      <p:sp>
        <p:nvSpPr>
          <p:cNvPr id="5" name="Shape 3">
            <a:extLst>
              <a:ext uri="{FF2B5EF4-FFF2-40B4-BE49-F238E27FC236}">
                <a16:creationId xmlns:a16="http://schemas.microsoft.com/office/drawing/2014/main" id="{E1C5EF3B-1EE1-B997-2B39-C7B20B6C6F44}"/>
              </a:ext>
            </a:extLst>
          </p:cNvPr>
          <p:cNvSpPr/>
          <p:nvPr/>
        </p:nvSpPr>
        <p:spPr>
          <a:xfrm>
            <a:off x="594360" y="1143000"/>
            <a:ext cx="5577840" cy="4023360"/>
          </a:xfrm>
          <a:prstGeom prst="roundRect">
            <a:avLst>
              <a:gd name="adj" fmla="val 1818"/>
            </a:avLst>
          </a:prstGeom>
          <a:solidFill>
            <a:srgbClr val="FFFFFF"/>
          </a:solidFill>
          <a:ln w="12700">
            <a:solidFill>
              <a:srgbClr val="D6DEE6"/>
            </a:solidFill>
            <a:prstDash val="solid"/>
          </a:ln>
        </p:spPr>
        <p:txBody>
          <a:bodyPr/>
          <a:lstStyle/>
          <a:p>
            <a:endParaRPr lang="vi-VN"/>
          </a:p>
        </p:txBody>
      </p:sp>
      <p:sp>
        <p:nvSpPr>
          <p:cNvPr id="7" name="Shape 4">
            <a:extLst>
              <a:ext uri="{FF2B5EF4-FFF2-40B4-BE49-F238E27FC236}">
                <a16:creationId xmlns:a16="http://schemas.microsoft.com/office/drawing/2014/main" id="{ED8C4FD0-8B3E-F24F-E86B-C89FC4304139}"/>
              </a:ext>
            </a:extLst>
          </p:cNvPr>
          <p:cNvSpPr/>
          <p:nvPr/>
        </p:nvSpPr>
        <p:spPr>
          <a:xfrm>
            <a:off x="6446520" y="1234440"/>
            <a:ext cx="4983480" cy="3931920"/>
          </a:xfrm>
          <a:prstGeom prst="roundRect">
            <a:avLst>
              <a:gd name="adj" fmla="val 1951"/>
            </a:avLst>
          </a:prstGeom>
          <a:solidFill>
            <a:srgbClr val="EAF3F8"/>
          </a:solidFill>
          <a:ln w="12700">
            <a:solidFill>
              <a:srgbClr val="D6DEE6"/>
            </a:solidFill>
            <a:prstDash val="solid"/>
          </a:ln>
        </p:spPr>
        <p:txBody>
          <a:bodyPr/>
          <a:lstStyle/>
          <a:p>
            <a:endParaRPr lang="vi-VN"/>
          </a:p>
        </p:txBody>
      </p:sp>
      <p:sp>
        <p:nvSpPr>
          <p:cNvPr id="8" name="Text 5">
            <a:extLst>
              <a:ext uri="{FF2B5EF4-FFF2-40B4-BE49-F238E27FC236}">
                <a16:creationId xmlns:a16="http://schemas.microsoft.com/office/drawing/2014/main" id="{2C83BBFB-CFFD-EE54-052A-AD75095CF164}"/>
              </a:ext>
            </a:extLst>
          </p:cNvPr>
          <p:cNvSpPr/>
          <p:nvPr/>
        </p:nvSpPr>
        <p:spPr>
          <a:xfrm>
            <a:off x="6720840" y="1463040"/>
            <a:ext cx="4297680" cy="274320"/>
          </a:xfrm>
          <a:prstGeom prst="rect">
            <a:avLst/>
          </a:prstGeom>
          <a:noFill/>
          <a:ln/>
        </p:spPr>
        <p:txBody>
          <a:bodyPr wrap="square" lIns="0" tIns="0" rIns="0" bIns="0" rtlCol="0" anchor="ctr"/>
          <a:lstStyle/>
          <a:p>
            <a:pPr marL="0" indent="0">
              <a:buNone/>
            </a:pPr>
            <a:r>
              <a:rPr lang="en-US" sz="1600" b="1" dirty="0">
                <a:solidFill>
                  <a:srgbClr val="0B3C5D"/>
                </a:solidFill>
              </a:rPr>
              <a:t>Cách xử lý</a:t>
            </a:r>
            <a:endParaRPr lang="en-US" sz="1600" dirty="0"/>
          </a:p>
        </p:txBody>
      </p:sp>
      <p:sp>
        <p:nvSpPr>
          <p:cNvPr id="9" name="Text 6">
            <a:extLst>
              <a:ext uri="{FF2B5EF4-FFF2-40B4-BE49-F238E27FC236}">
                <a16:creationId xmlns:a16="http://schemas.microsoft.com/office/drawing/2014/main" id="{52A958BC-A9A3-67EF-EA68-DB3E89189955}"/>
              </a:ext>
            </a:extLst>
          </p:cNvPr>
          <p:cNvSpPr/>
          <p:nvPr/>
        </p:nvSpPr>
        <p:spPr>
          <a:xfrm>
            <a:off x="6812280" y="1920240"/>
            <a:ext cx="4206240" cy="1508760"/>
          </a:xfrm>
          <a:prstGeom prst="rect">
            <a:avLst/>
          </a:prstGeom>
          <a:noFill/>
          <a:ln/>
        </p:spPr>
        <p:txBody>
          <a:bodyPr wrap="square" lIns="762" tIns="762" rIns="762" bIns="762" rtlCol="0" anchor="ctr">
            <a:normAutofit lnSpcReduction="10000"/>
          </a:bodyPr>
          <a:lstStyle/>
          <a:p>
            <a:r>
              <a:rPr lang="vi-VN" sz="1070" dirty="0">
                <a:solidFill>
                  <a:srgbClr val="1F2D3D"/>
                </a:solidFill>
              </a:rPr>
              <a:t>Sử dụng </a:t>
            </a:r>
            <a:r>
              <a:rPr lang="vi-VN" sz="1070" dirty="0" err="1">
                <a:solidFill>
                  <a:srgbClr val="1F2D3D"/>
                </a:solidFill>
              </a:rPr>
              <a:t>raster</a:t>
            </a:r>
            <a:r>
              <a:rPr lang="vi-VN" sz="1070" dirty="0">
                <a:solidFill>
                  <a:srgbClr val="1F2D3D"/>
                </a:solidFill>
              </a:rPr>
              <a:t> HAND 30 m từ bộ dữ liệu MERIT-</a:t>
            </a:r>
            <a:r>
              <a:rPr lang="vi-VN" sz="1070" dirty="0" err="1">
                <a:solidFill>
                  <a:srgbClr val="1F2D3D"/>
                </a:solidFill>
              </a:rPr>
              <a:t>Hydro</a:t>
            </a:r>
            <a:r>
              <a:rPr lang="vi-VN" sz="1070" dirty="0">
                <a:solidFill>
                  <a:srgbClr val="1F2D3D"/>
                </a:solidFill>
              </a:rPr>
              <a:t>.</a:t>
            </a:r>
          </a:p>
          <a:p>
            <a:r>
              <a:rPr lang="vi-VN" sz="1070" dirty="0">
                <a:solidFill>
                  <a:srgbClr val="1F2D3D"/>
                </a:solidFill>
              </a:rPr>
              <a:t>Giá trị HAND thể hiện chênh cao giữa điểm ảnh và mạng lưới thoát nước gần nhất: giá trị càng thấp thì điểm ảnh càng gần cao độ dòng chảy.</a:t>
            </a:r>
          </a:p>
          <a:p>
            <a:r>
              <a:rPr lang="vi-VN" sz="1070" dirty="0">
                <a:solidFill>
                  <a:srgbClr val="1F2D3D"/>
                </a:solidFill>
              </a:rPr>
              <a:t>Tham số 100 </a:t>
            </a:r>
            <a:r>
              <a:rPr lang="vi-VN" sz="1070" dirty="0" err="1">
                <a:solidFill>
                  <a:srgbClr val="1F2D3D"/>
                </a:solidFill>
              </a:rPr>
              <a:t>cells</a:t>
            </a:r>
            <a:r>
              <a:rPr lang="vi-VN" sz="1070" dirty="0">
                <a:solidFill>
                  <a:srgbClr val="1F2D3D"/>
                </a:solidFill>
              </a:rPr>
              <a:t> được dùng để xác định mạng lưới dòng chảy/ngưỡng thoát nước, sau đó </a:t>
            </a:r>
            <a:r>
              <a:rPr lang="vi-VN" sz="1070" dirty="0" err="1">
                <a:solidFill>
                  <a:srgbClr val="1F2D3D"/>
                </a:solidFill>
              </a:rPr>
              <a:t>raster</a:t>
            </a:r>
            <a:r>
              <a:rPr lang="vi-VN" sz="1070" dirty="0">
                <a:solidFill>
                  <a:srgbClr val="1F2D3D"/>
                </a:solidFill>
              </a:rPr>
              <a:t> được </a:t>
            </a:r>
            <a:r>
              <a:rPr lang="vi-VN" sz="1070" dirty="0" err="1">
                <a:solidFill>
                  <a:srgbClr val="1F2D3D"/>
                </a:solidFill>
              </a:rPr>
              <a:t>clip</a:t>
            </a:r>
            <a:r>
              <a:rPr lang="vi-VN" sz="1070" dirty="0">
                <a:solidFill>
                  <a:srgbClr val="1F2D3D"/>
                </a:solidFill>
              </a:rPr>
              <a:t> theo ranh giới Huế và chuẩn hóa về lưới 30 m.</a:t>
            </a:r>
          </a:p>
          <a:p>
            <a:r>
              <a:rPr lang="vi-VN" sz="1070" dirty="0">
                <a:solidFill>
                  <a:srgbClr val="1F2D3D"/>
                </a:solidFill>
              </a:rPr>
              <a:t>Vùng giá trị thấp tập trung dọc sông Hương, sông Bồ, sông Ô Lâu, đầm phá Tam Giang – Cầu Hai và các vùng đồng bằng thấp ven biển.</a:t>
            </a:r>
            <a:endParaRPr lang="en-US" sz="1070" dirty="0"/>
          </a:p>
        </p:txBody>
      </p:sp>
      <p:sp>
        <p:nvSpPr>
          <p:cNvPr id="10" name="Text 7">
            <a:extLst>
              <a:ext uri="{FF2B5EF4-FFF2-40B4-BE49-F238E27FC236}">
                <a16:creationId xmlns:a16="http://schemas.microsoft.com/office/drawing/2014/main" id="{6A6E48EB-0BB5-9060-3764-834EE91F53AB}"/>
              </a:ext>
            </a:extLst>
          </p:cNvPr>
          <p:cNvSpPr/>
          <p:nvPr/>
        </p:nvSpPr>
        <p:spPr>
          <a:xfrm>
            <a:off x="6720840" y="3528307"/>
            <a:ext cx="4297680" cy="274320"/>
          </a:xfrm>
          <a:prstGeom prst="rect">
            <a:avLst/>
          </a:prstGeom>
          <a:noFill/>
          <a:ln/>
        </p:spPr>
        <p:txBody>
          <a:bodyPr wrap="square" lIns="0" tIns="0" rIns="0" bIns="0" rtlCol="0" anchor="ctr"/>
          <a:lstStyle/>
          <a:p>
            <a:pPr marL="0" indent="0">
              <a:buNone/>
            </a:pPr>
            <a:r>
              <a:rPr lang="en-US" sz="1500" b="1" dirty="0">
                <a:solidFill>
                  <a:srgbClr val="1D7A48"/>
                </a:solidFill>
              </a:rPr>
              <a:t>Ý nghĩa trong mô hình</a:t>
            </a:r>
            <a:endParaRPr lang="en-US" sz="1500" dirty="0"/>
          </a:p>
        </p:txBody>
      </p:sp>
      <p:sp>
        <p:nvSpPr>
          <p:cNvPr id="11" name="Text 8">
            <a:extLst>
              <a:ext uri="{FF2B5EF4-FFF2-40B4-BE49-F238E27FC236}">
                <a16:creationId xmlns:a16="http://schemas.microsoft.com/office/drawing/2014/main" id="{4BF90584-92B2-9AD2-A246-3C0C72EBCC81}"/>
              </a:ext>
            </a:extLst>
          </p:cNvPr>
          <p:cNvSpPr/>
          <p:nvPr/>
        </p:nvSpPr>
        <p:spPr>
          <a:xfrm>
            <a:off x="6812280" y="3915110"/>
            <a:ext cx="4206240" cy="1022852"/>
          </a:xfrm>
          <a:prstGeom prst="rect">
            <a:avLst/>
          </a:prstGeom>
          <a:noFill/>
          <a:ln/>
        </p:spPr>
        <p:txBody>
          <a:bodyPr wrap="square" lIns="0" tIns="0" rIns="0" bIns="0" rtlCol="0" anchor="ctr">
            <a:noAutofit/>
          </a:bodyPr>
          <a:lstStyle/>
          <a:p>
            <a:pPr marL="0" indent="0">
              <a:buNone/>
            </a:pPr>
            <a:r>
              <a:rPr lang="vi-VN" sz="1050" dirty="0">
                <a:solidFill>
                  <a:srgbClr val="1F2D3D"/>
                </a:solidFill>
              </a:rPr>
              <a:t>HAND là một đặc trưng thủy văn quan trọng để mô hình nhận diện vùng trũng, vùng gần dòng chảy và khu vực có khả năng ngập sâu.</a:t>
            </a:r>
          </a:p>
          <a:p>
            <a:pPr marL="0" indent="0">
              <a:buNone/>
            </a:pPr>
            <a:r>
              <a:rPr lang="vi-VN" sz="1050" dirty="0">
                <a:solidFill>
                  <a:srgbClr val="1F2D3D"/>
                </a:solidFill>
              </a:rPr>
              <a:t>Trong bài toán dự báo độ sâu ngập, HAND thường có quan hệ nghịch với độ sâu ngập: HAND càng nhỏ thì nguy cơ và độ sâu ngập càng lớn. Vì vậy, biến này cũng được dùng trong ràng buộc đơn điệu của </a:t>
            </a:r>
            <a:r>
              <a:rPr lang="vi-VN" sz="1050" dirty="0" err="1">
                <a:solidFill>
                  <a:srgbClr val="1F2D3D"/>
                </a:solidFill>
              </a:rPr>
              <a:t>XGBoost</a:t>
            </a:r>
            <a:r>
              <a:rPr lang="vi-VN" sz="1050" dirty="0">
                <a:solidFill>
                  <a:srgbClr val="1F2D3D"/>
                </a:solidFill>
              </a:rPr>
              <a:t> và trong bước hậu xử lý thủy lực.</a:t>
            </a:r>
            <a:endParaRPr lang="en-US" sz="1050" dirty="0"/>
          </a:p>
        </p:txBody>
      </p:sp>
      <p:sp>
        <p:nvSpPr>
          <p:cNvPr id="12" name="Text 9">
            <a:extLst>
              <a:ext uri="{FF2B5EF4-FFF2-40B4-BE49-F238E27FC236}">
                <a16:creationId xmlns:a16="http://schemas.microsoft.com/office/drawing/2014/main" id="{67E68813-61F5-1223-6C84-52A099B187E8}"/>
              </a:ext>
            </a:extLst>
          </p:cNvPr>
          <p:cNvSpPr/>
          <p:nvPr/>
        </p:nvSpPr>
        <p:spPr>
          <a:xfrm>
            <a:off x="594360" y="5285232"/>
            <a:ext cx="5577840" cy="201168"/>
          </a:xfrm>
          <a:prstGeom prst="rect">
            <a:avLst/>
          </a:prstGeom>
          <a:noFill/>
          <a:ln/>
        </p:spPr>
        <p:txBody>
          <a:bodyPr wrap="square" lIns="0" tIns="0" rIns="0" bIns="0" rtlCol="0" anchor="ctr"/>
          <a:lstStyle/>
          <a:p>
            <a:pPr marL="0" indent="0" algn="ctr">
              <a:buNone/>
            </a:pPr>
            <a:r>
              <a:rPr lang="vi-VN" sz="750" i="1" dirty="0">
                <a:solidFill>
                  <a:schemeClr val="tx2"/>
                </a:solidFill>
              </a:rPr>
              <a:t>HAND 30 m với ngưỡng 100 </a:t>
            </a:r>
            <a:r>
              <a:rPr lang="vi-VN" sz="750" i="1" dirty="0" err="1">
                <a:solidFill>
                  <a:schemeClr val="tx2"/>
                </a:solidFill>
              </a:rPr>
              <a:t>cells</a:t>
            </a:r>
            <a:r>
              <a:rPr lang="vi-VN" sz="750" i="1" dirty="0">
                <a:solidFill>
                  <a:schemeClr val="tx2"/>
                </a:solidFill>
              </a:rPr>
              <a:t> cho thành phố Huế</a:t>
            </a:r>
            <a:endParaRPr lang="en-US" sz="750" i="1" dirty="0">
              <a:solidFill>
                <a:schemeClr val="tx2"/>
              </a:solidFill>
            </a:endParaRPr>
          </a:p>
        </p:txBody>
      </p:sp>
      <p:sp>
        <p:nvSpPr>
          <p:cNvPr id="13" name="Shape 10">
            <a:extLst>
              <a:ext uri="{FF2B5EF4-FFF2-40B4-BE49-F238E27FC236}">
                <a16:creationId xmlns:a16="http://schemas.microsoft.com/office/drawing/2014/main" id="{81FD499F-C659-F7E0-B309-96CF6D01A1B6}"/>
              </a:ext>
            </a:extLst>
          </p:cNvPr>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4" name="Text 11">
            <a:extLst>
              <a:ext uri="{FF2B5EF4-FFF2-40B4-BE49-F238E27FC236}">
                <a16:creationId xmlns:a16="http://schemas.microsoft.com/office/drawing/2014/main" id="{77994B74-82E8-4DC3-E3B4-45C34B618572}"/>
              </a:ext>
            </a:extLst>
          </p:cNvPr>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5" name="Text 12">
            <a:extLst>
              <a:ext uri="{FF2B5EF4-FFF2-40B4-BE49-F238E27FC236}">
                <a16:creationId xmlns:a16="http://schemas.microsoft.com/office/drawing/2014/main" id="{FD987E5C-AABD-6F34-4B38-B001BDF70A36}"/>
              </a:ext>
            </a:extLst>
          </p:cNvPr>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15</a:t>
            </a:r>
            <a:endParaRPr lang="en-US" sz="850" dirty="0"/>
          </a:p>
        </p:txBody>
      </p:sp>
      <p:pic>
        <p:nvPicPr>
          <p:cNvPr id="17" name="Picture 16" descr="image1.png">
            <a:extLst>
              <a:ext uri="{FF2B5EF4-FFF2-40B4-BE49-F238E27FC236}">
                <a16:creationId xmlns:a16="http://schemas.microsoft.com/office/drawing/2014/main" id="{9D25A922-DA8E-D24E-15D9-FA608E073C95}"/>
              </a:ext>
            </a:extLst>
          </p:cNvPr>
          <p:cNvPicPr>
            <a:picLocks noChangeAspect="1"/>
          </p:cNvPicPr>
          <p:nvPr/>
        </p:nvPicPr>
        <p:blipFill>
          <a:blip r:embed="rId3"/>
          <a:stretch>
            <a:fillRect/>
          </a:stretch>
        </p:blipFill>
        <p:spPr>
          <a:xfrm>
            <a:off x="10945732" y="324612"/>
            <a:ext cx="384048" cy="384048"/>
          </a:xfrm>
          <a:prstGeom prst="rect">
            <a:avLst/>
          </a:prstGeom>
        </p:spPr>
      </p:pic>
      <p:pic>
        <p:nvPicPr>
          <p:cNvPr id="18" name="Image 0" descr="/mnt/data/deck_assets_new/p58_img1.png">
            <a:extLst>
              <a:ext uri="{FF2B5EF4-FFF2-40B4-BE49-F238E27FC236}">
                <a16:creationId xmlns:a16="http://schemas.microsoft.com/office/drawing/2014/main" id="{8F15BCEB-86A3-A522-6691-56155CF19C83}"/>
              </a:ext>
            </a:extLst>
          </p:cNvPr>
          <p:cNvPicPr>
            <a:picLocks noChangeAspect="1"/>
          </p:cNvPicPr>
          <p:nvPr/>
        </p:nvPicPr>
        <p:blipFill>
          <a:blip r:embed="rId4"/>
          <a:stretch>
            <a:fillRect/>
          </a:stretch>
        </p:blipFill>
        <p:spPr>
          <a:xfrm>
            <a:off x="666116" y="1142641"/>
            <a:ext cx="5429884" cy="4020565"/>
          </a:xfrm>
          <a:prstGeom prst="rect">
            <a:avLst/>
          </a:prstGeom>
        </p:spPr>
      </p:pic>
    </p:spTree>
    <p:extLst>
      <p:ext uri="{BB962C8B-B14F-4D97-AF65-F5344CB8AC3E}">
        <p14:creationId xmlns:p14="http://schemas.microsoft.com/office/powerpoint/2010/main" val="297379032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vi-VN" sz="2400" b="1" dirty="0">
                <a:solidFill>
                  <a:srgbClr val="0B3C5D"/>
                </a:solidFill>
              </a:rPr>
              <a:t>Các đặc trưng thủy văn khác</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372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Các đặc </a:t>
            </a:r>
            <a:r>
              <a:rPr lang="en-US" sz="1050" dirty="0" err="1">
                <a:solidFill>
                  <a:srgbClr val="5D6D7E"/>
                </a:solidFill>
              </a:rPr>
              <a:t>trưng</a:t>
            </a:r>
            <a:r>
              <a:rPr lang="en-US" sz="1050" dirty="0">
                <a:solidFill>
                  <a:srgbClr val="5D6D7E"/>
                </a:solidFill>
              </a:rPr>
              <a:t> </a:t>
            </a:r>
            <a:r>
              <a:rPr lang="en-US" sz="1050" dirty="0" err="1">
                <a:solidFill>
                  <a:srgbClr val="5D6D7E"/>
                </a:solidFill>
              </a:rPr>
              <a:t>thủy</a:t>
            </a:r>
            <a:r>
              <a:rPr lang="en-US" sz="1050" dirty="0">
                <a:solidFill>
                  <a:srgbClr val="5D6D7E"/>
                </a:solidFill>
              </a:rPr>
              <a:t> văn giúp mô hình hiểu “điểm ảnh gần dòng chảy đến mức nào”.</a:t>
            </a:r>
            <a:endParaRPr lang="en-US" sz="1050" dirty="0"/>
          </a:p>
        </p:txBody>
      </p:sp>
      <p:sp>
        <p:nvSpPr>
          <p:cNvPr id="5" name="Shape 3"/>
          <p:cNvSpPr/>
          <p:nvPr/>
        </p:nvSpPr>
        <p:spPr>
          <a:xfrm>
            <a:off x="3109814" y="1130300"/>
            <a:ext cx="3049318" cy="2298700"/>
          </a:xfrm>
          <a:prstGeom prst="roundRect">
            <a:avLst>
              <a:gd name="adj" fmla="val 2667"/>
            </a:avLst>
          </a:prstGeom>
          <a:solidFill>
            <a:srgbClr val="FFFFFF"/>
          </a:solidFill>
          <a:ln w="12700">
            <a:solidFill>
              <a:srgbClr val="D6DEE6"/>
            </a:solidFill>
            <a:prstDash val="solid"/>
          </a:ln>
        </p:spPr>
        <p:txBody>
          <a:bodyPr/>
          <a:lstStyle/>
          <a:p>
            <a:endParaRPr lang="vi-VN"/>
          </a:p>
        </p:txBody>
      </p:sp>
      <p:pic>
        <p:nvPicPr>
          <p:cNvPr id="6" name="Image 0" descr="/mnt/data/deck_assets_new/p60_img3.png"/>
          <p:cNvPicPr>
            <a:picLocks noChangeAspect="1"/>
          </p:cNvPicPr>
          <p:nvPr/>
        </p:nvPicPr>
        <p:blipFill>
          <a:blip r:embed="rId3"/>
          <a:stretch>
            <a:fillRect/>
          </a:stretch>
        </p:blipFill>
        <p:spPr>
          <a:xfrm>
            <a:off x="3109814" y="1190804"/>
            <a:ext cx="3050526" cy="2159969"/>
          </a:xfrm>
          <a:prstGeom prst="rect">
            <a:avLst/>
          </a:prstGeom>
        </p:spPr>
      </p:pic>
      <p:sp>
        <p:nvSpPr>
          <p:cNvPr id="7" name="Shape 4"/>
          <p:cNvSpPr/>
          <p:nvPr/>
        </p:nvSpPr>
        <p:spPr>
          <a:xfrm>
            <a:off x="6399831" y="1130299"/>
            <a:ext cx="3049318" cy="2298701"/>
          </a:xfrm>
          <a:prstGeom prst="roundRect">
            <a:avLst>
              <a:gd name="adj" fmla="val 2667"/>
            </a:avLst>
          </a:prstGeom>
          <a:solidFill>
            <a:srgbClr val="FFFFFF"/>
          </a:solidFill>
          <a:ln w="12700">
            <a:solidFill>
              <a:srgbClr val="D6DEE6"/>
            </a:solidFill>
            <a:prstDash val="solid"/>
          </a:ln>
        </p:spPr>
        <p:txBody>
          <a:bodyPr/>
          <a:lstStyle/>
          <a:p>
            <a:endParaRPr lang="vi-VN"/>
          </a:p>
        </p:txBody>
      </p:sp>
      <p:pic>
        <p:nvPicPr>
          <p:cNvPr id="8" name="Image 1" descr="/mnt/data/deck_assets_new/p60_img4.png"/>
          <p:cNvPicPr>
            <a:picLocks noChangeAspect="1"/>
          </p:cNvPicPr>
          <p:nvPr/>
        </p:nvPicPr>
        <p:blipFill>
          <a:blip r:embed="rId4"/>
          <a:stretch>
            <a:fillRect/>
          </a:stretch>
        </p:blipFill>
        <p:spPr>
          <a:xfrm>
            <a:off x="6399830" y="1191762"/>
            <a:ext cx="3051233" cy="2158892"/>
          </a:xfrm>
          <a:prstGeom prst="rect">
            <a:avLst/>
          </a:prstGeom>
        </p:spPr>
      </p:pic>
      <p:sp>
        <p:nvSpPr>
          <p:cNvPr id="13" name="Shape 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4" name="Text 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1" name="Text 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14</a:t>
            </a:r>
            <a:endParaRPr lang="en-US" sz="850" dirty="0"/>
          </a:p>
        </p:txBody>
      </p:sp>
      <p:pic>
        <p:nvPicPr>
          <p:cNvPr id="17" name="Picture 16" descr="image1.png">
            <a:extLst>
              <a:ext uri="{FF2B5EF4-FFF2-40B4-BE49-F238E27FC236}">
                <a16:creationId xmlns:a16="http://schemas.microsoft.com/office/drawing/2014/main" id="{F37F8CB7-0E05-7839-C33D-BCB4164C9965}"/>
              </a:ext>
            </a:extLst>
          </p:cNvPr>
          <p:cNvPicPr>
            <a:picLocks noChangeAspect="1"/>
          </p:cNvPicPr>
          <p:nvPr/>
        </p:nvPicPr>
        <p:blipFill>
          <a:blip r:embed="rId5"/>
          <a:stretch>
            <a:fillRect/>
          </a:stretch>
        </p:blipFill>
        <p:spPr>
          <a:xfrm>
            <a:off x="10945732" y="336724"/>
            <a:ext cx="384048" cy="384048"/>
          </a:xfrm>
          <a:prstGeom prst="rect">
            <a:avLst/>
          </a:prstGeom>
        </p:spPr>
      </p:pic>
      <p:sp>
        <p:nvSpPr>
          <p:cNvPr id="27" name="Shape 4">
            <a:extLst>
              <a:ext uri="{FF2B5EF4-FFF2-40B4-BE49-F238E27FC236}">
                <a16:creationId xmlns:a16="http://schemas.microsoft.com/office/drawing/2014/main" id="{4C8F19C6-C770-56D9-E257-C06A80CC0010}"/>
              </a:ext>
            </a:extLst>
          </p:cNvPr>
          <p:cNvSpPr/>
          <p:nvPr/>
        </p:nvSpPr>
        <p:spPr>
          <a:xfrm>
            <a:off x="3109813" y="3725264"/>
            <a:ext cx="3062721" cy="2298701"/>
          </a:xfrm>
          <a:prstGeom prst="roundRect">
            <a:avLst>
              <a:gd name="adj" fmla="val 3137"/>
            </a:avLst>
          </a:prstGeom>
          <a:solidFill>
            <a:srgbClr val="FFFFFF"/>
          </a:solidFill>
          <a:ln w="12700">
            <a:solidFill>
              <a:srgbClr val="D6DEE6"/>
            </a:solidFill>
            <a:prstDash val="solid"/>
          </a:ln>
        </p:spPr>
        <p:txBody>
          <a:bodyPr/>
          <a:lstStyle/>
          <a:p>
            <a:endParaRPr lang="vi-VN"/>
          </a:p>
        </p:txBody>
      </p:sp>
      <p:pic>
        <p:nvPicPr>
          <p:cNvPr id="29" name="Image 1" descr="/mnt/data/deck_assets_new/p60_img1.png">
            <a:extLst>
              <a:ext uri="{FF2B5EF4-FFF2-40B4-BE49-F238E27FC236}">
                <a16:creationId xmlns:a16="http://schemas.microsoft.com/office/drawing/2014/main" id="{7749CC95-4418-318B-F25F-06D919D8D404}"/>
              </a:ext>
            </a:extLst>
          </p:cNvPr>
          <p:cNvPicPr>
            <a:picLocks noChangeAspect="1"/>
          </p:cNvPicPr>
          <p:nvPr/>
        </p:nvPicPr>
        <p:blipFill>
          <a:blip r:embed="rId6"/>
          <a:stretch>
            <a:fillRect/>
          </a:stretch>
        </p:blipFill>
        <p:spPr>
          <a:xfrm>
            <a:off x="3109814" y="3746031"/>
            <a:ext cx="3063934" cy="2244119"/>
          </a:xfrm>
          <a:prstGeom prst="rect">
            <a:avLst/>
          </a:prstGeom>
        </p:spPr>
      </p:pic>
      <p:sp>
        <p:nvSpPr>
          <p:cNvPr id="31" name="Shape 5">
            <a:extLst>
              <a:ext uri="{FF2B5EF4-FFF2-40B4-BE49-F238E27FC236}">
                <a16:creationId xmlns:a16="http://schemas.microsoft.com/office/drawing/2014/main" id="{A589E53B-4757-E913-465D-DDCA13A92751}"/>
              </a:ext>
            </a:extLst>
          </p:cNvPr>
          <p:cNvSpPr/>
          <p:nvPr/>
        </p:nvSpPr>
        <p:spPr>
          <a:xfrm>
            <a:off x="6388343" y="3725264"/>
            <a:ext cx="3062720" cy="2298700"/>
          </a:xfrm>
          <a:prstGeom prst="roundRect">
            <a:avLst>
              <a:gd name="adj" fmla="val 3137"/>
            </a:avLst>
          </a:prstGeom>
          <a:solidFill>
            <a:srgbClr val="FFFFFF"/>
          </a:solidFill>
          <a:ln w="12700">
            <a:solidFill>
              <a:srgbClr val="D6DEE6"/>
            </a:solidFill>
            <a:prstDash val="solid"/>
          </a:ln>
        </p:spPr>
        <p:txBody>
          <a:bodyPr/>
          <a:lstStyle/>
          <a:p>
            <a:endParaRPr lang="vi-VN"/>
          </a:p>
        </p:txBody>
      </p:sp>
      <p:pic>
        <p:nvPicPr>
          <p:cNvPr id="33" name="Image 2" descr="/mnt/data/deck_assets_new/p60_img2.png">
            <a:extLst>
              <a:ext uri="{FF2B5EF4-FFF2-40B4-BE49-F238E27FC236}">
                <a16:creationId xmlns:a16="http://schemas.microsoft.com/office/drawing/2014/main" id="{8FEE232A-3901-2BFF-C8F4-394A2E0386E6}"/>
              </a:ext>
            </a:extLst>
          </p:cNvPr>
          <p:cNvPicPr>
            <a:picLocks noChangeAspect="1"/>
          </p:cNvPicPr>
          <p:nvPr/>
        </p:nvPicPr>
        <p:blipFill>
          <a:blip r:embed="rId7"/>
          <a:stretch>
            <a:fillRect/>
          </a:stretch>
        </p:blipFill>
        <p:spPr>
          <a:xfrm>
            <a:off x="6388342" y="3779050"/>
            <a:ext cx="3058027" cy="216946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JRC Global Surface Water: xác suất xuất hiện mặt nước</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Biến gsw_occure bổ sung “lịch sử có nước” trong giai đoạn dài 1984–2021.</a:t>
            </a:r>
            <a:endParaRPr lang="en-US" sz="1050" dirty="0"/>
          </a:p>
        </p:txBody>
      </p:sp>
      <p:sp>
        <p:nvSpPr>
          <p:cNvPr id="5" name="Shape 3"/>
          <p:cNvSpPr/>
          <p:nvPr/>
        </p:nvSpPr>
        <p:spPr>
          <a:xfrm>
            <a:off x="594360" y="1143000"/>
            <a:ext cx="5577840" cy="4023360"/>
          </a:xfrm>
          <a:prstGeom prst="roundRect">
            <a:avLst>
              <a:gd name="adj" fmla="val 1818"/>
            </a:avLst>
          </a:prstGeom>
          <a:solidFill>
            <a:srgbClr val="FFFFFF"/>
          </a:solidFill>
          <a:ln w="12700">
            <a:solidFill>
              <a:srgbClr val="D6DEE6"/>
            </a:solidFill>
            <a:prstDash val="solid"/>
          </a:ln>
        </p:spPr>
        <p:txBody>
          <a:bodyPr/>
          <a:lstStyle/>
          <a:p>
            <a:endParaRPr lang="vi-VN"/>
          </a:p>
        </p:txBody>
      </p:sp>
      <p:pic>
        <p:nvPicPr>
          <p:cNvPr id="6" name="Image 0" descr="/mnt/data/deck_assets_new/p61_img1.png"/>
          <p:cNvPicPr>
            <a:picLocks noChangeAspect="1"/>
          </p:cNvPicPr>
          <p:nvPr/>
        </p:nvPicPr>
        <p:blipFill>
          <a:blip r:embed="rId3"/>
          <a:stretch>
            <a:fillRect/>
          </a:stretch>
        </p:blipFill>
        <p:spPr>
          <a:xfrm>
            <a:off x="594360" y="1181820"/>
            <a:ext cx="5577840" cy="3945720"/>
          </a:xfrm>
          <a:prstGeom prst="rect">
            <a:avLst/>
          </a:prstGeom>
        </p:spPr>
      </p:pic>
      <p:sp>
        <p:nvSpPr>
          <p:cNvPr id="7" name="Shape 4"/>
          <p:cNvSpPr/>
          <p:nvPr/>
        </p:nvSpPr>
        <p:spPr>
          <a:xfrm>
            <a:off x="6446520" y="1234440"/>
            <a:ext cx="4983480" cy="3749040"/>
          </a:xfrm>
          <a:prstGeom prst="roundRect">
            <a:avLst>
              <a:gd name="adj" fmla="val 1951"/>
            </a:avLst>
          </a:prstGeom>
          <a:solidFill>
            <a:srgbClr val="EAF3F8"/>
          </a:solidFill>
          <a:ln w="12700">
            <a:solidFill>
              <a:srgbClr val="D6DEE6"/>
            </a:solidFill>
            <a:prstDash val="solid"/>
          </a:ln>
        </p:spPr>
        <p:txBody>
          <a:bodyPr/>
          <a:lstStyle/>
          <a:p>
            <a:endParaRPr lang="vi-VN"/>
          </a:p>
        </p:txBody>
      </p:sp>
      <p:sp>
        <p:nvSpPr>
          <p:cNvPr id="8" name="Text 5"/>
          <p:cNvSpPr/>
          <p:nvPr/>
        </p:nvSpPr>
        <p:spPr>
          <a:xfrm>
            <a:off x="6720840" y="1463040"/>
            <a:ext cx="4297680" cy="274320"/>
          </a:xfrm>
          <a:prstGeom prst="rect">
            <a:avLst/>
          </a:prstGeom>
          <a:noFill/>
          <a:ln/>
        </p:spPr>
        <p:txBody>
          <a:bodyPr wrap="square" lIns="0" tIns="0" rIns="0" bIns="0" rtlCol="0" anchor="ctr"/>
          <a:lstStyle/>
          <a:p>
            <a:pPr marL="0" indent="0">
              <a:buNone/>
            </a:pPr>
            <a:r>
              <a:rPr lang="en-US" sz="1600" b="1" dirty="0">
                <a:solidFill>
                  <a:srgbClr val="0B3C5D"/>
                </a:solidFill>
              </a:rPr>
              <a:t>Cách xử lý</a:t>
            </a:r>
            <a:endParaRPr lang="en-US" sz="1600" dirty="0"/>
          </a:p>
        </p:txBody>
      </p:sp>
      <p:sp>
        <p:nvSpPr>
          <p:cNvPr id="9" name="Text 6"/>
          <p:cNvSpPr/>
          <p:nvPr/>
        </p:nvSpPr>
        <p:spPr>
          <a:xfrm>
            <a:off x="6812280" y="1920240"/>
            <a:ext cx="4206240" cy="1508760"/>
          </a:xfrm>
          <a:prstGeom prst="rect">
            <a:avLst/>
          </a:prstGeom>
          <a:noFill/>
          <a:ln/>
        </p:spPr>
        <p:txBody>
          <a:bodyPr wrap="square" lIns="762" tIns="762" rIns="762" bIns="762" rtlCol="0" anchor="ctr">
            <a:normAutofit/>
          </a:bodyPr>
          <a:lstStyle/>
          <a:p>
            <a:r>
              <a:rPr lang="en-US" sz="1070" dirty="0">
                <a:solidFill>
                  <a:srgbClr val="1F2D3D"/>
                </a:solidFill>
              </a:rPr>
              <a:t>Sử dụng lớp Occurrence của JRC GSW.</a:t>
            </a:r>
            <a:endParaRPr lang="en-US" sz="1070" dirty="0"/>
          </a:p>
          <a:p>
            <a:r>
              <a:rPr lang="en-US" sz="1070" dirty="0">
                <a:solidFill>
                  <a:srgbClr val="1F2D3D"/>
                </a:solidFill>
              </a:rPr>
              <a:t>Giá trị 0–100%: 0 = chưa từng quan sát có nước; 100 = nước thường xuyên.</a:t>
            </a:r>
            <a:endParaRPr lang="en-US" sz="1070" dirty="0"/>
          </a:p>
          <a:p>
            <a:r>
              <a:rPr lang="en-US" sz="1070" dirty="0">
                <a:solidFill>
                  <a:srgbClr val="1F2D3D"/>
                </a:solidFill>
              </a:rPr>
              <a:t>Clip theo Huế, tái lấy mẫu 30 m.</a:t>
            </a:r>
            <a:endParaRPr lang="en-US" sz="1070" dirty="0"/>
          </a:p>
          <a:p>
            <a:r>
              <a:rPr lang="en-US" sz="1070" dirty="0">
                <a:solidFill>
                  <a:srgbClr val="1F2D3D"/>
                </a:solidFill>
              </a:rPr>
              <a:t>Vùng giá trị cao: đầm phá Tam Giang – Cầu Hai, sông Hương, sông Bồ, sông Ô Lâu, hồ chứa.</a:t>
            </a:r>
            <a:endParaRPr lang="en-US" sz="1070" dirty="0"/>
          </a:p>
        </p:txBody>
      </p:sp>
      <p:sp>
        <p:nvSpPr>
          <p:cNvPr id="10" name="Text 7"/>
          <p:cNvSpPr/>
          <p:nvPr/>
        </p:nvSpPr>
        <p:spPr>
          <a:xfrm>
            <a:off x="6720840" y="3794760"/>
            <a:ext cx="4297680" cy="274320"/>
          </a:xfrm>
          <a:prstGeom prst="rect">
            <a:avLst/>
          </a:prstGeom>
          <a:noFill/>
          <a:ln/>
        </p:spPr>
        <p:txBody>
          <a:bodyPr wrap="square" lIns="0" tIns="0" rIns="0" bIns="0" rtlCol="0" anchor="ctr"/>
          <a:lstStyle/>
          <a:p>
            <a:pPr marL="0" indent="0">
              <a:buNone/>
            </a:pPr>
            <a:r>
              <a:rPr lang="en-US" sz="1500" b="1" dirty="0">
                <a:solidFill>
                  <a:srgbClr val="1D7A48"/>
                </a:solidFill>
              </a:rPr>
              <a:t>Ý nghĩa trong mô hình</a:t>
            </a:r>
            <a:endParaRPr lang="en-US" sz="1500" dirty="0"/>
          </a:p>
        </p:txBody>
      </p:sp>
      <p:sp>
        <p:nvSpPr>
          <p:cNvPr id="11" name="Text 8"/>
          <p:cNvSpPr/>
          <p:nvPr/>
        </p:nvSpPr>
        <p:spPr>
          <a:xfrm>
            <a:off x="6812280" y="4142232"/>
            <a:ext cx="4114800" cy="411480"/>
          </a:xfrm>
          <a:prstGeom prst="rect">
            <a:avLst/>
          </a:prstGeom>
          <a:noFill/>
          <a:ln/>
        </p:spPr>
        <p:txBody>
          <a:bodyPr wrap="square" lIns="0" tIns="0" rIns="0" bIns="0" rtlCol="0" anchor="ctr">
            <a:normAutofit/>
          </a:bodyPr>
          <a:lstStyle/>
          <a:p>
            <a:pPr marL="0" indent="0">
              <a:buNone/>
            </a:pPr>
            <a:r>
              <a:rPr lang="en-US" sz="1050" dirty="0">
                <a:solidFill>
                  <a:srgbClr val="1F2D3D"/>
                </a:solidFill>
              </a:rPr>
              <a:t>Giúp mô hình nhận diện vùng mặt nước hoặc bán ngập thường xuyên, hỗ trợ hậu xử lý vùng lòng sông – đầm phá.</a:t>
            </a:r>
            <a:endParaRPr lang="en-US" sz="1050" dirty="0"/>
          </a:p>
        </p:txBody>
      </p:sp>
      <p:sp>
        <p:nvSpPr>
          <p:cNvPr id="12" name="Text 9"/>
          <p:cNvSpPr/>
          <p:nvPr/>
        </p:nvSpPr>
        <p:spPr>
          <a:xfrm>
            <a:off x="594360" y="5285232"/>
            <a:ext cx="5577840" cy="201168"/>
          </a:xfrm>
          <a:prstGeom prst="rect">
            <a:avLst/>
          </a:prstGeom>
          <a:noFill/>
          <a:ln/>
        </p:spPr>
        <p:txBody>
          <a:bodyPr wrap="square" lIns="0" tIns="0" rIns="0" bIns="0" rtlCol="0" anchor="ctr"/>
          <a:lstStyle/>
          <a:p>
            <a:pPr marL="0" indent="0" algn="ctr">
              <a:buNone/>
            </a:pPr>
            <a:r>
              <a:rPr lang="en-US" sz="750" i="1" dirty="0">
                <a:solidFill>
                  <a:srgbClr val="5D6D7E"/>
                </a:solidFill>
              </a:rPr>
              <a:t>JRC GSW Occurrence tại Huế</a:t>
            </a:r>
            <a:endParaRPr lang="en-US" sz="750" dirty="0"/>
          </a:p>
        </p:txBody>
      </p:sp>
      <p:sp>
        <p:nvSpPr>
          <p:cNvPr id="13" name="Shape 10"/>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4" name="Text 11"/>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5" name="Text 12"/>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15</a:t>
            </a:r>
            <a:endParaRPr lang="en-US" sz="850" dirty="0"/>
          </a:p>
        </p:txBody>
      </p:sp>
      <p:pic>
        <p:nvPicPr>
          <p:cNvPr id="17" name="Picture 16" descr="image1.png">
            <a:extLst>
              <a:ext uri="{FF2B5EF4-FFF2-40B4-BE49-F238E27FC236}">
                <a16:creationId xmlns:a16="http://schemas.microsoft.com/office/drawing/2014/main" id="{A60EB579-A089-A1FA-D608-989ACE2612CC}"/>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ESA WorldCover 2021 và hệ số Manning n</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Chuyển lớp phủ từ biến phân loại sang biến vật lý có ý nghĩa thủy lực.</a:t>
            </a:r>
            <a:endParaRPr lang="en-US" sz="1050" dirty="0"/>
          </a:p>
        </p:txBody>
      </p:sp>
      <p:sp>
        <p:nvSpPr>
          <p:cNvPr id="5" name="Shape 3"/>
          <p:cNvSpPr/>
          <p:nvPr/>
        </p:nvSpPr>
        <p:spPr>
          <a:xfrm>
            <a:off x="594360" y="1085180"/>
            <a:ext cx="5074920" cy="3931920"/>
          </a:xfrm>
          <a:prstGeom prst="roundRect">
            <a:avLst>
              <a:gd name="adj" fmla="val 1860"/>
            </a:avLst>
          </a:prstGeom>
          <a:solidFill>
            <a:srgbClr val="FFFFFF"/>
          </a:solidFill>
          <a:ln w="12700">
            <a:solidFill>
              <a:srgbClr val="D6DEE6"/>
            </a:solidFill>
            <a:prstDash val="solid"/>
          </a:ln>
        </p:spPr>
        <p:txBody>
          <a:bodyPr/>
          <a:lstStyle/>
          <a:p>
            <a:endParaRPr lang="vi-VN"/>
          </a:p>
        </p:txBody>
      </p:sp>
      <p:pic>
        <p:nvPicPr>
          <p:cNvPr id="6" name="Image 0" descr="/mnt/data/deck_assets_new/p63_img1.png"/>
          <p:cNvPicPr>
            <a:picLocks noChangeAspect="1"/>
          </p:cNvPicPr>
          <p:nvPr/>
        </p:nvPicPr>
        <p:blipFill>
          <a:blip r:embed="rId3"/>
          <a:stretch>
            <a:fillRect/>
          </a:stretch>
        </p:blipFill>
        <p:spPr>
          <a:xfrm>
            <a:off x="594360" y="1256538"/>
            <a:ext cx="5074920" cy="3589204"/>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97880" y="1051560"/>
          <a:ext cx="5532120" cy="3931920"/>
        </p:xfrm>
        <a:graphic>
          <a:graphicData uri="http://schemas.openxmlformats.org/drawingml/2006/table">
            <a:tbl>
              <a:tblPr/>
              <a:tblGrid>
                <a:gridCol w="1844040">
                  <a:extLst>
                    <a:ext uri="{9D8B030D-6E8A-4147-A177-3AD203B41FA5}">
                      <a16:colId xmlns:a16="http://schemas.microsoft.com/office/drawing/2014/main" val="20000"/>
                    </a:ext>
                  </a:extLst>
                </a:gridCol>
                <a:gridCol w="1844040">
                  <a:extLst>
                    <a:ext uri="{9D8B030D-6E8A-4147-A177-3AD203B41FA5}">
                      <a16:colId xmlns:a16="http://schemas.microsoft.com/office/drawing/2014/main" val="20001"/>
                    </a:ext>
                  </a:extLst>
                </a:gridCol>
                <a:gridCol w="1844040">
                  <a:extLst>
                    <a:ext uri="{9D8B030D-6E8A-4147-A177-3AD203B41FA5}">
                      <a16:colId xmlns:a16="http://schemas.microsoft.com/office/drawing/2014/main" val="20002"/>
                    </a:ext>
                  </a:extLst>
                </a:gridCol>
              </a:tblGrid>
              <a:tr h="491490">
                <a:tc>
                  <a:txBody>
                    <a:bodyPr/>
                    <a:lstStyle/>
                    <a:p>
                      <a:pPr marL="0" indent="0">
                        <a:buNone/>
                      </a:pPr>
                      <a:r>
                        <a:rPr lang="en-US" sz="840" b="1" dirty="0">
                          <a:solidFill>
                            <a:srgbClr val="FFFFFF"/>
                          </a:solidFill>
                        </a:rPr>
                        <a:t>Lớp phủ</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40" b="1" dirty="0">
                          <a:solidFill>
                            <a:srgbClr val="FFFFFF"/>
                          </a:solidFill>
                        </a:rPr>
                        <a:t>Manning 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40" b="1" dirty="0">
                          <a:solidFill>
                            <a:srgbClr val="FFFFFF"/>
                          </a:solidFill>
                        </a:rPr>
                        <a:t>Ý nghĩa</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91490">
                <a:tc>
                  <a:txBody>
                    <a:bodyPr/>
                    <a:lstStyle/>
                    <a:p>
                      <a:pPr marL="0" indent="0">
                        <a:buNone/>
                      </a:pPr>
                      <a:r>
                        <a:rPr lang="en-US" sz="840" dirty="0">
                          <a:solidFill>
                            <a:srgbClr val="1F2D3D"/>
                          </a:solidFill>
                        </a:rPr>
                        <a:t>Rừng cây gỗ</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0,120</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Ma sát cao nhất; tán cây/thảm dày</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1490">
                <a:tc>
                  <a:txBody>
                    <a:bodyPr/>
                    <a:lstStyle/>
                    <a:p>
                      <a:pPr marL="0" indent="0">
                        <a:buNone/>
                      </a:pPr>
                      <a:r>
                        <a:rPr lang="en-US" sz="840" dirty="0">
                          <a:solidFill>
                            <a:srgbClr val="1F2D3D"/>
                          </a:solidFill>
                        </a:rPr>
                        <a:t>Cây bụi / đất ngập nước</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0,060</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Ma sát trung bình cao</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1490">
                <a:tc>
                  <a:txBody>
                    <a:bodyPr/>
                    <a:lstStyle/>
                    <a:p>
                      <a:pPr marL="0" indent="0">
                        <a:buNone/>
                      </a:pPr>
                      <a:r>
                        <a:rPr lang="en-US" sz="840" dirty="0">
                          <a:solidFill>
                            <a:srgbClr val="1F2D3D"/>
                          </a:solidFill>
                        </a:rPr>
                        <a:t>Đồng cỏ</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0,035</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Bề mặt thân thảo</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1490">
                <a:tc>
                  <a:txBody>
                    <a:bodyPr/>
                    <a:lstStyle/>
                    <a:p>
                      <a:pPr marL="0" indent="0">
                        <a:buNone/>
                      </a:pPr>
                      <a:r>
                        <a:rPr lang="en-US" sz="840" dirty="0">
                          <a:solidFill>
                            <a:srgbClr val="1F2D3D"/>
                          </a:solidFill>
                        </a:rPr>
                        <a:t>Đất nông nghiệp</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0,040</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Ruộng lúa/hoa màu</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1490">
                <a:tc>
                  <a:txBody>
                    <a:bodyPr/>
                    <a:lstStyle/>
                    <a:p>
                      <a:pPr marL="0" indent="0">
                        <a:buNone/>
                      </a:pPr>
                      <a:r>
                        <a:rPr lang="en-US" sz="840" dirty="0">
                          <a:solidFill>
                            <a:srgbClr val="1F2D3D"/>
                          </a:solidFill>
                        </a:rPr>
                        <a:t>Khu xây dựng</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0,020</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Bề mặt nhẵn, thoát nhanh</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1490">
                <a:tc>
                  <a:txBody>
                    <a:bodyPr/>
                    <a:lstStyle/>
                    <a:p>
                      <a:pPr marL="0" indent="0">
                        <a:buNone/>
                      </a:pPr>
                      <a:r>
                        <a:rPr lang="en-US" sz="840" dirty="0">
                          <a:solidFill>
                            <a:srgbClr val="1F2D3D"/>
                          </a:solidFill>
                        </a:rPr>
                        <a:t>Đất trống/cồn cát</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0,025</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Ít thực vật</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1490">
                <a:tc>
                  <a:txBody>
                    <a:bodyPr/>
                    <a:lstStyle/>
                    <a:p>
                      <a:pPr marL="0" indent="0">
                        <a:buNone/>
                      </a:pPr>
                      <a:r>
                        <a:rPr lang="en-US" sz="840" dirty="0">
                          <a:solidFill>
                            <a:srgbClr val="1F2D3D"/>
                          </a:solidFill>
                        </a:rPr>
                        <a:t>Mặt nước thường xuyên</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0,030</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40" dirty="0">
                          <a:solidFill>
                            <a:srgbClr val="1F2D3D"/>
                          </a:solidFill>
                        </a:rPr>
                        <a:t>Sông, hồ, đầm phá</a:t>
                      </a:r>
                      <a:endParaRPr lang="en-US" sz="84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4"/>
          <p:cNvSpPr/>
          <p:nvPr/>
        </p:nvSpPr>
        <p:spPr>
          <a:xfrm>
            <a:off x="594360" y="5257800"/>
            <a:ext cx="10835640" cy="548640"/>
          </a:xfrm>
          <a:prstGeom prst="roundRect">
            <a:avLst>
              <a:gd name="adj" fmla="val 13333"/>
            </a:avLst>
          </a:prstGeom>
          <a:solidFill>
            <a:srgbClr val="EAF6EF"/>
          </a:solidFill>
          <a:ln w="12700">
            <a:solidFill>
              <a:srgbClr val="D6DEE6"/>
            </a:solidFill>
            <a:prstDash val="solid"/>
          </a:ln>
        </p:spPr>
        <p:txBody>
          <a:bodyPr/>
          <a:lstStyle/>
          <a:p>
            <a:endParaRPr lang="vi-VN"/>
          </a:p>
        </p:txBody>
      </p:sp>
      <p:sp>
        <p:nvSpPr>
          <p:cNvPr id="9" name="Text 5"/>
          <p:cNvSpPr/>
          <p:nvPr/>
        </p:nvSpPr>
        <p:spPr>
          <a:xfrm>
            <a:off x="822960" y="5431536"/>
            <a:ext cx="10378440" cy="164592"/>
          </a:xfrm>
          <a:prstGeom prst="rect">
            <a:avLst/>
          </a:prstGeom>
          <a:noFill/>
          <a:ln/>
        </p:spPr>
        <p:txBody>
          <a:bodyPr wrap="square" lIns="0" tIns="0" rIns="0" bIns="0" rtlCol="0" anchor="ctr">
            <a:normAutofit/>
          </a:bodyPr>
          <a:lstStyle/>
          <a:p>
            <a:pPr marL="0" indent="0">
              <a:buNone/>
            </a:pPr>
            <a:r>
              <a:rPr lang="en-US" sz="920" dirty="0">
                <a:solidFill>
                  <a:srgbClr val="1F2D3D"/>
                </a:solidFill>
              </a:rPr>
              <a:t>Quy trình: ESA WorldCover 10 m → clip Huế → nearest-neighbor về 30 m → ánh xạ mã lớp phủ sang Manning n.</a:t>
            </a:r>
            <a:endParaRPr lang="en-US" sz="920" dirty="0"/>
          </a:p>
        </p:txBody>
      </p:sp>
      <p:sp>
        <p:nvSpPr>
          <p:cNvPr id="10" name="Text 6"/>
          <p:cNvSpPr/>
          <p:nvPr/>
        </p:nvSpPr>
        <p:spPr>
          <a:xfrm>
            <a:off x="594360" y="5056632"/>
            <a:ext cx="5074920" cy="201168"/>
          </a:xfrm>
          <a:prstGeom prst="rect">
            <a:avLst/>
          </a:prstGeom>
          <a:noFill/>
          <a:ln/>
        </p:spPr>
        <p:txBody>
          <a:bodyPr wrap="square" lIns="0" tIns="0" rIns="0" bIns="0" rtlCol="0" anchor="ctr"/>
          <a:lstStyle/>
          <a:p>
            <a:pPr marL="0" indent="0" algn="ctr">
              <a:buNone/>
            </a:pPr>
            <a:r>
              <a:rPr lang="en-US" sz="750" i="1" dirty="0" err="1">
                <a:solidFill>
                  <a:srgbClr val="5D6D7E"/>
                </a:solidFill>
              </a:rPr>
              <a:t>Bản</a:t>
            </a:r>
            <a:r>
              <a:rPr lang="en-US" sz="750" i="1" dirty="0">
                <a:solidFill>
                  <a:srgbClr val="5D6D7E"/>
                </a:solidFill>
              </a:rPr>
              <a:t> đồ lớp phủ ESA WorldCover 2021 tại Huế</a:t>
            </a:r>
            <a:endParaRPr lang="en-US" sz="750" dirty="0"/>
          </a:p>
        </p:txBody>
      </p:sp>
      <p:sp>
        <p:nvSpPr>
          <p:cNvPr id="11" name="Shape 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2" name="Text 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3" name="Text 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16</a:t>
            </a:r>
            <a:endParaRPr lang="en-US" sz="850" dirty="0"/>
          </a:p>
        </p:txBody>
      </p:sp>
      <p:pic>
        <p:nvPicPr>
          <p:cNvPr id="14" name="Picture 13" descr="image1.png">
            <a:extLst>
              <a:ext uri="{FF2B5EF4-FFF2-40B4-BE49-F238E27FC236}">
                <a16:creationId xmlns:a16="http://schemas.microsoft.com/office/drawing/2014/main" id="{96B03A67-78B5-AB34-006F-82C8A74FA5E6}"/>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Dữ liệu mưa sự kiện lũ 11/1999</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err="1">
                <a:solidFill>
                  <a:srgbClr val="5D6D7E"/>
                </a:solidFill>
              </a:rPr>
              <a:t>Đặc</a:t>
            </a:r>
            <a:r>
              <a:rPr lang="en-US" sz="1050" dirty="0">
                <a:solidFill>
                  <a:srgbClr val="5D6D7E"/>
                </a:solidFill>
              </a:rPr>
              <a:t> </a:t>
            </a:r>
            <a:r>
              <a:rPr lang="en-US" sz="1050" dirty="0" err="1">
                <a:solidFill>
                  <a:srgbClr val="5D6D7E"/>
                </a:solidFill>
              </a:rPr>
              <a:t>trưng</a:t>
            </a:r>
            <a:r>
              <a:rPr lang="en-US" sz="1050" dirty="0">
                <a:solidFill>
                  <a:srgbClr val="5D6D7E"/>
                </a:solidFill>
              </a:rPr>
              <a:t> khí tượng duy nhất trong bộ 16 biến gốc.</a:t>
            </a:r>
            <a:endParaRPr lang="en-US" sz="1050" dirty="0"/>
          </a:p>
        </p:txBody>
      </p:sp>
      <p:sp>
        <p:nvSpPr>
          <p:cNvPr id="5" name="Shape 3"/>
          <p:cNvSpPr/>
          <p:nvPr/>
        </p:nvSpPr>
        <p:spPr>
          <a:xfrm>
            <a:off x="594360" y="1143000"/>
            <a:ext cx="5577840" cy="3977640"/>
          </a:xfrm>
          <a:prstGeom prst="roundRect">
            <a:avLst>
              <a:gd name="adj" fmla="val 1839"/>
            </a:avLst>
          </a:prstGeom>
          <a:solidFill>
            <a:srgbClr val="FFFFFF"/>
          </a:solidFill>
          <a:ln w="12700">
            <a:solidFill>
              <a:srgbClr val="D6DEE6"/>
            </a:solidFill>
            <a:prstDash val="solid"/>
          </a:ln>
        </p:spPr>
        <p:txBody>
          <a:bodyPr/>
          <a:lstStyle/>
          <a:p>
            <a:endParaRPr lang="vi-VN"/>
          </a:p>
        </p:txBody>
      </p:sp>
      <p:pic>
        <p:nvPicPr>
          <p:cNvPr id="6" name="Image 0" descr="/mnt/data/deck_assets_new/p66_img1.png"/>
          <p:cNvPicPr>
            <a:picLocks noChangeAspect="1"/>
          </p:cNvPicPr>
          <p:nvPr/>
        </p:nvPicPr>
        <p:blipFill>
          <a:blip r:embed="rId3"/>
          <a:stretch>
            <a:fillRect/>
          </a:stretch>
        </p:blipFill>
        <p:spPr>
          <a:xfrm>
            <a:off x="594360" y="1158293"/>
            <a:ext cx="5577840" cy="3947054"/>
          </a:xfrm>
          <a:prstGeom prst="rect">
            <a:avLst/>
          </a:prstGeom>
        </p:spPr>
      </p:pic>
      <p:sp>
        <p:nvSpPr>
          <p:cNvPr id="7" name="Shape 4"/>
          <p:cNvSpPr/>
          <p:nvPr/>
        </p:nvSpPr>
        <p:spPr>
          <a:xfrm>
            <a:off x="6446520" y="1234440"/>
            <a:ext cx="4937760" cy="1143000"/>
          </a:xfrm>
          <a:prstGeom prst="roundRect">
            <a:avLst>
              <a:gd name="adj" fmla="val 6400"/>
            </a:avLst>
          </a:prstGeom>
          <a:solidFill>
            <a:srgbClr val="EAF3F8"/>
          </a:solidFill>
          <a:ln w="12700">
            <a:solidFill>
              <a:srgbClr val="D6DEE6"/>
            </a:solidFill>
            <a:prstDash val="solid"/>
          </a:ln>
        </p:spPr>
        <p:txBody>
          <a:bodyPr/>
          <a:lstStyle/>
          <a:p>
            <a:endParaRPr lang="vi-VN"/>
          </a:p>
        </p:txBody>
      </p:sp>
      <p:sp>
        <p:nvSpPr>
          <p:cNvPr id="8" name="Text 5"/>
          <p:cNvSpPr/>
          <p:nvPr/>
        </p:nvSpPr>
        <p:spPr>
          <a:xfrm>
            <a:off x="6720840" y="1417320"/>
            <a:ext cx="4297680" cy="228600"/>
          </a:xfrm>
          <a:prstGeom prst="rect">
            <a:avLst/>
          </a:prstGeom>
          <a:noFill/>
          <a:ln/>
        </p:spPr>
        <p:txBody>
          <a:bodyPr wrap="square" lIns="0" tIns="0" rIns="0" bIns="0" rtlCol="0" anchor="ctr"/>
          <a:lstStyle/>
          <a:p>
            <a:pPr marL="0" indent="0">
              <a:buNone/>
            </a:pPr>
            <a:r>
              <a:rPr lang="en-US" sz="1500" b="1" dirty="0">
                <a:solidFill>
                  <a:srgbClr val="0B3C5D"/>
                </a:solidFill>
              </a:rPr>
              <a:t>Nguồn dữ liệu</a:t>
            </a:r>
            <a:endParaRPr lang="en-US" sz="1500" dirty="0"/>
          </a:p>
        </p:txBody>
      </p:sp>
      <p:sp>
        <p:nvSpPr>
          <p:cNvPr id="9" name="Text 6"/>
          <p:cNvSpPr/>
          <p:nvPr/>
        </p:nvSpPr>
        <p:spPr>
          <a:xfrm>
            <a:off x="6720840" y="1737360"/>
            <a:ext cx="4160520" cy="365760"/>
          </a:xfrm>
          <a:prstGeom prst="rect">
            <a:avLst/>
          </a:prstGeom>
          <a:noFill/>
          <a:ln/>
        </p:spPr>
        <p:txBody>
          <a:bodyPr wrap="square" lIns="0" tIns="0" rIns="0" bIns="0" rtlCol="0" anchor="ctr">
            <a:normAutofit/>
          </a:bodyPr>
          <a:lstStyle/>
          <a:p>
            <a:pPr marL="0" indent="0">
              <a:buNone/>
            </a:pPr>
            <a:r>
              <a:rPr lang="en-US" sz="1030" dirty="0">
                <a:solidFill>
                  <a:srgbClr val="1F2D3D"/>
                </a:solidFill>
              </a:rPr>
              <a:t>Tổng lượng mưa tích lũy 01–06/11/1999 từ 5 trạm: A Lưới, Nam Đông, Huế, Phú Bài, Truồi.</a:t>
            </a:r>
            <a:endParaRPr lang="en-US" sz="1030" dirty="0"/>
          </a:p>
        </p:txBody>
      </p:sp>
      <p:sp>
        <p:nvSpPr>
          <p:cNvPr id="10" name="Shape 7"/>
          <p:cNvSpPr/>
          <p:nvPr/>
        </p:nvSpPr>
        <p:spPr>
          <a:xfrm>
            <a:off x="6446520" y="2633472"/>
            <a:ext cx="4937760" cy="1143000"/>
          </a:xfrm>
          <a:prstGeom prst="roundRect">
            <a:avLst>
              <a:gd name="adj" fmla="val 6400"/>
            </a:avLst>
          </a:prstGeom>
          <a:solidFill>
            <a:srgbClr val="EAF6EF"/>
          </a:solidFill>
          <a:ln w="12700">
            <a:solidFill>
              <a:srgbClr val="D6DEE6"/>
            </a:solidFill>
            <a:prstDash val="solid"/>
          </a:ln>
        </p:spPr>
        <p:txBody>
          <a:bodyPr/>
          <a:lstStyle/>
          <a:p>
            <a:endParaRPr lang="vi-VN"/>
          </a:p>
        </p:txBody>
      </p:sp>
      <p:sp>
        <p:nvSpPr>
          <p:cNvPr id="11" name="Text 8"/>
          <p:cNvSpPr/>
          <p:nvPr/>
        </p:nvSpPr>
        <p:spPr>
          <a:xfrm>
            <a:off x="6720840" y="2816352"/>
            <a:ext cx="4297680" cy="228600"/>
          </a:xfrm>
          <a:prstGeom prst="rect">
            <a:avLst/>
          </a:prstGeom>
          <a:noFill/>
          <a:ln/>
        </p:spPr>
        <p:txBody>
          <a:bodyPr wrap="square" lIns="0" tIns="0" rIns="0" bIns="0" rtlCol="0" anchor="ctr"/>
          <a:lstStyle/>
          <a:p>
            <a:pPr marL="0" indent="0">
              <a:buNone/>
            </a:pPr>
            <a:r>
              <a:rPr lang="en-US" sz="1500" b="1" dirty="0">
                <a:solidFill>
                  <a:srgbClr val="1D7A48"/>
                </a:solidFill>
              </a:rPr>
              <a:t>Nội suy IDW</a:t>
            </a:r>
            <a:endParaRPr lang="en-US" sz="1500" dirty="0"/>
          </a:p>
        </p:txBody>
      </p:sp>
      <p:sp>
        <p:nvSpPr>
          <p:cNvPr id="12" name="Text 9"/>
          <p:cNvSpPr/>
          <p:nvPr/>
        </p:nvSpPr>
        <p:spPr>
          <a:xfrm>
            <a:off x="6720840" y="3136392"/>
            <a:ext cx="4160520" cy="411480"/>
          </a:xfrm>
          <a:prstGeom prst="rect">
            <a:avLst/>
          </a:prstGeom>
          <a:noFill/>
          <a:ln/>
        </p:spPr>
        <p:txBody>
          <a:bodyPr wrap="square" lIns="0" tIns="0" rIns="0" bIns="0" rtlCol="0" anchor="ctr">
            <a:normAutofit/>
          </a:bodyPr>
          <a:lstStyle/>
          <a:p>
            <a:pPr marL="0" indent="0">
              <a:buNone/>
            </a:pPr>
            <a:r>
              <a:rPr lang="en-US" sz="1000" dirty="0">
                <a:solidFill>
                  <a:srgbClr val="1F2D3D"/>
                </a:solidFill>
              </a:rPr>
              <a:t>P(p) = ΣwᵢPᵢ / Σwᵢ, với wᵢ = 1/d(p,sᵢ)^β; đồ án sử dụng β=2 để trạm gần ảnh hưởng mạnh hơn.</a:t>
            </a:r>
            <a:endParaRPr lang="en-US" sz="1000" dirty="0"/>
          </a:p>
        </p:txBody>
      </p:sp>
      <p:sp>
        <p:nvSpPr>
          <p:cNvPr id="13" name="Shape 10"/>
          <p:cNvSpPr/>
          <p:nvPr/>
        </p:nvSpPr>
        <p:spPr>
          <a:xfrm>
            <a:off x="6446520" y="4041648"/>
            <a:ext cx="4937760" cy="1078992"/>
          </a:xfrm>
          <a:prstGeom prst="roundRect">
            <a:avLst>
              <a:gd name="adj" fmla="val 6780"/>
            </a:avLst>
          </a:prstGeom>
          <a:solidFill>
            <a:srgbClr val="FFF3E8"/>
          </a:solidFill>
          <a:ln w="12700">
            <a:solidFill>
              <a:srgbClr val="D6DEE6"/>
            </a:solidFill>
            <a:prstDash val="solid"/>
          </a:ln>
        </p:spPr>
        <p:txBody>
          <a:bodyPr/>
          <a:lstStyle/>
          <a:p>
            <a:endParaRPr lang="vi-VN"/>
          </a:p>
        </p:txBody>
      </p:sp>
      <p:sp>
        <p:nvSpPr>
          <p:cNvPr id="14" name="Text 11"/>
          <p:cNvSpPr/>
          <p:nvPr/>
        </p:nvSpPr>
        <p:spPr>
          <a:xfrm>
            <a:off x="6720840" y="4224528"/>
            <a:ext cx="4297680" cy="228600"/>
          </a:xfrm>
          <a:prstGeom prst="rect">
            <a:avLst/>
          </a:prstGeom>
          <a:noFill/>
          <a:ln/>
        </p:spPr>
        <p:txBody>
          <a:bodyPr wrap="square" lIns="0" tIns="0" rIns="0" bIns="0" rtlCol="0" anchor="ctr"/>
          <a:lstStyle/>
          <a:p>
            <a:pPr marL="0" indent="0">
              <a:buNone/>
            </a:pPr>
            <a:r>
              <a:rPr lang="en-US" sz="1500" b="1" dirty="0">
                <a:solidFill>
                  <a:srgbClr val="E87E22"/>
                </a:solidFill>
              </a:rPr>
              <a:t>Vai trò</a:t>
            </a:r>
            <a:endParaRPr lang="en-US" sz="1500" dirty="0"/>
          </a:p>
        </p:txBody>
      </p:sp>
      <p:sp>
        <p:nvSpPr>
          <p:cNvPr id="15" name="Text 12"/>
          <p:cNvSpPr/>
          <p:nvPr/>
        </p:nvSpPr>
        <p:spPr>
          <a:xfrm>
            <a:off x="6720840" y="4544568"/>
            <a:ext cx="4160520" cy="320040"/>
          </a:xfrm>
          <a:prstGeom prst="rect">
            <a:avLst/>
          </a:prstGeom>
          <a:noFill/>
          <a:ln/>
        </p:spPr>
        <p:txBody>
          <a:bodyPr wrap="square" lIns="0" tIns="0" rIns="0" bIns="0" rtlCol="0" anchor="ctr">
            <a:normAutofit/>
          </a:bodyPr>
          <a:lstStyle/>
          <a:p>
            <a:pPr marL="0" indent="0">
              <a:buNone/>
            </a:pPr>
            <a:r>
              <a:rPr lang="en-US" sz="1030" dirty="0">
                <a:solidFill>
                  <a:srgbClr val="1F2D3D"/>
                </a:solidFill>
              </a:rPr>
              <a:t>precip_s_1 bổ sung yếu tố động lực gây lũ; được tái lấy mẫu về raster 30 m để đồng nhất với các lớp khác.</a:t>
            </a:r>
            <a:endParaRPr lang="en-US" sz="1030" dirty="0"/>
          </a:p>
        </p:txBody>
      </p:sp>
      <p:sp>
        <p:nvSpPr>
          <p:cNvPr id="16" name="Text 13"/>
          <p:cNvSpPr/>
          <p:nvPr/>
        </p:nvSpPr>
        <p:spPr>
          <a:xfrm>
            <a:off x="594360" y="5257800"/>
            <a:ext cx="5577840" cy="201168"/>
          </a:xfrm>
          <a:prstGeom prst="rect">
            <a:avLst/>
          </a:prstGeom>
          <a:noFill/>
          <a:ln/>
        </p:spPr>
        <p:txBody>
          <a:bodyPr wrap="square" lIns="0" tIns="0" rIns="0" bIns="0" rtlCol="0" anchor="ctr"/>
          <a:lstStyle/>
          <a:p>
            <a:pPr marL="0" indent="0" algn="ctr">
              <a:buNone/>
            </a:pPr>
            <a:r>
              <a:rPr lang="en-US" sz="750" i="1" dirty="0" err="1">
                <a:solidFill>
                  <a:srgbClr val="5D6D7E"/>
                </a:solidFill>
              </a:rPr>
              <a:t>Bản</a:t>
            </a:r>
            <a:r>
              <a:rPr lang="en-US" sz="750" i="1" dirty="0">
                <a:solidFill>
                  <a:srgbClr val="5D6D7E"/>
                </a:solidFill>
              </a:rPr>
              <a:t> đồ mưa tích lũy sự kiện lũ tháng 11/1999</a:t>
            </a:r>
            <a:endParaRPr lang="en-US" sz="750" dirty="0"/>
          </a:p>
        </p:txBody>
      </p:sp>
      <p:sp>
        <p:nvSpPr>
          <p:cNvPr id="17" name="Shape 14"/>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8" name="Text 15"/>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9" name="Text 16"/>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17</a:t>
            </a:r>
            <a:endParaRPr lang="en-US" sz="850" dirty="0"/>
          </a:p>
        </p:txBody>
      </p:sp>
      <p:pic>
        <p:nvPicPr>
          <p:cNvPr id="21" name="Picture 20" descr="image1.png">
            <a:extLst>
              <a:ext uri="{FF2B5EF4-FFF2-40B4-BE49-F238E27FC236}">
                <a16:creationId xmlns:a16="http://schemas.microsoft.com/office/drawing/2014/main" id="{70F8F6E0-F8F1-567C-FD17-0BAB67C2E66C}"/>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15 biến </a:t>
            </a:r>
            <a:r>
              <a:rPr lang="en-US" sz="2400" b="1" dirty="0" err="1">
                <a:solidFill>
                  <a:srgbClr val="0B3C5D"/>
                </a:solidFill>
              </a:rPr>
              <a:t>tương</a:t>
            </a:r>
            <a:r>
              <a:rPr lang="en-US" sz="2400" b="1" dirty="0">
                <a:solidFill>
                  <a:srgbClr val="0B3C5D"/>
                </a:solidFill>
              </a:rPr>
              <a:t> </a:t>
            </a:r>
            <a:r>
              <a:rPr lang="en-US" sz="2400" b="1" dirty="0" err="1">
                <a:solidFill>
                  <a:srgbClr val="0B3C5D"/>
                </a:solidFill>
              </a:rPr>
              <a:t>tác</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Các biến này giúp mô hình học quan hệ phi tuyến và tương tác giữa địa hình – dòng chảy – lớp phủ – mưa.</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297762721"/>
              </p:ext>
            </p:extLst>
          </p:nvPr>
        </p:nvGraphicFramePr>
        <p:xfrm>
          <a:off x="548640" y="1085180"/>
          <a:ext cx="11109960" cy="4206237"/>
        </p:xfrm>
        <a:graphic>
          <a:graphicData uri="http://schemas.openxmlformats.org/drawingml/2006/table">
            <a:tbl>
              <a:tblPr/>
              <a:tblGrid>
                <a:gridCol w="370332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600891">
                <a:tc>
                  <a:txBody>
                    <a:bodyPr/>
                    <a:lstStyle/>
                    <a:p>
                      <a:pPr marL="0" indent="0">
                        <a:buNone/>
                      </a:pPr>
                      <a:r>
                        <a:rPr lang="en-US" sz="820" b="1" dirty="0">
                          <a:solidFill>
                            <a:srgbClr val="FFFFFF"/>
                          </a:solidFill>
                        </a:rPr>
                        <a:t>Nhóm</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20" b="1" dirty="0">
                          <a:solidFill>
                            <a:srgbClr val="FFFFFF"/>
                          </a:solidFill>
                        </a:rPr>
                        <a:t>Biến tương tác</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20" b="1" dirty="0">
                          <a:solidFill>
                            <a:srgbClr val="FFFFFF"/>
                          </a:solidFill>
                        </a:rPr>
                        <a:t>Ý nghĩa</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600891">
                <a:tc>
                  <a:txBody>
                    <a:bodyPr/>
                    <a:lstStyle/>
                    <a:p>
                      <a:pPr marL="0" indent="0">
                        <a:buNone/>
                      </a:pPr>
                      <a:r>
                        <a:rPr lang="en-US" sz="820" dirty="0">
                          <a:solidFill>
                            <a:srgbClr val="1F2D3D"/>
                          </a:solidFill>
                        </a:rPr>
                        <a:t>DEM-related</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dem_squared, dem_x_slope, dem_x_twi, dem_x_dist, dem_x_hand</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Nhấn mạnh độ cao và mối quan hệ của DEM với dốc, ẩm, khoảng cách sông và HAND</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0891">
                <a:tc>
                  <a:txBody>
                    <a:bodyPr/>
                    <a:lstStyle/>
                    <a:p>
                      <a:pPr marL="0" indent="0">
                        <a:buNone/>
                      </a:pPr>
                      <a:r>
                        <a:rPr lang="en-US" sz="820" dirty="0">
                          <a:solidFill>
                            <a:srgbClr val="1F2D3D"/>
                          </a:solidFill>
                        </a:rPr>
                        <a:t>Distance/TWI</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dist_squared, dist_x_twi</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Mô tả suy giảm rủi ro theo khoảng cách và tương tác xa/gần sông với tích ẩm</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0891">
                <a:tc>
                  <a:txBody>
                    <a:bodyPr/>
                    <a:lstStyle/>
                    <a:p>
                      <a:pPr marL="0" indent="0">
                        <a:buNone/>
                      </a:pPr>
                      <a:r>
                        <a:rPr lang="en-US" sz="820" dirty="0">
                          <a:solidFill>
                            <a:srgbClr val="1F2D3D"/>
                          </a:solidFill>
                        </a:rPr>
                        <a:t>Rainfall</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rain_x_slope, rain_x_twi, rain_x_flow</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Mưa kết hợp với dốc, khả năng tích ẩm và dòng tập trung</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0891">
                <a:tc>
                  <a:txBody>
                    <a:bodyPr/>
                    <a:lstStyle/>
                    <a:p>
                      <a:pPr marL="0" indent="0">
                        <a:buNone/>
                      </a:pPr>
                      <a:r>
                        <a:rPr lang="en-US" sz="820" dirty="0">
                          <a:solidFill>
                            <a:srgbClr val="1F2D3D"/>
                          </a:solidFill>
                        </a:rPr>
                        <a:t>Flow/Slope</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flow_x_slope</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Dòng tập trung trên bề mặt dốc → động lực dòng chảy mạnh hơn</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0891">
                <a:tc>
                  <a:txBody>
                    <a:bodyPr/>
                    <a:lstStyle/>
                    <a:p>
                      <a:pPr marL="0" indent="0">
                        <a:buNone/>
                      </a:pPr>
                      <a:r>
                        <a:rPr lang="en-US" sz="820" dirty="0">
                          <a:solidFill>
                            <a:srgbClr val="1F2D3D"/>
                          </a:solidFill>
                        </a:rPr>
                        <a:t>Manning</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manning_x_hand, manning_x_flow</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Ma sát bề mặt kết hợp độ cao tương đối và lượng dòng tập trung</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0891">
                <a:tc>
                  <a:txBody>
                    <a:bodyPr/>
                    <a:lstStyle/>
                    <a:p>
                      <a:pPr marL="0" indent="0">
                        <a:buNone/>
                      </a:pPr>
                      <a:r>
                        <a:rPr lang="en-US" sz="820" dirty="0">
                          <a:solidFill>
                            <a:srgbClr val="1F2D3D"/>
                          </a:solidFill>
                        </a:rPr>
                        <a:t>Hydraulic proxy</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conveyance, resistance</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20" dirty="0">
                          <a:solidFill>
                            <a:srgbClr val="1F2D3D"/>
                          </a:solidFill>
                        </a:rPr>
                        <a:t>Conveyance ≈ (1/n)√slope; resistance là đại diện sức cản dòng chảy</a:t>
                      </a:r>
                      <a:endParaRPr lang="en-US" sz="82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731520" y="5513832"/>
            <a:ext cx="10744200" cy="502920"/>
          </a:xfrm>
          <a:prstGeom prst="roundRect">
            <a:avLst>
              <a:gd name="adj" fmla="val 14545"/>
            </a:avLst>
          </a:prstGeom>
          <a:solidFill>
            <a:srgbClr val="FFF3E8"/>
          </a:solidFill>
          <a:ln w="12700">
            <a:solidFill>
              <a:srgbClr val="D6DEE6"/>
            </a:solidFill>
            <a:prstDash val="solid"/>
          </a:ln>
        </p:spPr>
        <p:txBody>
          <a:bodyPr/>
          <a:lstStyle/>
          <a:p>
            <a:endParaRPr lang="vi-VN"/>
          </a:p>
        </p:txBody>
      </p:sp>
      <p:sp>
        <p:nvSpPr>
          <p:cNvPr id="7" name="Text 4"/>
          <p:cNvSpPr/>
          <p:nvPr/>
        </p:nvSpPr>
        <p:spPr>
          <a:xfrm>
            <a:off x="960120" y="5678424"/>
            <a:ext cx="10287000" cy="155448"/>
          </a:xfrm>
          <a:prstGeom prst="rect">
            <a:avLst/>
          </a:prstGeom>
          <a:noFill/>
          <a:ln/>
        </p:spPr>
        <p:txBody>
          <a:bodyPr wrap="square" lIns="0" tIns="0" rIns="0" bIns="0" rtlCol="0" anchor="ctr">
            <a:normAutofit/>
          </a:bodyPr>
          <a:lstStyle/>
          <a:p>
            <a:pPr marL="0" indent="0">
              <a:buNone/>
            </a:pPr>
            <a:r>
              <a:rPr lang="en-US" sz="870" dirty="0" err="1">
                <a:solidFill>
                  <a:srgbClr val="1F2D3D"/>
                </a:solidFill>
              </a:rPr>
              <a:t>Kết</a:t>
            </a:r>
            <a:r>
              <a:rPr lang="en-US" sz="870" dirty="0">
                <a:solidFill>
                  <a:srgbClr val="1F2D3D"/>
                </a:solidFill>
              </a:rPr>
              <a:t> </a:t>
            </a:r>
            <a:r>
              <a:rPr lang="en-US" sz="870" dirty="0" err="1">
                <a:solidFill>
                  <a:srgbClr val="1F2D3D"/>
                </a:solidFill>
              </a:rPr>
              <a:t>quả</a:t>
            </a:r>
            <a:r>
              <a:rPr lang="en-US" sz="870" dirty="0">
                <a:solidFill>
                  <a:srgbClr val="1F2D3D"/>
                </a:solidFill>
              </a:rPr>
              <a:t> cho thấy nhiều biến tương tác như dem_x_twi, dem_squared, dem_x_slope, dem_x_dist, manning_x_hand nằm trong nhóm quan trọng nhất, chứng minh giá trị của feature engineering.</a:t>
            </a:r>
            <a:endParaRPr lang="en-US" sz="870" dirty="0"/>
          </a:p>
        </p:txBody>
      </p:sp>
      <p:sp>
        <p:nvSpPr>
          <p:cNvPr id="8" name="Shape 5"/>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9" name="Text 6"/>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0" name="Text 7"/>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18</a:t>
            </a:r>
            <a:endParaRPr lang="en-US" sz="850" dirty="0"/>
          </a:p>
        </p:txBody>
      </p:sp>
      <p:pic>
        <p:nvPicPr>
          <p:cNvPr id="11" name="Picture 10" descr="image1.png">
            <a:extLst>
              <a:ext uri="{FF2B5EF4-FFF2-40B4-BE49-F238E27FC236}">
                <a16:creationId xmlns:a16="http://schemas.microsoft.com/office/drawing/2014/main" id="{7E970832-EAEF-37F9-2D7E-82DB7B9817C3}"/>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Kiến trúc </a:t>
            </a:r>
            <a:r>
              <a:rPr lang="en-US" sz="2400" b="1" dirty="0" err="1">
                <a:solidFill>
                  <a:srgbClr val="0B3C5D"/>
                </a:solidFill>
              </a:rPr>
              <a:t>mô</a:t>
            </a:r>
            <a:r>
              <a:rPr lang="en-US" sz="2400" b="1" dirty="0">
                <a:solidFill>
                  <a:srgbClr val="0B3C5D"/>
                </a:solidFill>
              </a:rPr>
              <a:t> </a:t>
            </a:r>
            <a:r>
              <a:rPr lang="en-US" sz="2400" b="1" dirty="0" err="1">
                <a:solidFill>
                  <a:srgbClr val="0B3C5D"/>
                </a:solidFill>
              </a:rPr>
              <a:t>hình</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Ba mô hình được huấn luyện trên cùng bộ dữ liệu để so </a:t>
            </a:r>
            <a:r>
              <a:rPr lang="en-US" sz="1050" dirty="0" err="1">
                <a:solidFill>
                  <a:srgbClr val="5D6D7E"/>
                </a:solidFill>
              </a:rPr>
              <a:t>sánh</a:t>
            </a:r>
            <a:r>
              <a:rPr lang="en-US" sz="1050" dirty="0">
                <a:solidFill>
                  <a:srgbClr val="5D6D7E"/>
                </a:solidFill>
              </a:rPr>
              <a:t>.</a:t>
            </a:r>
            <a:endParaRPr lang="en-US" sz="1050" dirty="0"/>
          </a:p>
        </p:txBody>
      </p:sp>
      <p:sp>
        <p:nvSpPr>
          <p:cNvPr id="5" name="Shape 3"/>
          <p:cNvSpPr/>
          <p:nvPr/>
        </p:nvSpPr>
        <p:spPr>
          <a:xfrm>
            <a:off x="685800" y="2093712"/>
            <a:ext cx="3383280" cy="3337560"/>
          </a:xfrm>
          <a:prstGeom prst="roundRect">
            <a:avLst>
              <a:gd name="adj" fmla="val 2192"/>
            </a:avLst>
          </a:prstGeom>
          <a:solidFill>
            <a:srgbClr val="EAF3F8"/>
          </a:solidFill>
          <a:ln w="12700">
            <a:solidFill>
              <a:srgbClr val="D6DEE6"/>
            </a:solidFill>
            <a:prstDash val="solid"/>
          </a:ln>
        </p:spPr>
        <p:txBody>
          <a:bodyPr/>
          <a:lstStyle/>
          <a:p>
            <a:endParaRPr lang="vi-VN"/>
          </a:p>
        </p:txBody>
      </p:sp>
      <p:sp>
        <p:nvSpPr>
          <p:cNvPr id="6" name="Text 4"/>
          <p:cNvSpPr/>
          <p:nvPr/>
        </p:nvSpPr>
        <p:spPr>
          <a:xfrm>
            <a:off x="914400" y="2386320"/>
            <a:ext cx="2926080" cy="274320"/>
          </a:xfrm>
          <a:prstGeom prst="rect">
            <a:avLst/>
          </a:prstGeom>
          <a:noFill/>
          <a:ln/>
        </p:spPr>
        <p:txBody>
          <a:bodyPr wrap="square" lIns="0" tIns="0" rIns="0" bIns="0" rtlCol="0" anchor="ctr"/>
          <a:lstStyle/>
          <a:p>
            <a:pPr marL="0" indent="0" algn="ctr">
              <a:buNone/>
            </a:pPr>
            <a:r>
              <a:rPr lang="en-US" sz="1800" b="1" dirty="0">
                <a:solidFill>
                  <a:srgbClr val="0B3C5D"/>
                </a:solidFill>
              </a:rPr>
              <a:t>Random Forest</a:t>
            </a:r>
            <a:endParaRPr lang="en-US" sz="1800" dirty="0"/>
          </a:p>
        </p:txBody>
      </p:sp>
      <p:sp>
        <p:nvSpPr>
          <p:cNvPr id="7" name="Text 5"/>
          <p:cNvSpPr/>
          <p:nvPr/>
        </p:nvSpPr>
        <p:spPr>
          <a:xfrm>
            <a:off x="941832" y="2962392"/>
            <a:ext cx="2880360" cy="777240"/>
          </a:xfrm>
          <a:prstGeom prst="rect">
            <a:avLst/>
          </a:prstGeom>
          <a:noFill/>
          <a:ln/>
        </p:spPr>
        <p:txBody>
          <a:bodyPr wrap="square" lIns="0" tIns="0" rIns="0" bIns="0" rtlCol="0" anchor="ctr">
            <a:normAutofit/>
          </a:bodyPr>
          <a:lstStyle/>
          <a:p>
            <a:pPr marL="0" indent="0">
              <a:buNone/>
            </a:pPr>
            <a:r>
              <a:rPr lang="en-US" sz="1020" dirty="0">
                <a:solidFill>
                  <a:srgbClr val="1F2D3D"/>
                </a:solidFill>
              </a:rPr>
              <a:t>500 cây; max_depth=20; m≈√31≈5; baseline mạnh cho dữ liệu bảng nhỏ.</a:t>
            </a:r>
            <a:endParaRPr lang="en-US" sz="1020" dirty="0"/>
          </a:p>
        </p:txBody>
      </p:sp>
      <p:sp>
        <p:nvSpPr>
          <p:cNvPr id="8" name="Text 6"/>
          <p:cNvSpPr/>
          <p:nvPr/>
        </p:nvSpPr>
        <p:spPr>
          <a:xfrm>
            <a:off x="941832" y="4059672"/>
            <a:ext cx="2880360" cy="685800"/>
          </a:xfrm>
          <a:prstGeom prst="rect">
            <a:avLst/>
          </a:prstGeom>
          <a:noFill/>
          <a:ln/>
        </p:spPr>
        <p:txBody>
          <a:bodyPr wrap="square" lIns="0" tIns="0" rIns="0" bIns="0" rtlCol="0" anchor="ctr">
            <a:normAutofit/>
          </a:bodyPr>
          <a:lstStyle/>
          <a:p>
            <a:pPr marL="0" indent="0">
              <a:buNone/>
            </a:pPr>
            <a:r>
              <a:rPr lang="en-US" sz="1020" dirty="0">
                <a:solidFill>
                  <a:srgbClr val="1F2D3D"/>
                </a:solidFill>
              </a:rPr>
              <a:t>Dễ diễn giải bằng feature importance; không hỗ trợ ràng buộc đơn điệu trực tiếp.</a:t>
            </a:r>
            <a:endParaRPr lang="en-US" sz="1020" dirty="0"/>
          </a:p>
        </p:txBody>
      </p:sp>
      <p:sp>
        <p:nvSpPr>
          <p:cNvPr id="9" name="Shape 7"/>
          <p:cNvSpPr/>
          <p:nvPr/>
        </p:nvSpPr>
        <p:spPr>
          <a:xfrm>
            <a:off x="4480560" y="2093712"/>
            <a:ext cx="3383280" cy="3337560"/>
          </a:xfrm>
          <a:prstGeom prst="roundRect">
            <a:avLst>
              <a:gd name="adj" fmla="val 2192"/>
            </a:avLst>
          </a:prstGeom>
          <a:solidFill>
            <a:srgbClr val="EAF6EF"/>
          </a:solidFill>
          <a:ln w="12700">
            <a:solidFill>
              <a:srgbClr val="D6DEE6"/>
            </a:solidFill>
            <a:prstDash val="solid"/>
          </a:ln>
        </p:spPr>
        <p:txBody>
          <a:bodyPr/>
          <a:lstStyle/>
          <a:p>
            <a:endParaRPr lang="vi-VN"/>
          </a:p>
        </p:txBody>
      </p:sp>
      <p:sp>
        <p:nvSpPr>
          <p:cNvPr id="10" name="Text 8"/>
          <p:cNvSpPr/>
          <p:nvPr/>
        </p:nvSpPr>
        <p:spPr>
          <a:xfrm>
            <a:off x="4709160" y="2386320"/>
            <a:ext cx="2926080" cy="274320"/>
          </a:xfrm>
          <a:prstGeom prst="rect">
            <a:avLst/>
          </a:prstGeom>
          <a:noFill/>
          <a:ln/>
        </p:spPr>
        <p:txBody>
          <a:bodyPr wrap="square" lIns="0" tIns="0" rIns="0" bIns="0" rtlCol="0" anchor="ctr"/>
          <a:lstStyle/>
          <a:p>
            <a:pPr marL="0" indent="0" algn="ctr">
              <a:buNone/>
            </a:pPr>
            <a:r>
              <a:rPr lang="en-US" sz="1800" b="1" dirty="0">
                <a:solidFill>
                  <a:srgbClr val="1D7A48"/>
                </a:solidFill>
              </a:rPr>
              <a:t>XGBoost-GPU</a:t>
            </a:r>
            <a:endParaRPr lang="en-US" sz="1800" dirty="0"/>
          </a:p>
        </p:txBody>
      </p:sp>
      <p:sp>
        <p:nvSpPr>
          <p:cNvPr id="11" name="Text 9"/>
          <p:cNvSpPr/>
          <p:nvPr/>
        </p:nvSpPr>
        <p:spPr>
          <a:xfrm>
            <a:off x="4736592" y="2962392"/>
            <a:ext cx="2880360" cy="777240"/>
          </a:xfrm>
          <a:prstGeom prst="rect">
            <a:avLst/>
          </a:prstGeom>
          <a:noFill/>
          <a:ln/>
        </p:spPr>
        <p:txBody>
          <a:bodyPr wrap="square" lIns="0" tIns="0" rIns="0" bIns="0" rtlCol="0" anchor="ctr">
            <a:normAutofit/>
          </a:bodyPr>
          <a:lstStyle/>
          <a:p>
            <a:pPr marL="0" indent="0">
              <a:buNone/>
            </a:pPr>
            <a:r>
              <a:rPr lang="en-US" sz="1020" dirty="0">
                <a:solidFill>
                  <a:srgbClr val="1F2D3D"/>
                </a:solidFill>
              </a:rPr>
              <a:t>Gradient boosting; learning rate 0,05; max_depth=8; early stopping; CUDA.</a:t>
            </a:r>
            <a:endParaRPr lang="en-US" sz="1020" dirty="0"/>
          </a:p>
        </p:txBody>
      </p:sp>
      <p:sp>
        <p:nvSpPr>
          <p:cNvPr id="12" name="Text 10"/>
          <p:cNvSpPr/>
          <p:nvPr/>
        </p:nvSpPr>
        <p:spPr>
          <a:xfrm>
            <a:off x="4736592" y="4059672"/>
            <a:ext cx="2880360" cy="685800"/>
          </a:xfrm>
          <a:prstGeom prst="rect">
            <a:avLst/>
          </a:prstGeom>
          <a:noFill/>
          <a:ln/>
        </p:spPr>
        <p:txBody>
          <a:bodyPr wrap="square" lIns="0" tIns="0" rIns="0" bIns="0" rtlCol="0" anchor="ctr">
            <a:normAutofit/>
          </a:bodyPr>
          <a:lstStyle/>
          <a:p>
            <a:pPr marL="0" indent="0">
              <a:buNone/>
            </a:pPr>
            <a:r>
              <a:rPr lang="en-US" sz="1020" dirty="0">
                <a:solidFill>
                  <a:srgbClr val="1F2D3D"/>
                </a:solidFill>
              </a:rPr>
              <a:t>.</a:t>
            </a:r>
            <a:endParaRPr lang="en-US" sz="1020" dirty="0"/>
          </a:p>
        </p:txBody>
      </p:sp>
      <p:sp>
        <p:nvSpPr>
          <p:cNvPr id="13" name="Shape 11"/>
          <p:cNvSpPr/>
          <p:nvPr/>
        </p:nvSpPr>
        <p:spPr>
          <a:xfrm>
            <a:off x="8275320" y="2093712"/>
            <a:ext cx="3383280" cy="3337560"/>
          </a:xfrm>
          <a:prstGeom prst="roundRect">
            <a:avLst>
              <a:gd name="adj" fmla="val 2192"/>
            </a:avLst>
          </a:prstGeom>
          <a:solidFill>
            <a:srgbClr val="FFF3E8"/>
          </a:solidFill>
          <a:ln w="12700">
            <a:solidFill>
              <a:srgbClr val="D6DEE6"/>
            </a:solidFill>
            <a:prstDash val="solid"/>
          </a:ln>
        </p:spPr>
        <p:txBody>
          <a:bodyPr/>
          <a:lstStyle/>
          <a:p>
            <a:endParaRPr lang="vi-VN"/>
          </a:p>
        </p:txBody>
      </p:sp>
      <p:sp>
        <p:nvSpPr>
          <p:cNvPr id="14" name="Text 12"/>
          <p:cNvSpPr/>
          <p:nvPr/>
        </p:nvSpPr>
        <p:spPr>
          <a:xfrm>
            <a:off x="8503920" y="2386320"/>
            <a:ext cx="2926080" cy="274320"/>
          </a:xfrm>
          <a:prstGeom prst="rect">
            <a:avLst/>
          </a:prstGeom>
          <a:noFill/>
          <a:ln/>
        </p:spPr>
        <p:txBody>
          <a:bodyPr wrap="square" lIns="0" tIns="0" rIns="0" bIns="0" rtlCol="0" anchor="ctr"/>
          <a:lstStyle/>
          <a:p>
            <a:pPr marL="0" indent="0" algn="ctr">
              <a:buNone/>
            </a:pPr>
            <a:r>
              <a:rPr lang="en-US" sz="1800" b="1" dirty="0">
                <a:solidFill>
                  <a:srgbClr val="E87E22"/>
                </a:solidFill>
              </a:rPr>
              <a:t>DNN</a:t>
            </a:r>
            <a:endParaRPr lang="en-US" sz="1800" dirty="0"/>
          </a:p>
        </p:txBody>
      </p:sp>
      <p:sp>
        <p:nvSpPr>
          <p:cNvPr id="15" name="Text 13"/>
          <p:cNvSpPr/>
          <p:nvPr/>
        </p:nvSpPr>
        <p:spPr>
          <a:xfrm>
            <a:off x="8531352" y="2962392"/>
            <a:ext cx="2880360" cy="777240"/>
          </a:xfrm>
          <a:prstGeom prst="rect">
            <a:avLst/>
          </a:prstGeom>
          <a:noFill/>
          <a:ln/>
        </p:spPr>
        <p:txBody>
          <a:bodyPr wrap="square" lIns="0" tIns="0" rIns="0" bIns="0" rtlCol="0" anchor="ctr">
            <a:normAutofit/>
          </a:bodyPr>
          <a:lstStyle/>
          <a:p>
            <a:pPr marL="0" indent="0">
              <a:buNone/>
            </a:pPr>
            <a:r>
              <a:rPr lang="en-US" sz="1020" dirty="0">
                <a:solidFill>
                  <a:srgbClr val="1F2D3D"/>
                </a:solidFill>
              </a:rPr>
              <a:t>MLP 256→128→64→32; ReLU; Dropout/L2; Huber loss; sigmoid×5 output.</a:t>
            </a:r>
            <a:endParaRPr lang="en-US" sz="1020" dirty="0"/>
          </a:p>
        </p:txBody>
      </p:sp>
      <p:sp>
        <p:nvSpPr>
          <p:cNvPr id="16" name="Text 14"/>
          <p:cNvSpPr/>
          <p:nvPr/>
        </p:nvSpPr>
        <p:spPr>
          <a:xfrm>
            <a:off x="8531352" y="4059672"/>
            <a:ext cx="2880360" cy="685800"/>
          </a:xfrm>
          <a:prstGeom prst="rect">
            <a:avLst/>
          </a:prstGeom>
          <a:noFill/>
          <a:ln/>
        </p:spPr>
        <p:txBody>
          <a:bodyPr wrap="square" lIns="0" tIns="0" rIns="0" bIns="0" rtlCol="0" anchor="ctr">
            <a:normAutofit/>
          </a:bodyPr>
          <a:lstStyle/>
          <a:p>
            <a:pPr marL="0" indent="0">
              <a:buNone/>
            </a:pPr>
            <a:r>
              <a:rPr lang="en-US" sz="1020" dirty="0">
                <a:solidFill>
                  <a:srgbClr val="1F2D3D"/>
                </a:solidFill>
              </a:rPr>
              <a:t>Đầu ra bị chặn trong [0,5] m, phù hợp dải vật lý của độ sâu ngập.</a:t>
            </a:r>
            <a:endParaRPr lang="en-US" sz="1020" dirty="0"/>
          </a:p>
        </p:txBody>
      </p:sp>
      <p:sp>
        <p:nvSpPr>
          <p:cNvPr id="20" name="Shape 18"/>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1" name="Text 19"/>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2" name="Text 20"/>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19</a:t>
            </a:r>
            <a:endParaRPr lang="en-US" sz="850" dirty="0"/>
          </a:p>
        </p:txBody>
      </p:sp>
      <p:pic>
        <p:nvPicPr>
          <p:cNvPr id="24" name="Picture 23" descr="image1.png">
            <a:extLst>
              <a:ext uri="{FF2B5EF4-FFF2-40B4-BE49-F238E27FC236}">
                <a16:creationId xmlns:a16="http://schemas.microsoft.com/office/drawing/2014/main" id="{8A97AE90-91D8-6231-8DB3-DE1546E61636}"/>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Random Forest: cấu hình và chỉ số</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Mô hình mạnh nhất về hiệu năng định lượng tổng thể.</a:t>
            </a:r>
            <a:endParaRPr lang="en-US" sz="1050" dirty="0"/>
          </a:p>
        </p:txBody>
      </p:sp>
      <p:sp>
        <p:nvSpPr>
          <p:cNvPr id="5" name="Shape 3"/>
          <p:cNvSpPr/>
          <p:nvPr/>
        </p:nvSpPr>
        <p:spPr>
          <a:xfrm>
            <a:off x="68580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6" name="Text 4"/>
          <p:cNvSpPr/>
          <p:nvPr/>
        </p:nvSpPr>
        <p:spPr>
          <a:xfrm>
            <a:off x="685800" y="1371600"/>
            <a:ext cx="1691640" cy="292608"/>
          </a:xfrm>
          <a:prstGeom prst="rect">
            <a:avLst/>
          </a:prstGeom>
          <a:noFill/>
          <a:ln/>
        </p:spPr>
        <p:txBody>
          <a:bodyPr wrap="square" lIns="0" tIns="0" rIns="0" bIns="0" rtlCol="0" anchor="ctr"/>
          <a:lstStyle/>
          <a:p>
            <a:pPr marL="0" indent="0" algn="ctr">
              <a:buNone/>
            </a:pPr>
            <a:r>
              <a:rPr lang="en-US" sz="2100" b="1" dirty="0">
                <a:solidFill>
                  <a:srgbClr val="0B3C5D"/>
                </a:solidFill>
              </a:rPr>
              <a:t>0,8946</a:t>
            </a:r>
            <a:endParaRPr lang="en-US" sz="2100" dirty="0"/>
          </a:p>
        </p:txBody>
      </p:sp>
      <p:sp>
        <p:nvSpPr>
          <p:cNvPr id="7" name="Text 5"/>
          <p:cNvSpPr/>
          <p:nvPr/>
        </p:nvSpPr>
        <p:spPr>
          <a:xfrm>
            <a:off x="73152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R² overall</a:t>
            </a:r>
            <a:endParaRPr lang="en-US" sz="900" dirty="0"/>
          </a:p>
        </p:txBody>
      </p:sp>
      <p:sp>
        <p:nvSpPr>
          <p:cNvPr id="8" name="Shape 6"/>
          <p:cNvSpPr/>
          <p:nvPr/>
        </p:nvSpPr>
        <p:spPr>
          <a:xfrm>
            <a:off x="260604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9" name="Text 7"/>
          <p:cNvSpPr/>
          <p:nvPr/>
        </p:nvSpPr>
        <p:spPr>
          <a:xfrm>
            <a:off x="2606040" y="1371600"/>
            <a:ext cx="1691640" cy="292608"/>
          </a:xfrm>
          <a:prstGeom prst="rect">
            <a:avLst/>
          </a:prstGeom>
          <a:noFill/>
          <a:ln/>
        </p:spPr>
        <p:txBody>
          <a:bodyPr wrap="square" lIns="0" tIns="0" rIns="0" bIns="0" rtlCol="0" anchor="ctr"/>
          <a:lstStyle/>
          <a:p>
            <a:pPr marL="0" indent="0" algn="ctr">
              <a:buNone/>
            </a:pPr>
            <a:r>
              <a:rPr lang="en-US" sz="2100" b="1" dirty="0">
                <a:solidFill>
                  <a:srgbClr val="0B3C5D"/>
                </a:solidFill>
              </a:rPr>
              <a:t>0,267 m</a:t>
            </a:r>
            <a:endParaRPr lang="en-US" sz="2100" dirty="0"/>
          </a:p>
        </p:txBody>
      </p:sp>
      <p:sp>
        <p:nvSpPr>
          <p:cNvPr id="10" name="Text 8"/>
          <p:cNvSpPr/>
          <p:nvPr/>
        </p:nvSpPr>
        <p:spPr>
          <a:xfrm>
            <a:off x="265176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RMSE</a:t>
            </a:r>
            <a:endParaRPr lang="en-US" sz="900" dirty="0"/>
          </a:p>
        </p:txBody>
      </p:sp>
      <p:sp>
        <p:nvSpPr>
          <p:cNvPr id="11" name="Shape 9"/>
          <p:cNvSpPr/>
          <p:nvPr/>
        </p:nvSpPr>
        <p:spPr>
          <a:xfrm>
            <a:off x="452628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2" name="Text 10"/>
          <p:cNvSpPr/>
          <p:nvPr/>
        </p:nvSpPr>
        <p:spPr>
          <a:xfrm>
            <a:off x="4526280" y="1371600"/>
            <a:ext cx="1691640" cy="292608"/>
          </a:xfrm>
          <a:prstGeom prst="rect">
            <a:avLst/>
          </a:prstGeom>
          <a:noFill/>
          <a:ln/>
        </p:spPr>
        <p:txBody>
          <a:bodyPr wrap="square" lIns="0" tIns="0" rIns="0" bIns="0" rtlCol="0" anchor="ctr"/>
          <a:lstStyle/>
          <a:p>
            <a:pPr marL="0" indent="0" algn="ctr">
              <a:buNone/>
            </a:pPr>
            <a:r>
              <a:rPr lang="en-US" sz="2100" b="1" dirty="0">
                <a:solidFill>
                  <a:srgbClr val="0B3C5D"/>
                </a:solidFill>
              </a:rPr>
              <a:t>0,111 m</a:t>
            </a:r>
            <a:endParaRPr lang="en-US" sz="2100" dirty="0"/>
          </a:p>
        </p:txBody>
      </p:sp>
      <p:sp>
        <p:nvSpPr>
          <p:cNvPr id="13" name="Text 11"/>
          <p:cNvSpPr/>
          <p:nvPr/>
        </p:nvSpPr>
        <p:spPr>
          <a:xfrm>
            <a:off x="457200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MAE</a:t>
            </a:r>
            <a:endParaRPr lang="en-US" sz="900" dirty="0"/>
          </a:p>
        </p:txBody>
      </p:sp>
      <p:sp>
        <p:nvSpPr>
          <p:cNvPr id="14" name="Shape 12"/>
          <p:cNvSpPr/>
          <p:nvPr/>
        </p:nvSpPr>
        <p:spPr>
          <a:xfrm>
            <a:off x="644652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5" name="Text 13"/>
          <p:cNvSpPr/>
          <p:nvPr/>
        </p:nvSpPr>
        <p:spPr>
          <a:xfrm>
            <a:off x="6446520" y="1371600"/>
            <a:ext cx="1691640" cy="292608"/>
          </a:xfrm>
          <a:prstGeom prst="rect">
            <a:avLst/>
          </a:prstGeom>
          <a:noFill/>
          <a:ln/>
        </p:spPr>
        <p:txBody>
          <a:bodyPr wrap="square" lIns="0" tIns="0" rIns="0" bIns="0" rtlCol="0" anchor="ctr"/>
          <a:lstStyle/>
          <a:p>
            <a:pPr marL="0" indent="0" algn="ctr">
              <a:buNone/>
            </a:pPr>
            <a:r>
              <a:rPr lang="en-US" sz="2100" b="1" dirty="0">
                <a:solidFill>
                  <a:srgbClr val="0B3C5D"/>
                </a:solidFill>
              </a:rPr>
              <a:t>23,54%</a:t>
            </a:r>
            <a:endParaRPr lang="en-US" sz="2100" dirty="0"/>
          </a:p>
        </p:txBody>
      </p:sp>
      <p:sp>
        <p:nvSpPr>
          <p:cNvPr id="16" name="Text 14"/>
          <p:cNvSpPr/>
          <p:nvPr/>
        </p:nvSpPr>
        <p:spPr>
          <a:xfrm>
            <a:off x="649224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MAPE</a:t>
            </a:r>
            <a:endParaRPr lang="en-US" sz="900" dirty="0"/>
          </a:p>
        </p:txBody>
      </p:sp>
      <p:sp>
        <p:nvSpPr>
          <p:cNvPr id="17" name="Shape 15"/>
          <p:cNvSpPr/>
          <p:nvPr/>
        </p:nvSpPr>
        <p:spPr>
          <a:xfrm>
            <a:off x="8366760" y="1215668"/>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8" name="Text 16"/>
          <p:cNvSpPr/>
          <p:nvPr/>
        </p:nvSpPr>
        <p:spPr>
          <a:xfrm>
            <a:off x="836676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97,00%</a:t>
            </a:r>
            <a:endParaRPr lang="en-US" sz="2100" dirty="0"/>
          </a:p>
        </p:txBody>
      </p:sp>
      <p:sp>
        <p:nvSpPr>
          <p:cNvPr id="19" name="Text 17"/>
          <p:cNvSpPr/>
          <p:nvPr/>
        </p:nvSpPr>
        <p:spPr>
          <a:xfrm>
            <a:off x="841248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±1 cấp</a:t>
            </a:r>
            <a:endParaRPr lang="en-US" sz="900" dirty="0"/>
          </a:p>
        </p:txBody>
      </p:sp>
      <p:sp>
        <p:nvSpPr>
          <p:cNvPr id="20" name="Shape 18"/>
          <p:cNvSpPr/>
          <p:nvPr/>
        </p:nvSpPr>
        <p:spPr>
          <a:xfrm>
            <a:off x="10287000" y="1234440"/>
            <a:ext cx="118872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21" name="Text 19"/>
          <p:cNvSpPr/>
          <p:nvPr/>
        </p:nvSpPr>
        <p:spPr>
          <a:xfrm>
            <a:off x="10287000" y="1371600"/>
            <a:ext cx="1188720" cy="292608"/>
          </a:xfrm>
          <a:prstGeom prst="rect">
            <a:avLst/>
          </a:prstGeom>
          <a:noFill/>
          <a:ln/>
        </p:spPr>
        <p:txBody>
          <a:bodyPr wrap="square" lIns="0" tIns="0" rIns="0" bIns="0" rtlCol="0" anchor="ctr"/>
          <a:lstStyle/>
          <a:p>
            <a:pPr marL="0" indent="0" algn="ctr">
              <a:buNone/>
            </a:pPr>
            <a:r>
              <a:rPr lang="en-US" sz="2100" b="1" dirty="0">
                <a:solidFill>
                  <a:srgbClr val="E87E22"/>
                </a:solidFill>
              </a:rPr>
              <a:t>68,50%</a:t>
            </a:r>
            <a:endParaRPr lang="en-US" sz="2100" dirty="0"/>
          </a:p>
        </p:txBody>
      </p:sp>
      <p:sp>
        <p:nvSpPr>
          <p:cNvPr id="22" name="Text 20"/>
          <p:cNvSpPr/>
          <p:nvPr/>
        </p:nvSpPr>
        <p:spPr>
          <a:xfrm>
            <a:off x="10332720" y="1737360"/>
            <a:ext cx="109728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Exact 6 cấp</a:t>
            </a:r>
            <a:endParaRPr lang="en-US" sz="900" dirty="0"/>
          </a:p>
        </p:txBody>
      </p:sp>
      <p:sp>
        <p:nvSpPr>
          <p:cNvPr id="23" name="Shape 21"/>
          <p:cNvSpPr/>
          <p:nvPr/>
        </p:nvSpPr>
        <p:spPr>
          <a:xfrm>
            <a:off x="594360" y="2514600"/>
            <a:ext cx="4754880" cy="3154680"/>
          </a:xfrm>
          <a:prstGeom prst="roundRect">
            <a:avLst>
              <a:gd name="adj" fmla="val 2319"/>
            </a:avLst>
          </a:prstGeom>
          <a:solidFill>
            <a:srgbClr val="FFFFFF"/>
          </a:solidFill>
          <a:ln w="12700">
            <a:solidFill>
              <a:srgbClr val="D6DEE6"/>
            </a:solidFill>
            <a:prstDash val="solid"/>
          </a:ln>
        </p:spPr>
        <p:txBody>
          <a:bodyPr/>
          <a:lstStyle/>
          <a:p>
            <a:endParaRPr lang="vi-VN"/>
          </a:p>
        </p:txBody>
      </p:sp>
      <p:pic>
        <p:nvPicPr>
          <p:cNvPr id="24" name="Image 0" descr="/mnt/data/deck_assets_new/p80_img1.png"/>
          <p:cNvPicPr>
            <a:picLocks noChangeAspect="1"/>
          </p:cNvPicPr>
          <p:nvPr/>
        </p:nvPicPr>
        <p:blipFill>
          <a:blip r:embed="rId3"/>
          <a:stretch>
            <a:fillRect/>
          </a:stretch>
        </p:blipFill>
        <p:spPr>
          <a:xfrm>
            <a:off x="1186283" y="2514600"/>
            <a:ext cx="3571034" cy="315468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0" y="2514600"/>
          <a:ext cx="5577840" cy="2194560"/>
        </p:xfrm>
        <a:graphic>
          <a:graphicData uri="http://schemas.openxmlformats.org/drawingml/2006/table">
            <a:tbl>
              <a:tblPr/>
              <a:tblGrid>
                <a:gridCol w="1394460">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tblGrid>
              <a:tr h="365760">
                <a:tc>
                  <a:txBody>
                    <a:bodyPr/>
                    <a:lstStyle/>
                    <a:p>
                      <a:pPr marL="0" indent="0">
                        <a:buNone/>
                      </a:pPr>
                      <a:r>
                        <a:rPr lang="en-US" sz="900" b="1" dirty="0">
                          <a:solidFill>
                            <a:srgbClr val="FFFFFF"/>
                          </a:solidFill>
                        </a:rPr>
                        <a:t>Cấp độ ngập</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900" b="1" dirty="0">
                          <a:solidFill>
                            <a:srgbClr val="FFFFFF"/>
                          </a:solidFill>
                        </a:rPr>
                        <a:t>n</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900" b="1" dirty="0">
                          <a:solidFill>
                            <a:srgbClr val="FFFFFF"/>
                          </a:solidFill>
                        </a:rPr>
                        <a:t>RMSE</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900" b="1" dirty="0">
                          <a:solidFill>
                            <a:srgbClr val="FFFFFF"/>
                          </a:solidFill>
                        </a:rPr>
                        <a:t>Bias</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65760">
                <a:tc>
                  <a:txBody>
                    <a:bodyPr/>
                    <a:lstStyle/>
                    <a:p>
                      <a:pPr marL="0" indent="0">
                        <a:buNone/>
                      </a:pPr>
                      <a:r>
                        <a:rPr lang="en-US" sz="900" dirty="0">
                          <a:solidFill>
                            <a:srgbClr val="1F2D3D"/>
                          </a:solidFill>
                        </a:rPr>
                        <a:t>0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147</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0,105</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+0,016</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900" dirty="0">
                          <a:solidFill>
                            <a:srgbClr val="1F2D3D"/>
                          </a:solidFill>
                        </a:rPr>
                        <a:t>0,5–1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4</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0,689</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+0,673</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900" dirty="0">
                          <a:solidFill>
                            <a:srgbClr val="1F2D3D"/>
                          </a:solidFill>
                        </a:rPr>
                        <a:t>1–1,5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12</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0,506</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+0,399</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900" dirty="0">
                          <a:solidFill>
                            <a:srgbClr val="1F2D3D"/>
                          </a:solidFill>
                        </a:rPr>
                        <a:t>1,5–2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23</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0,168</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+0,002</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900" dirty="0">
                          <a:solidFill>
                            <a:srgbClr val="1F2D3D"/>
                          </a:solidFill>
                        </a:rPr>
                        <a:t>&gt;2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14</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0,707</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–0,634</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6" name="Text 22"/>
          <p:cNvSpPr/>
          <p:nvPr/>
        </p:nvSpPr>
        <p:spPr>
          <a:xfrm>
            <a:off x="5806440" y="4983480"/>
            <a:ext cx="5166360" cy="685800"/>
          </a:xfrm>
          <a:prstGeom prst="rect">
            <a:avLst/>
          </a:prstGeom>
          <a:noFill/>
          <a:ln/>
        </p:spPr>
        <p:txBody>
          <a:bodyPr wrap="square" lIns="762" tIns="762" rIns="762" bIns="762" rtlCol="0" anchor="ctr">
            <a:normAutofit/>
          </a:bodyPr>
          <a:lstStyle/>
          <a:p>
            <a:r>
              <a:rPr lang="en-US" sz="1000" dirty="0">
                <a:solidFill>
                  <a:srgbClr val="1F2D3D"/>
                </a:solidFill>
              </a:rPr>
              <a:t>Dự báo tốt ở hai cấp phổ biến: không ngập và 1,5–2 m.</a:t>
            </a:r>
            <a:endParaRPr lang="en-US" sz="1000" dirty="0"/>
          </a:p>
          <a:p>
            <a:r>
              <a:rPr lang="en-US" sz="1000" dirty="0">
                <a:solidFill>
                  <a:srgbClr val="1F2D3D"/>
                </a:solidFill>
              </a:rPr>
              <a:t>Sai số lớn ở cấp trung gian và cực đoan do “regression to the mean”.</a:t>
            </a:r>
            <a:endParaRPr lang="en-US" sz="1000" dirty="0"/>
          </a:p>
          <a:p>
            <a:r>
              <a:rPr lang="en-US" sz="1000" dirty="0">
                <a:solidFill>
                  <a:srgbClr val="1F2D3D"/>
                </a:solidFill>
              </a:rPr>
              <a:t>RF được chọn làm mô hình chính khi cần bản đồ gradient mượt và độ chính xác định lượng.</a:t>
            </a:r>
            <a:endParaRPr lang="en-US" sz="1000" dirty="0"/>
          </a:p>
        </p:txBody>
      </p:sp>
      <p:sp>
        <p:nvSpPr>
          <p:cNvPr id="27" name="Text 23"/>
          <p:cNvSpPr/>
          <p:nvPr/>
        </p:nvSpPr>
        <p:spPr>
          <a:xfrm>
            <a:off x="594360" y="5779008"/>
            <a:ext cx="10607040" cy="201168"/>
          </a:xfrm>
          <a:prstGeom prst="rect">
            <a:avLst/>
          </a:prstGeom>
          <a:noFill/>
          <a:ln/>
        </p:spPr>
        <p:txBody>
          <a:bodyPr wrap="square" lIns="0" tIns="0" rIns="0" bIns="0" rtlCol="0" anchor="ctr"/>
          <a:lstStyle/>
          <a:p>
            <a:pPr marL="0" indent="0" algn="ctr">
              <a:buNone/>
            </a:pPr>
            <a:r>
              <a:rPr lang="en-US" sz="750" i="1" dirty="0">
                <a:solidFill>
                  <a:srgbClr val="5D6D7E"/>
                </a:solidFill>
              </a:rPr>
              <a:t>Hình 3.1 và Bảng 3.1: RF trên tập kiểm thử 200 điểm</a:t>
            </a:r>
            <a:endParaRPr lang="en-US" sz="750" dirty="0"/>
          </a:p>
        </p:txBody>
      </p:sp>
      <p:sp>
        <p:nvSpPr>
          <p:cNvPr id="28" name="Shape 24"/>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9" name="Text 25"/>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30" name="Text 26"/>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20</a:t>
            </a:r>
            <a:endParaRPr lang="en-US" sz="850" dirty="0"/>
          </a:p>
        </p:txBody>
      </p:sp>
      <p:pic>
        <p:nvPicPr>
          <p:cNvPr id="32" name="Picture 31" descr="image1.png">
            <a:extLst>
              <a:ext uri="{FF2B5EF4-FFF2-40B4-BE49-F238E27FC236}">
                <a16:creationId xmlns:a16="http://schemas.microsoft.com/office/drawing/2014/main" id="{18B52121-12CA-AA02-92D7-14AC22138F6A}"/>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Random Forest: vai trò đặc trưng</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Feature importance cho thấy DEM và biến tương tác với DEM chi phối tuyệt đối.</a:t>
            </a:r>
            <a:endParaRPr lang="en-US" sz="1050" dirty="0"/>
          </a:p>
        </p:txBody>
      </p:sp>
      <p:sp>
        <p:nvSpPr>
          <p:cNvPr id="5" name="Shape 3"/>
          <p:cNvSpPr/>
          <p:nvPr/>
        </p:nvSpPr>
        <p:spPr>
          <a:xfrm>
            <a:off x="594360" y="1091904"/>
            <a:ext cx="5440680" cy="4206240"/>
          </a:xfrm>
          <a:prstGeom prst="roundRect">
            <a:avLst>
              <a:gd name="adj" fmla="val 1739"/>
            </a:avLst>
          </a:prstGeom>
          <a:solidFill>
            <a:srgbClr val="FFFFFF"/>
          </a:solidFill>
          <a:ln w="12700">
            <a:solidFill>
              <a:srgbClr val="D6DEE6"/>
            </a:solidFill>
            <a:prstDash val="solid"/>
          </a:ln>
        </p:spPr>
        <p:txBody>
          <a:bodyPr/>
          <a:lstStyle/>
          <a:p>
            <a:endParaRPr lang="vi-VN"/>
          </a:p>
        </p:txBody>
      </p:sp>
      <p:pic>
        <p:nvPicPr>
          <p:cNvPr id="6" name="Image 0" descr="/mnt/data/deck_assets_new/p81_img1.png"/>
          <p:cNvPicPr>
            <a:picLocks noChangeAspect="1"/>
          </p:cNvPicPr>
          <p:nvPr/>
        </p:nvPicPr>
        <p:blipFill>
          <a:blip r:embed="rId3"/>
          <a:stretch>
            <a:fillRect/>
          </a:stretch>
        </p:blipFill>
        <p:spPr>
          <a:xfrm>
            <a:off x="594360" y="1169239"/>
            <a:ext cx="5440680" cy="4051570"/>
          </a:xfrm>
          <a:prstGeom prst="rect">
            <a:avLst/>
          </a:prstGeom>
        </p:spPr>
      </p:pic>
      <p:sp>
        <p:nvSpPr>
          <p:cNvPr id="7" name="Shape 4"/>
          <p:cNvSpPr/>
          <p:nvPr/>
        </p:nvSpPr>
        <p:spPr>
          <a:xfrm>
            <a:off x="6263640" y="1091904"/>
            <a:ext cx="5257800" cy="4206240"/>
          </a:xfrm>
          <a:prstGeom prst="roundRect">
            <a:avLst>
              <a:gd name="adj" fmla="val 1739"/>
            </a:avLst>
          </a:prstGeom>
          <a:solidFill>
            <a:srgbClr val="FFFFFF"/>
          </a:solidFill>
          <a:ln w="12700">
            <a:solidFill>
              <a:srgbClr val="D6DEE6"/>
            </a:solidFill>
            <a:prstDash val="solid"/>
          </a:ln>
        </p:spPr>
        <p:txBody>
          <a:bodyPr/>
          <a:lstStyle/>
          <a:p>
            <a:endParaRPr lang="vi-VN"/>
          </a:p>
        </p:txBody>
      </p:sp>
      <p:pic>
        <p:nvPicPr>
          <p:cNvPr id="8" name="Image 1" descr="/mnt/data/deck_assets_new/p81_img2.png"/>
          <p:cNvPicPr>
            <a:picLocks noChangeAspect="1"/>
          </p:cNvPicPr>
          <p:nvPr/>
        </p:nvPicPr>
        <p:blipFill>
          <a:blip r:embed="rId4"/>
          <a:stretch>
            <a:fillRect/>
          </a:stretch>
        </p:blipFill>
        <p:spPr>
          <a:xfrm>
            <a:off x="6263640" y="1233532"/>
            <a:ext cx="5257800" cy="3922983"/>
          </a:xfrm>
          <a:prstGeom prst="rect">
            <a:avLst/>
          </a:prstGeom>
        </p:spPr>
      </p:pic>
      <p:sp>
        <p:nvSpPr>
          <p:cNvPr id="9" name="Shape 5"/>
          <p:cNvSpPr/>
          <p:nvPr/>
        </p:nvSpPr>
        <p:spPr>
          <a:xfrm>
            <a:off x="868680" y="5560364"/>
            <a:ext cx="10378440" cy="475488"/>
          </a:xfrm>
          <a:prstGeom prst="roundRect">
            <a:avLst>
              <a:gd name="adj" fmla="val 15385"/>
            </a:avLst>
          </a:prstGeom>
          <a:solidFill>
            <a:srgbClr val="EAF6EF"/>
          </a:solidFill>
          <a:ln w="12700">
            <a:solidFill>
              <a:srgbClr val="D6DEE6"/>
            </a:solidFill>
            <a:prstDash val="solid"/>
          </a:ln>
        </p:spPr>
        <p:txBody>
          <a:bodyPr/>
          <a:lstStyle/>
          <a:p>
            <a:endParaRPr lang="vi-VN"/>
          </a:p>
        </p:txBody>
      </p:sp>
      <p:sp>
        <p:nvSpPr>
          <p:cNvPr id="10" name="Text 6"/>
          <p:cNvSpPr/>
          <p:nvPr/>
        </p:nvSpPr>
        <p:spPr>
          <a:xfrm>
            <a:off x="1051560" y="5724956"/>
            <a:ext cx="10012680" cy="155448"/>
          </a:xfrm>
          <a:prstGeom prst="rect">
            <a:avLst/>
          </a:prstGeom>
          <a:noFill/>
          <a:ln/>
        </p:spPr>
        <p:txBody>
          <a:bodyPr wrap="square" lIns="0" tIns="0" rIns="0" bIns="0" rtlCol="0" anchor="ctr">
            <a:normAutofit/>
          </a:bodyPr>
          <a:lstStyle/>
          <a:p>
            <a:pPr marL="0" indent="0">
              <a:buNone/>
            </a:pPr>
            <a:r>
              <a:rPr lang="en-US" sz="880" dirty="0">
                <a:solidFill>
                  <a:srgbClr val="1F2D3D"/>
                </a:solidFill>
              </a:rPr>
              <a:t>Top biến RF: dsm_bathy, dem_x_twi, dem_squared, dem_x_slope, slope, dem_x_dist. Manning xuất hiện qua manning_x_hand và manning_n, xác nhận vai trò của tích hợp tri thức thủy lực.</a:t>
            </a:r>
            <a:endParaRPr lang="en-US" sz="880" dirty="0"/>
          </a:p>
        </p:txBody>
      </p:sp>
      <p:sp>
        <p:nvSpPr>
          <p:cNvPr id="11" name="Text 7"/>
          <p:cNvSpPr/>
          <p:nvPr/>
        </p:nvSpPr>
        <p:spPr>
          <a:xfrm>
            <a:off x="594360" y="5343864"/>
            <a:ext cx="10927080" cy="201168"/>
          </a:xfrm>
          <a:prstGeom prst="rect">
            <a:avLst/>
          </a:prstGeom>
          <a:noFill/>
          <a:ln/>
        </p:spPr>
        <p:txBody>
          <a:bodyPr wrap="square" lIns="0" tIns="0" rIns="0" bIns="0" rtlCol="0" anchor="ctr"/>
          <a:lstStyle/>
          <a:p>
            <a:pPr marL="0" indent="0" algn="ctr">
              <a:buNone/>
            </a:pPr>
            <a:r>
              <a:rPr lang="en-US" sz="750" i="1" dirty="0">
                <a:solidFill>
                  <a:srgbClr val="5D6D7E"/>
                </a:solidFill>
              </a:rPr>
              <a:t>built-in và permutation importance của RF</a:t>
            </a:r>
            <a:endParaRPr lang="en-US" sz="750" dirty="0"/>
          </a:p>
        </p:txBody>
      </p:sp>
      <p:sp>
        <p:nvSpPr>
          <p:cNvPr id="12" name="Shape 8"/>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3" name="Text 9"/>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4" name="Text 10"/>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21</a:t>
            </a:r>
            <a:endParaRPr lang="en-US" sz="850" dirty="0"/>
          </a:p>
        </p:txBody>
      </p:sp>
      <p:pic>
        <p:nvPicPr>
          <p:cNvPr id="16" name="Picture 15" descr="image1.png">
            <a:extLst>
              <a:ext uri="{FF2B5EF4-FFF2-40B4-BE49-F238E27FC236}">
                <a16:creationId xmlns:a16="http://schemas.microsoft.com/office/drawing/2014/main" id="{42C7D781-6F8D-200A-C5DB-0414F3CCED4B}"/>
              </a:ext>
            </a:extLst>
          </p:cNvPr>
          <p:cNvPicPr>
            <a:picLocks noChangeAspect="1"/>
          </p:cNvPicPr>
          <p:nvPr/>
        </p:nvPicPr>
        <p:blipFill>
          <a:blip r:embed="rId5"/>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Random Forest: bản đồ trước </a:t>
            </a:r>
            <a:r>
              <a:rPr lang="en-US" sz="2400" b="1" dirty="0" err="1">
                <a:solidFill>
                  <a:srgbClr val="0B3C5D"/>
                </a:solidFill>
              </a:rPr>
              <a:t>và</a:t>
            </a:r>
            <a:r>
              <a:rPr lang="en-US" sz="2400" b="1" dirty="0">
                <a:solidFill>
                  <a:srgbClr val="0B3C5D"/>
                </a:solidFill>
              </a:rPr>
              <a:t> </a:t>
            </a:r>
            <a:r>
              <a:rPr lang="en-US" sz="2400" b="1" dirty="0" err="1">
                <a:solidFill>
                  <a:srgbClr val="0B3C5D"/>
                </a:solidFill>
              </a:rPr>
              <a:t>sau</a:t>
            </a:r>
            <a:r>
              <a:rPr lang="en-US" sz="2400" b="1" dirty="0">
                <a:solidFill>
                  <a:srgbClr val="0B3C5D"/>
                </a:solidFill>
              </a:rPr>
              <a:t> </a:t>
            </a:r>
            <a:r>
              <a:rPr lang="en-US" sz="2400" b="1" dirty="0" err="1">
                <a:solidFill>
                  <a:srgbClr val="0B3C5D"/>
                </a:solidFill>
              </a:rPr>
              <a:t>xử</a:t>
            </a:r>
            <a:r>
              <a:rPr lang="en-US" sz="2400" b="1" dirty="0">
                <a:solidFill>
                  <a:srgbClr val="0B3C5D"/>
                </a:solidFill>
              </a:rPr>
              <a:t> </a:t>
            </a:r>
            <a:r>
              <a:rPr lang="en-US" sz="2400" b="1" dirty="0" err="1">
                <a:solidFill>
                  <a:srgbClr val="0B3C5D"/>
                </a:solidFill>
              </a:rPr>
              <a:t>lý</a:t>
            </a:r>
            <a:r>
              <a:rPr lang="en-US" sz="2400" b="1" dirty="0">
                <a:solidFill>
                  <a:srgbClr val="0B3C5D"/>
                </a:solidFill>
              </a:rPr>
              <a:t> (</a:t>
            </a:r>
            <a:r>
              <a:rPr lang="vi-VN" sz="2400" b="1" dirty="0">
                <a:solidFill>
                  <a:srgbClr val="0B3C5D"/>
                </a:solidFill>
              </a:rPr>
              <a:t>kết hợp hệ số nhám)</a:t>
            </a:r>
            <a:r>
              <a:rPr lang="en-US" sz="2400" b="1" dirty="0">
                <a:solidFill>
                  <a:srgbClr val="0B3C5D"/>
                </a:solidFill>
              </a:rPr>
              <a:t> </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Hậu xử lý thủy lực giảm “khối đỏ” và làm bản đồ hợp lý hơn về không gian.</a:t>
            </a:r>
            <a:endParaRPr lang="en-US" sz="1050" dirty="0"/>
          </a:p>
        </p:txBody>
      </p:sp>
      <p:sp>
        <p:nvSpPr>
          <p:cNvPr id="5" name="Shape 3"/>
          <p:cNvSpPr/>
          <p:nvPr/>
        </p:nvSpPr>
        <p:spPr>
          <a:xfrm>
            <a:off x="548640" y="1138969"/>
            <a:ext cx="3611880" cy="2971800"/>
          </a:xfrm>
          <a:prstGeom prst="roundRect">
            <a:avLst>
              <a:gd name="adj" fmla="val 2462"/>
            </a:avLst>
          </a:prstGeom>
          <a:solidFill>
            <a:srgbClr val="FFFFFF"/>
          </a:solidFill>
          <a:ln w="12700">
            <a:solidFill>
              <a:srgbClr val="D6DEE6"/>
            </a:solidFill>
            <a:prstDash val="solid"/>
          </a:ln>
        </p:spPr>
        <p:txBody>
          <a:bodyPr/>
          <a:lstStyle/>
          <a:p>
            <a:endParaRPr lang="vi-VN"/>
          </a:p>
        </p:txBody>
      </p:sp>
      <p:pic>
        <p:nvPicPr>
          <p:cNvPr id="6" name="Image 0" descr="/mnt/data/deck_assets_new/p83_img1.png"/>
          <p:cNvPicPr>
            <a:picLocks noChangeAspect="1"/>
          </p:cNvPicPr>
          <p:nvPr/>
        </p:nvPicPr>
        <p:blipFill>
          <a:blip r:embed="rId3"/>
          <a:stretch>
            <a:fillRect/>
          </a:stretch>
        </p:blipFill>
        <p:spPr>
          <a:xfrm>
            <a:off x="548640" y="1348785"/>
            <a:ext cx="3611880" cy="2552168"/>
          </a:xfrm>
          <a:prstGeom prst="rect">
            <a:avLst/>
          </a:prstGeom>
        </p:spPr>
      </p:pic>
      <p:sp>
        <p:nvSpPr>
          <p:cNvPr id="7" name="Shape 4"/>
          <p:cNvSpPr/>
          <p:nvPr/>
        </p:nvSpPr>
        <p:spPr>
          <a:xfrm>
            <a:off x="4343400" y="1138969"/>
            <a:ext cx="3611880" cy="2971800"/>
          </a:xfrm>
          <a:prstGeom prst="roundRect">
            <a:avLst>
              <a:gd name="adj" fmla="val 2462"/>
            </a:avLst>
          </a:prstGeom>
          <a:solidFill>
            <a:srgbClr val="FFFFFF"/>
          </a:solidFill>
          <a:ln w="12700">
            <a:solidFill>
              <a:srgbClr val="D6DEE6"/>
            </a:solidFill>
            <a:prstDash val="solid"/>
          </a:ln>
        </p:spPr>
        <p:txBody>
          <a:bodyPr/>
          <a:lstStyle/>
          <a:p>
            <a:endParaRPr lang="vi-VN"/>
          </a:p>
        </p:txBody>
      </p:sp>
      <p:pic>
        <p:nvPicPr>
          <p:cNvPr id="8" name="Image 1" descr="/mnt/data/deck_assets_new/p83_img2.png"/>
          <p:cNvPicPr>
            <a:picLocks noChangeAspect="1"/>
          </p:cNvPicPr>
          <p:nvPr/>
        </p:nvPicPr>
        <p:blipFill>
          <a:blip r:embed="rId4"/>
          <a:stretch>
            <a:fillRect/>
          </a:stretch>
        </p:blipFill>
        <p:spPr>
          <a:xfrm>
            <a:off x="4343400" y="1348286"/>
            <a:ext cx="3611880" cy="2553167"/>
          </a:xfrm>
          <a:prstGeom prst="rect">
            <a:avLst/>
          </a:prstGeom>
        </p:spPr>
      </p:pic>
      <p:sp>
        <p:nvSpPr>
          <p:cNvPr id="9" name="Shape 5"/>
          <p:cNvSpPr/>
          <p:nvPr/>
        </p:nvSpPr>
        <p:spPr>
          <a:xfrm>
            <a:off x="8138160" y="1138969"/>
            <a:ext cx="3429000" cy="2971800"/>
          </a:xfrm>
          <a:prstGeom prst="roundRect">
            <a:avLst>
              <a:gd name="adj" fmla="val 2462"/>
            </a:avLst>
          </a:prstGeom>
          <a:solidFill>
            <a:srgbClr val="FFFFFF"/>
          </a:solidFill>
          <a:ln w="12700">
            <a:solidFill>
              <a:srgbClr val="D6DEE6"/>
            </a:solidFill>
            <a:prstDash val="solid"/>
          </a:ln>
        </p:spPr>
        <p:txBody>
          <a:bodyPr/>
          <a:lstStyle/>
          <a:p>
            <a:endParaRPr lang="vi-VN"/>
          </a:p>
        </p:txBody>
      </p:sp>
      <p:pic>
        <p:nvPicPr>
          <p:cNvPr id="10" name="Image 2" descr="/mnt/data/deck_assets_new/p84_img1.png"/>
          <p:cNvPicPr>
            <a:picLocks noChangeAspect="1"/>
          </p:cNvPicPr>
          <p:nvPr/>
        </p:nvPicPr>
        <p:blipFill>
          <a:blip r:embed="rId5"/>
          <a:stretch>
            <a:fillRect/>
          </a:stretch>
        </p:blipFill>
        <p:spPr>
          <a:xfrm>
            <a:off x="8138160" y="1413041"/>
            <a:ext cx="3429000" cy="2423656"/>
          </a:xfrm>
          <a:prstGeom prst="rect">
            <a:avLst/>
          </a:prstGeom>
        </p:spPr>
      </p:pic>
      <p:sp>
        <p:nvSpPr>
          <p:cNvPr id="11" name="Text 6"/>
          <p:cNvSpPr/>
          <p:nvPr/>
        </p:nvSpPr>
        <p:spPr>
          <a:xfrm>
            <a:off x="548640" y="4156489"/>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(a) RAW</a:t>
            </a:r>
            <a:endParaRPr lang="en-US" sz="900" dirty="0"/>
          </a:p>
        </p:txBody>
      </p:sp>
      <p:sp>
        <p:nvSpPr>
          <p:cNvPr id="12" name="Text 7"/>
          <p:cNvSpPr/>
          <p:nvPr/>
        </p:nvSpPr>
        <p:spPr>
          <a:xfrm>
            <a:off x="4343400" y="4156489"/>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(b) </a:t>
            </a:r>
            <a:r>
              <a:rPr lang="vi-VN" sz="900" dirty="0">
                <a:solidFill>
                  <a:srgbClr val="5D6D7E"/>
                </a:solidFill>
              </a:rPr>
              <a:t>Hậu</a:t>
            </a:r>
            <a:r>
              <a:rPr lang="en-US" sz="900" dirty="0">
                <a:solidFill>
                  <a:srgbClr val="5D6D7E"/>
                </a:solidFill>
              </a:rPr>
              <a:t> xử lý</a:t>
            </a:r>
            <a:endParaRPr lang="en-US" sz="900" dirty="0"/>
          </a:p>
        </p:txBody>
      </p:sp>
      <p:sp>
        <p:nvSpPr>
          <p:cNvPr id="13" name="Text 8"/>
          <p:cNvSpPr/>
          <p:nvPr/>
        </p:nvSpPr>
        <p:spPr>
          <a:xfrm>
            <a:off x="8138160" y="4156489"/>
            <a:ext cx="3429000" cy="182880"/>
          </a:xfrm>
          <a:prstGeom prst="rect">
            <a:avLst/>
          </a:prstGeom>
          <a:noFill/>
          <a:ln/>
        </p:spPr>
        <p:txBody>
          <a:bodyPr wrap="square" lIns="0" tIns="0" rIns="0" bIns="0" rtlCol="0" anchor="ctr"/>
          <a:lstStyle/>
          <a:p>
            <a:pPr marL="0" indent="0" algn="ctr">
              <a:buNone/>
            </a:pPr>
            <a:r>
              <a:rPr lang="en-US" sz="900" dirty="0">
                <a:solidFill>
                  <a:srgbClr val="5D6D7E"/>
                </a:solidFill>
              </a:rPr>
              <a:t>Bản đồ phân vùng 6 cấp</a:t>
            </a:r>
            <a:endParaRPr lang="en-US" sz="900" dirty="0"/>
          </a:p>
        </p:txBody>
      </p:sp>
      <p:sp>
        <p:nvSpPr>
          <p:cNvPr id="14" name="Shape 9"/>
          <p:cNvSpPr/>
          <p:nvPr/>
        </p:nvSpPr>
        <p:spPr>
          <a:xfrm>
            <a:off x="777240" y="4613689"/>
            <a:ext cx="10515600" cy="960120"/>
          </a:xfrm>
          <a:prstGeom prst="roundRect">
            <a:avLst>
              <a:gd name="adj" fmla="val 7619"/>
            </a:avLst>
          </a:prstGeom>
          <a:solidFill>
            <a:srgbClr val="F4F8FB"/>
          </a:solidFill>
          <a:ln w="12700">
            <a:solidFill>
              <a:srgbClr val="D6DEE6"/>
            </a:solidFill>
            <a:prstDash val="solid"/>
          </a:ln>
        </p:spPr>
        <p:txBody>
          <a:bodyPr/>
          <a:lstStyle/>
          <a:p>
            <a:endParaRPr lang="vi-VN" dirty="0"/>
          </a:p>
        </p:txBody>
      </p:sp>
      <p:sp>
        <p:nvSpPr>
          <p:cNvPr id="15" name="Text 10"/>
          <p:cNvSpPr/>
          <p:nvPr/>
        </p:nvSpPr>
        <p:spPr>
          <a:xfrm>
            <a:off x="1005840" y="4805713"/>
            <a:ext cx="10058400" cy="475488"/>
          </a:xfrm>
          <a:prstGeom prst="rect">
            <a:avLst/>
          </a:prstGeom>
          <a:noFill/>
          <a:ln/>
        </p:spPr>
        <p:txBody>
          <a:bodyPr wrap="square" lIns="762" tIns="762" rIns="762" bIns="762" rtlCol="0" anchor="ctr">
            <a:normAutofit/>
          </a:bodyPr>
          <a:lstStyle/>
          <a:p>
            <a:r>
              <a:rPr lang="en-US" sz="940" dirty="0">
                <a:solidFill>
                  <a:srgbClr val="1F2D3D"/>
                </a:solidFill>
              </a:rPr>
              <a:t>RAW dự báo vùng đồng bằng/đầm phá &gt;2 m quá rộng do regression to the mean.</a:t>
            </a:r>
            <a:endParaRPr lang="en-US" sz="940" dirty="0"/>
          </a:p>
          <a:p>
            <a:r>
              <a:rPr lang="en-US" sz="940" dirty="0">
                <a:solidFill>
                  <a:srgbClr val="1F2D3D"/>
                </a:solidFill>
              </a:rPr>
              <a:t>Sau hậu xử lý: phân hóa gradient từ cao xuống thấp, nhấn mạnh vùng sông Hương – sông Bồ – Tam Giang/Cầu Hai – Hòa Duân.</a:t>
            </a:r>
            <a:endParaRPr lang="en-US" sz="940" dirty="0"/>
          </a:p>
          <a:p>
            <a:r>
              <a:rPr lang="en-US" sz="940" dirty="0">
                <a:solidFill>
                  <a:srgbClr val="1F2D3D"/>
                </a:solidFill>
              </a:rPr>
              <a:t>Tỷ </a:t>
            </a:r>
            <a:r>
              <a:rPr lang="en-US" sz="940" dirty="0" err="1">
                <a:solidFill>
                  <a:srgbClr val="1F2D3D"/>
                </a:solidFill>
              </a:rPr>
              <a:t>lệ</a:t>
            </a:r>
            <a:r>
              <a:rPr lang="en-US" sz="940" dirty="0">
                <a:solidFill>
                  <a:srgbClr val="1F2D3D"/>
                </a:solidFill>
              </a:rPr>
              <a:t> </a:t>
            </a:r>
            <a:r>
              <a:rPr lang="vi-VN" sz="940" dirty="0">
                <a:solidFill>
                  <a:srgbClr val="1F2D3D"/>
                </a:solidFill>
              </a:rPr>
              <a:t>điểm ảnh</a:t>
            </a:r>
            <a:r>
              <a:rPr lang="en-US" sz="940" dirty="0">
                <a:solidFill>
                  <a:srgbClr val="1F2D3D"/>
                </a:solidFill>
              </a:rPr>
              <a:t> &gt;2 m giảm từ khoảng 35% xuống khoảng 8–10%, tăng cấp trung gian 1–2 m.</a:t>
            </a:r>
            <a:endParaRPr lang="en-US" sz="940" dirty="0"/>
          </a:p>
        </p:txBody>
      </p:sp>
      <p:sp>
        <p:nvSpPr>
          <p:cNvPr id="16" name="Shape 11"/>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7" name="Text 12"/>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8" name="Text 13"/>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22</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err="1">
                <a:solidFill>
                  <a:srgbClr val="0B3C5D"/>
                </a:solidFill>
              </a:rPr>
              <a:t>XGBoost</a:t>
            </a:r>
            <a:r>
              <a:rPr lang="en-US" sz="2400" b="1" dirty="0">
                <a:solidFill>
                  <a:srgbClr val="0B3C5D"/>
                </a:solidFill>
              </a:rPr>
              <a:t>: cấu hình và chỉ số</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Mô hình nhấn mạnh tính nhất quán vật lý nhờ ràng buộc đơn điệu.</a:t>
            </a:r>
            <a:endParaRPr lang="en-US" sz="1050" dirty="0"/>
          </a:p>
        </p:txBody>
      </p:sp>
      <p:sp>
        <p:nvSpPr>
          <p:cNvPr id="5" name="Shape 3"/>
          <p:cNvSpPr/>
          <p:nvPr/>
        </p:nvSpPr>
        <p:spPr>
          <a:xfrm>
            <a:off x="68580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6" name="Text 4"/>
          <p:cNvSpPr/>
          <p:nvPr/>
        </p:nvSpPr>
        <p:spPr>
          <a:xfrm>
            <a:off x="68580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0,8884</a:t>
            </a:r>
            <a:endParaRPr lang="en-US" sz="2100" dirty="0"/>
          </a:p>
        </p:txBody>
      </p:sp>
      <p:sp>
        <p:nvSpPr>
          <p:cNvPr id="7" name="Text 5"/>
          <p:cNvSpPr/>
          <p:nvPr/>
        </p:nvSpPr>
        <p:spPr>
          <a:xfrm>
            <a:off x="73152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R² overall</a:t>
            </a:r>
            <a:endParaRPr lang="en-US" sz="900" dirty="0"/>
          </a:p>
        </p:txBody>
      </p:sp>
      <p:sp>
        <p:nvSpPr>
          <p:cNvPr id="8" name="Shape 6"/>
          <p:cNvSpPr/>
          <p:nvPr/>
        </p:nvSpPr>
        <p:spPr>
          <a:xfrm>
            <a:off x="260604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9" name="Text 7"/>
          <p:cNvSpPr/>
          <p:nvPr/>
        </p:nvSpPr>
        <p:spPr>
          <a:xfrm>
            <a:off x="260604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0,275 m</a:t>
            </a:r>
            <a:endParaRPr lang="en-US" sz="2100" dirty="0"/>
          </a:p>
        </p:txBody>
      </p:sp>
      <p:sp>
        <p:nvSpPr>
          <p:cNvPr id="10" name="Text 8"/>
          <p:cNvSpPr/>
          <p:nvPr/>
        </p:nvSpPr>
        <p:spPr>
          <a:xfrm>
            <a:off x="265176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RMSE</a:t>
            </a:r>
            <a:endParaRPr lang="en-US" sz="900" dirty="0"/>
          </a:p>
        </p:txBody>
      </p:sp>
      <p:sp>
        <p:nvSpPr>
          <p:cNvPr id="11" name="Shape 9"/>
          <p:cNvSpPr/>
          <p:nvPr/>
        </p:nvSpPr>
        <p:spPr>
          <a:xfrm>
            <a:off x="452628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2" name="Text 10"/>
          <p:cNvSpPr/>
          <p:nvPr/>
        </p:nvSpPr>
        <p:spPr>
          <a:xfrm>
            <a:off x="452628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0,130 m</a:t>
            </a:r>
            <a:endParaRPr lang="en-US" sz="2100" dirty="0"/>
          </a:p>
        </p:txBody>
      </p:sp>
      <p:sp>
        <p:nvSpPr>
          <p:cNvPr id="13" name="Text 11"/>
          <p:cNvSpPr/>
          <p:nvPr/>
        </p:nvSpPr>
        <p:spPr>
          <a:xfrm>
            <a:off x="457200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MAE</a:t>
            </a:r>
            <a:endParaRPr lang="en-US" sz="900" dirty="0"/>
          </a:p>
        </p:txBody>
      </p:sp>
      <p:sp>
        <p:nvSpPr>
          <p:cNvPr id="14" name="Shape 12"/>
          <p:cNvSpPr/>
          <p:nvPr/>
        </p:nvSpPr>
        <p:spPr>
          <a:xfrm>
            <a:off x="644652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5" name="Text 13"/>
          <p:cNvSpPr/>
          <p:nvPr/>
        </p:nvSpPr>
        <p:spPr>
          <a:xfrm>
            <a:off x="644652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22,60%</a:t>
            </a:r>
            <a:endParaRPr lang="en-US" sz="2100" dirty="0"/>
          </a:p>
        </p:txBody>
      </p:sp>
      <p:sp>
        <p:nvSpPr>
          <p:cNvPr id="16" name="Text 14"/>
          <p:cNvSpPr/>
          <p:nvPr/>
        </p:nvSpPr>
        <p:spPr>
          <a:xfrm>
            <a:off x="649224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MAPE</a:t>
            </a:r>
            <a:endParaRPr lang="en-US" sz="900" dirty="0"/>
          </a:p>
        </p:txBody>
      </p:sp>
      <p:sp>
        <p:nvSpPr>
          <p:cNvPr id="17" name="Shape 15"/>
          <p:cNvSpPr/>
          <p:nvPr/>
        </p:nvSpPr>
        <p:spPr>
          <a:xfrm>
            <a:off x="836676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8" name="Text 16"/>
          <p:cNvSpPr/>
          <p:nvPr/>
        </p:nvSpPr>
        <p:spPr>
          <a:xfrm>
            <a:off x="836676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96,50%</a:t>
            </a:r>
            <a:endParaRPr lang="en-US" sz="2100" dirty="0"/>
          </a:p>
        </p:txBody>
      </p:sp>
      <p:sp>
        <p:nvSpPr>
          <p:cNvPr id="19" name="Text 17"/>
          <p:cNvSpPr/>
          <p:nvPr/>
        </p:nvSpPr>
        <p:spPr>
          <a:xfrm>
            <a:off x="841248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±1 cấp</a:t>
            </a:r>
            <a:endParaRPr lang="en-US" sz="900" dirty="0"/>
          </a:p>
        </p:txBody>
      </p:sp>
      <p:sp>
        <p:nvSpPr>
          <p:cNvPr id="20" name="Shape 18"/>
          <p:cNvSpPr/>
          <p:nvPr/>
        </p:nvSpPr>
        <p:spPr>
          <a:xfrm>
            <a:off x="10287000" y="1234440"/>
            <a:ext cx="118872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21" name="Text 19"/>
          <p:cNvSpPr/>
          <p:nvPr/>
        </p:nvSpPr>
        <p:spPr>
          <a:xfrm>
            <a:off x="10287000" y="1371600"/>
            <a:ext cx="1188720" cy="292608"/>
          </a:xfrm>
          <a:prstGeom prst="rect">
            <a:avLst/>
          </a:prstGeom>
          <a:noFill/>
          <a:ln/>
        </p:spPr>
        <p:txBody>
          <a:bodyPr wrap="square" lIns="0" tIns="0" rIns="0" bIns="0" rtlCol="0" anchor="ctr"/>
          <a:lstStyle/>
          <a:p>
            <a:pPr marL="0" indent="0" algn="ctr">
              <a:buNone/>
            </a:pPr>
            <a:r>
              <a:rPr lang="en-US" sz="2100" b="1" dirty="0">
                <a:solidFill>
                  <a:srgbClr val="E87E22"/>
                </a:solidFill>
              </a:rPr>
              <a:t>56</a:t>
            </a:r>
            <a:endParaRPr lang="en-US" sz="2100" dirty="0"/>
          </a:p>
        </p:txBody>
      </p:sp>
      <p:sp>
        <p:nvSpPr>
          <p:cNvPr id="22" name="Text 20"/>
          <p:cNvSpPr/>
          <p:nvPr/>
        </p:nvSpPr>
        <p:spPr>
          <a:xfrm>
            <a:off x="10332720" y="1737360"/>
            <a:ext cx="109728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Vòng lặp</a:t>
            </a:r>
            <a:endParaRPr lang="en-US" sz="900" dirty="0"/>
          </a:p>
        </p:txBody>
      </p:sp>
      <p:sp>
        <p:nvSpPr>
          <p:cNvPr id="23" name="Shape 21"/>
          <p:cNvSpPr/>
          <p:nvPr/>
        </p:nvSpPr>
        <p:spPr>
          <a:xfrm>
            <a:off x="594360" y="2514600"/>
            <a:ext cx="4754880" cy="3063240"/>
          </a:xfrm>
          <a:prstGeom prst="roundRect">
            <a:avLst>
              <a:gd name="adj" fmla="val 2388"/>
            </a:avLst>
          </a:prstGeom>
          <a:solidFill>
            <a:srgbClr val="FFFFFF"/>
          </a:solidFill>
          <a:ln w="12700">
            <a:solidFill>
              <a:srgbClr val="D6DEE6"/>
            </a:solidFill>
            <a:prstDash val="solid"/>
          </a:ln>
        </p:spPr>
        <p:txBody>
          <a:bodyPr/>
          <a:lstStyle/>
          <a:p>
            <a:endParaRPr lang="vi-VN"/>
          </a:p>
        </p:txBody>
      </p:sp>
      <p:pic>
        <p:nvPicPr>
          <p:cNvPr id="24" name="Image 0" descr="/mnt/data/deck_assets_new/p86_img1.png"/>
          <p:cNvPicPr>
            <a:picLocks noChangeAspect="1"/>
          </p:cNvPicPr>
          <p:nvPr/>
        </p:nvPicPr>
        <p:blipFill>
          <a:blip r:embed="rId3"/>
          <a:stretch>
            <a:fillRect/>
          </a:stretch>
        </p:blipFill>
        <p:spPr>
          <a:xfrm>
            <a:off x="1236980" y="2514600"/>
            <a:ext cx="3469640" cy="306324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0" y="2514600"/>
          <a:ext cx="5577840" cy="2194560"/>
        </p:xfrm>
        <a:graphic>
          <a:graphicData uri="http://schemas.openxmlformats.org/drawingml/2006/table">
            <a:tbl>
              <a:tblPr/>
              <a:tblGrid>
                <a:gridCol w="1394460">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tblGrid>
              <a:tr h="365760">
                <a:tc>
                  <a:txBody>
                    <a:bodyPr/>
                    <a:lstStyle/>
                    <a:p>
                      <a:pPr marL="0" indent="0">
                        <a:buNone/>
                      </a:pPr>
                      <a:r>
                        <a:rPr lang="en-US" sz="900" b="1" dirty="0">
                          <a:solidFill>
                            <a:srgbClr val="FFFFFF"/>
                          </a:solidFill>
                        </a:rPr>
                        <a:t>Cấp độ ngập</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tc>
                  <a:txBody>
                    <a:bodyPr/>
                    <a:lstStyle/>
                    <a:p>
                      <a:pPr marL="0" indent="0">
                        <a:buNone/>
                      </a:pPr>
                      <a:r>
                        <a:rPr lang="en-US" sz="900" b="1" dirty="0">
                          <a:solidFill>
                            <a:srgbClr val="FFFFFF"/>
                          </a:solidFill>
                        </a:rPr>
                        <a:t>n</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tc>
                  <a:txBody>
                    <a:bodyPr/>
                    <a:lstStyle/>
                    <a:p>
                      <a:pPr marL="0" indent="0">
                        <a:buNone/>
                      </a:pPr>
                      <a:r>
                        <a:rPr lang="en-US" sz="900" b="1" dirty="0">
                          <a:solidFill>
                            <a:srgbClr val="FFFFFF"/>
                          </a:solidFill>
                        </a:rPr>
                        <a:t>RMSE</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tc>
                  <a:txBody>
                    <a:bodyPr/>
                    <a:lstStyle/>
                    <a:p>
                      <a:pPr marL="0" indent="0">
                        <a:buNone/>
                      </a:pPr>
                      <a:r>
                        <a:rPr lang="en-US" sz="900" b="1" dirty="0">
                          <a:solidFill>
                            <a:srgbClr val="FFFFFF"/>
                          </a:solidFill>
                        </a:rPr>
                        <a:t>Bias</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extLst>
                  <a:ext uri="{0D108BD9-81ED-4DB2-BD59-A6C34878D82A}">
                    <a16:rowId xmlns:a16="http://schemas.microsoft.com/office/drawing/2014/main" val="10000"/>
                  </a:ext>
                </a:extLst>
              </a:tr>
              <a:tr h="365760">
                <a:tc>
                  <a:txBody>
                    <a:bodyPr/>
                    <a:lstStyle/>
                    <a:p>
                      <a:pPr marL="0" indent="0">
                        <a:buNone/>
                      </a:pPr>
                      <a:r>
                        <a:rPr lang="en-US" sz="900" dirty="0">
                          <a:solidFill>
                            <a:srgbClr val="1F2D3D"/>
                          </a:solidFill>
                        </a:rPr>
                        <a:t>0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147</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0,099</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+0,040</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900" dirty="0">
                          <a:solidFill>
                            <a:srgbClr val="1F2D3D"/>
                          </a:solidFill>
                        </a:rPr>
                        <a:t>0,5–1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4</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0,563</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+0,533</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900" dirty="0">
                          <a:solidFill>
                            <a:srgbClr val="1F2D3D"/>
                          </a:solidFill>
                        </a:rPr>
                        <a:t>1–1,5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12</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0,495</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+0,348</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900" dirty="0">
                          <a:solidFill>
                            <a:srgbClr val="1F2D3D"/>
                          </a:solidFill>
                        </a:rPr>
                        <a:t>1,5–2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23</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0,217</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–0,015</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900" dirty="0">
                          <a:solidFill>
                            <a:srgbClr val="1F2D3D"/>
                          </a:solidFill>
                        </a:rPr>
                        <a:t>&gt;2 m</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14</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0,772</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900" dirty="0">
                          <a:solidFill>
                            <a:srgbClr val="1F2D3D"/>
                          </a:solidFill>
                        </a:rPr>
                        <a:t>–0,696</a:t>
                      </a:r>
                      <a:endParaRPr lang="en-US" sz="90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6" name="Shape 22"/>
          <p:cNvSpPr/>
          <p:nvPr/>
        </p:nvSpPr>
        <p:spPr>
          <a:xfrm>
            <a:off x="5669280" y="4937760"/>
            <a:ext cx="5577840" cy="594360"/>
          </a:xfrm>
          <a:prstGeom prst="roundRect">
            <a:avLst>
              <a:gd name="adj" fmla="val 12308"/>
            </a:avLst>
          </a:prstGeom>
          <a:solidFill>
            <a:srgbClr val="EAF6EF"/>
          </a:solidFill>
          <a:ln w="12700">
            <a:solidFill>
              <a:srgbClr val="D6DEE6"/>
            </a:solidFill>
            <a:prstDash val="solid"/>
          </a:ln>
        </p:spPr>
        <p:txBody>
          <a:bodyPr/>
          <a:lstStyle/>
          <a:p>
            <a:endParaRPr lang="vi-VN"/>
          </a:p>
        </p:txBody>
      </p:sp>
      <p:sp>
        <p:nvSpPr>
          <p:cNvPr id="27" name="Text 23"/>
          <p:cNvSpPr/>
          <p:nvPr/>
        </p:nvSpPr>
        <p:spPr>
          <a:xfrm>
            <a:off x="5897880" y="5120640"/>
            <a:ext cx="5166360" cy="164592"/>
          </a:xfrm>
          <a:prstGeom prst="rect">
            <a:avLst/>
          </a:prstGeom>
          <a:noFill/>
          <a:ln/>
        </p:spPr>
        <p:txBody>
          <a:bodyPr wrap="square" lIns="0" tIns="0" rIns="0" bIns="0" rtlCol="0" anchor="ctr">
            <a:normAutofit fontScale="85000" lnSpcReduction="10000"/>
          </a:bodyPr>
          <a:lstStyle/>
          <a:p>
            <a:pPr marL="0" indent="0">
              <a:buNone/>
            </a:pPr>
            <a:r>
              <a:rPr lang="en-US" sz="870" dirty="0">
                <a:solidFill>
                  <a:srgbClr val="1F2D3D"/>
                </a:solidFill>
              </a:rPr>
              <a:t>11 ràng buộc đơn điệu: giảm cho DEM, slope, HAND, distance_r, TPI, Manning; tăng cho TWI, FlowAcc, density_ri, GSW, rainfall.</a:t>
            </a:r>
            <a:endParaRPr lang="en-US" sz="870" dirty="0"/>
          </a:p>
        </p:txBody>
      </p:sp>
      <p:sp>
        <p:nvSpPr>
          <p:cNvPr id="28" name="Shape 24"/>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9" name="Text 25"/>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30" name="Text 26"/>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23</a:t>
            </a:r>
            <a:endParaRPr lang="en-US" sz="850" dirty="0"/>
          </a:p>
        </p:txBody>
      </p:sp>
      <p:pic>
        <p:nvPicPr>
          <p:cNvPr id="32" name="Picture 31" descr="image1.png">
            <a:extLst>
              <a:ext uri="{FF2B5EF4-FFF2-40B4-BE49-F238E27FC236}">
                <a16:creationId xmlns:a16="http://schemas.microsoft.com/office/drawing/2014/main" id="{F62AB25D-7B8F-946A-5E66-E9D14ADADE16}"/>
              </a:ext>
            </a:extLst>
          </p:cNvPr>
          <p:cNvPicPr>
            <a:picLocks noChangeAspect="1"/>
          </p:cNvPicPr>
          <p:nvPr/>
        </p:nvPicPr>
        <p:blipFill>
          <a:blip r:embed="rId4"/>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BB8602-4460-FD93-53D4-603A43ACA1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6E5908-BAD1-A726-3A36-CC8BD8C1D90B}"/>
              </a:ext>
            </a:extLst>
          </p:cNvPr>
          <p:cNvSpPr/>
          <p:nvPr/>
        </p:nvSpPr>
        <p:spPr>
          <a:xfrm>
            <a:off x="548640" y="292608"/>
            <a:ext cx="10972800" cy="411480"/>
          </a:xfrm>
          <a:prstGeom prst="rect">
            <a:avLst/>
          </a:prstGeom>
          <a:noFill/>
          <a:ln/>
        </p:spPr>
        <p:txBody>
          <a:bodyPr wrap="square" lIns="0" tIns="0" rIns="0" bIns="0" rtlCol="0" anchor="ctr"/>
          <a:lstStyle/>
          <a:p>
            <a:r>
              <a:rPr lang="en-US" sz="2400" b="1" dirty="0" err="1">
                <a:solidFill>
                  <a:srgbClr val="0B3C5D"/>
                </a:solidFill>
              </a:rPr>
              <a:t>XGBoost</a:t>
            </a:r>
            <a:r>
              <a:rPr lang="en-US" sz="2400" b="1" dirty="0">
                <a:solidFill>
                  <a:srgbClr val="0B3C5D"/>
                </a:solidFill>
              </a:rPr>
              <a:t>: </a:t>
            </a:r>
            <a:r>
              <a:rPr lang="en-US" sz="2400" b="1" dirty="0" err="1">
                <a:solidFill>
                  <a:srgbClr val="0B3C5D"/>
                </a:solidFill>
              </a:rPr>
              <a:t>vai</a:t>
            </a:r>
            <a:r>
              <a:rPr lang="en-US" sz="2400" b="1" dirty="0">
                <a:solidFill>
                  <a:srgbClr val="0B3C5D"/>
                </a:solidFill>
              </a:rPr>
              <a:t> </a:t>
            </a:r>
            <a:r>
              <a:rPr lang="vi-VN" sz="2400" b="1" dirty="0">
                <a:solidFill>
                  <a:srgbClr val="0B3C5D"/>
                </a:solidFill>
              </a:rPr>
              <a:t>trò đặc trưng</a:t>
            </a:r>
            <a:endParaRPr lang="en-US" sz="2400" dirty="0"/>
          </a:p>
        </p:txBody>
      </p:sp>
      <p:sp>
        <p:nvSpPr>
          <p:cNvPr id="3" name="Shape 1">
            <a:extLst>
              <a:ext uri="{FF2B5EF4-FFF2-40B4-BE49-F238E27FC236}">
                <a16:creationId xmlns:a16="http://schemas.microsoft.com/office/drawing/2014/main" id="{EBFE7DA0-DF59-33DE-1BC1-EC878BA5D9FA}"/>
              </a:ext>
            </a:extLst>
          </p:cNvPr>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a:extLst>
              <a:ext uri="{FF2B5EF4-FFF2-40B4-BE49-F238E27FC236}">
                <a16:creationId xmlns:a16="http://schemas.microsoft.com/office/drawing/2014/main" id="{6EB7D51C-64B3-0EF5-7E9A-00A300872AC3}"/>
              </a:ext>
            </a:extLst>
          </p:cNvPr>
          <p:cNvSpPr/>
          <p:nvPr/>
        </p:nvSpPr>
        <p:spPr>
          <a:xfrm>
            <a:off x="548640" y="868680"/>
            <a:ext cx="11064240" cy="228600"/>
          </a:xfrm>
          <a:prstGeom prst="rect">
            <a:avLst/>
          </a:prstGeom>
          <a:noFill/>
          <a:ln/>
        </p:spPr>
        <p:txBody>
          <a:bodyPr wrap="square" lIns="0" tIns="0" rIns="0" bIns="0" rtlCol="0" anchor="ctr"/>
          <a:lstStyle/>
          <a:p>
            <a:r>
              <a:rPr lang="en-US" sz="1050" dirty="0" err="1">
                <a:solidFill>
                  <a:srgbClr val="5D6D7E"/>
                </a:solidFill>
              </a:rPr>
              <a:t>XGBoost</a:t>
            </a:r>
            <a:r>
              <a:rPr lang="en-US" sz="1050" dirty="0">
                <a:solidFill>
                  <a:srgbClr val="5D6D7E"/>
                </a:solidFill>
              </a:rPr>
              <a:t> </a:t>
            </a:r>
            <a:r>
              <a:rPr lang="en-US" sz="1050" dirty="0" err="1">
                <a:solidFill>
                  <a:srgbClr val="5D6D7E"/>
                </a:solidFill>
              </a:rPr>
              <a:t>tập</a:t>
            </a:r>
            <a:r>
              <a:rPr lang="en-US" sz="1050" dirty="0">
                <a:solidFill>
                  <a:srgbClr val="5D6D7E"/>
                </a:solidFill>
              </a:rPr>
              <a:t> </a:t>
            </a:r>
            <a:r>
              <a:rPr lang="en-US" sz="1050" dirty="0" err="1">
                <a:solidFill>
                  <a:srgbClr val="5D6D7E"/>
                </a:solidFill>
              </a:rPr>
              <a:t>trung</a:t>
            </a:r>
            <a:r>
              <a:rPr lang="en-US" sz="1050" dirty="0">
                <a:solidFill>
                  <a:srgbClr val="5D6D7E"/>
                </a:solidFill>
              </a:rPr>
              <a:t> </a:t>
            </a:r>
            <a:r>
              <a:rPr lang="en-US" sz="1050" dirty="0" err="1">
                <a:solidFill>
                  <a:srgbClr val="5D6D7E"/>
                </a:solidFill>
              </a:rPr>
              <a:t>rất</a:t>
            </a:r>
            <a:r>
              <a:rPr lang="en-US" sz="1050" dirty="0">
                <a:solidFill>
                  <a:srgbClr val="5D6D7E"/>
                </a:solidFill>
              </a:rPr>
              <a:t> </a:t>
            </a:r>
            <a:r>
              <a:rPr lang="en-US" sz="1050" dirty="0" err="1">
                <a:solidFill>
                  <a:srgbClr val="5D6D7E"/>
                </a:solidFill>
              </a:rPr>
              <a:t>mạnh</a:t>
            </a:r>
            <a:r>
              <a:rPr lang="en-US" sz="1050" dirty="0">
                <a:solidFill>
                  <a:srgbClr val="5D6D7E"/>
                </a:solidFill>
              </a:rPr>
              <a:t> </a:t>
            </a:r>
            <a:r>
              <a:rPr lang="en-US" sz="1050" dirty="0" err="1">
                <a:solidFill>
                  <a:srgbClr val="5D6D7E"/>
                </a:solidFill>
              </a:rPr>
              <a:t>vào</a:t>
            </a:r>
            <a:r>
              <a:rPr lang="en-US" sz="1050" dirty="0">
                <a:solidFill>
                  <a:srgbClr val="5D6D7E"/>
                </a:solidFill>
              </a:rPr>
              <a:t> </a:t>
            </a:r>
            <a:r>
              <a:rPr lang="en-US" sz="1050" dirty="0" err="1">
                <a:solidFill>
                  <a:srgbClr val="5D6D7E"/>
                </a:solidFill>
              </a:rPr>
              <a:t>các</a:t>
            </a:r>
            <a:r>
              <a:rPr lang="en-US" sz="1050" dirty="0">
                <a:solidFill>
                  <a:srgbClr val="5D6D7E"/>
                </a:solidFill>
              </a:rPr>
              <a:t> </a:t>
            </a:r>
            <a:r>
              <a:rPr lang="en-US" sz="1050" dirty="0" err="1">
                <a:solidFill>
                  <a:srgbClr val="5D6D7E"/>
                </a:solidFill>
              </a:rPr>
              <a:t>biến</a:t>
            </a:r>
            <a:r>
              <a:rPr lang="en-US" sz="1050" dirty="0">
                <a:solidFill>
                  <a:srgbClr val="5D6D7E"/>
                </a:solidFill>
              </a:rPr>
              <a:t> DEM-related, </a:t>
            </a:r>
            <a:r>
              <a:rPr lang="en-US" sz="1050" dirty="0" err="1">
                <a:solidFill>
                  <a:srgbClr val="5D6D7E"/>
                </a:solidFill>
              </a:rPr>
              <a:t>phản</a:t>
            </a:r>
            <a:r>
              <a:rPr lang="en-US" sz="1050" dirty="0">
                <a:solidFill>
                  <a:srgbClr val="5D6D7E"/>
                </a:solidFill>
              </a:rPr>
              <a:t> </a:t>
            </a:r>
            <a:r>
              <a:rPr lang="en-US" sz="1050" dirty="0" err="1">
                <a:solidFill>
                  <a:srgbClr val="5D6D7E"/>
                </a:solidFill>
              </a:rPr>
              <a:t>ánh</a:t>
            </a:r>
            <a:r>
              <a:rPr lang="en-US" sz="1050" dirty="0">
                <a:solidFill>
                  <a:srgbClr val="5D6D7E"/>
                </a:solidFill>
              </a:rPr>
              <a:t> </a:t>
            </a:r>
            <a:r>
              <a:rPr lang="en-US" sz="1050" dirty="0" err="1">
                <a:solidFill>
                  <a:srgbClr val="5D6D7E"/>
                </a:solidFill>
              </a:rPr>
              <a:t>tác</a:t>
            </a:r>
            <a:r>
              <a:rPr lang="en-US" sz="1050" dirty="0">
                <a:solidFill>
                  <a:srgbClr val="5D6D7E"/>
                </a:solidFill>
              </a:rPr>
              <a:t> </a:t>
            </a:r>
            <a:r>
              <a:rPr lang="en-US" sz="1050" dirty="0" err="1">
                <a:solidFill>
                  <a:srgbClr val="5D6D7E"/>
                </a:solidFill>
              </a:rPr>
              <a:t>động</a:t>
            </a:r>
            <a:r>
              <a:rPr lang="en-US" sz="1050" dirty="0">
                <a:solidFill>
                  <a:srgbClr val="5D6D7E"/>
                </a:solidFill>
              </a:rPr>
              <a:t> </a:t>
            </a:r>
            <a:r>
              <a:rPr lang="en-US" sz="1050" dirty="0" err="1">
                <a:solidFill>
                  <a:srgbClr val="5D6D7E"/>
                </a:solidFill>
              </a:rPr>
              <a:t>của</a:t>
            </a:r>
            <a:r>
              <a:rPr lang="en-US" sz="1050" dirty="0">
                <a:solidFill>
                  <a:srgbClr val="5D6D7E"/>
                </a:solidFill>
              </a:rPr>
              <a:t> </a:t>
            </a:r>
            <a:r>
              <a:rPr lang="vi-VN" sz="1050" dirty="0">
                <a:solidFill>
                  <a:srgbClr val="5D6D7E"/>
                </a:solidFill>
              </a:rPr>
              <a:t>hệ số nhám </a:t>
            </a:r>
            <a:r>
              <a:rPr lang="vi-VN" sz="1050" dirty="0" err="1">
                <a:solidFill>
                  <a:srgbClr val="5D6D7E"/>
                </a:solidFill>
              </a:rPr>
              <a:t>Manning</a:t>
            </a:r>
            <a:r>
              <a:rPr lang="en-US" sz="1050" dirty="0">
                <a:solidFill>
                  <a:srgbClr val="5D6D7E"/>
                </a:solidFill>
              </a:rPr>
              <a:t> N.</a:t>
            </a:r>
            <a:endParaRPr lang="en-US" sz="1050" dirty="0"/>
          </a:p>
        </p:txBody>
      </p:sp>
      <p:sp>
        <p:nvSpPr>
          <p:cNvPr id="5" name="Shape 3">
            <a:extLst>
              <a:ext uri="{FF2B5EF4-FFF2-40B4-BE49-F238E27FC236}">
                <a16:creationId xmlns:a16="http://schemas.microsoft.com/office/drawing/2014/main" id="{EE00F216-B514-780D-9963-9F992019EA8C}"/>
              </a:ext>
            </a:extLst>
          </p:cNvPr>
          <p:cNvSpPr/>
          <p:nvPr/>
        </p:nvSpPr>
        <p:spPr>
          <a:xfrm>
            <a:off x="594360" y="1098627"/>
            <a:ext cx="5440680" cy="4206240"/>
          </a:xfrm>
          <a:prstGeom prst="roundRect">
            <a:avLst>
              <a:gd name="adj" fmla="val 1739"/>
            </a:avLst>
          </a:prstGeom>
          <a:solidFill>
            <a:srgbClr val="FFFFFF"/>
          </a:solidFill>
          <a:ln w="12700">
            <a:solidFill>
              <a:srgbClr val="D6DEE6"/>
            </a:solidFill>
            <a:prstDash val="solid"/>
          </a:ln>
        </p:spPr>
        <p:txBody>
          <a:bodyPr/>
          <a:lstStyle/>
          <a:p>
            <a:endParaRPr lang="vi-VN"/>
          </a:p>
        </p:txBody>
      </p:sp>
      <p:sp>
        <p:nvSpPr>
          <p:cNvPr id="7" name="Shape 4">
            <a:extLst>
              <a:ext uri="{FF2B5EF4-FFF2-40B4-BE49-F238E27FC236}">
                <a16:creationId xmlns:a16="http://schemas.microsoft.com/office/drawing/2014/main" id="{4BF7019E-8883-A9F2-BB8B-5AE8BEBA34EF}"/>
              </a:ext>
            </a:extLst>
          </p:cNvPr>
          <p:cNvSpPr/>
          <p:nvPr/>
        </p:nvSpPr>
        <p:spPr>
          <a:xfrm>
            <a:off x="6263640" y="1098627"/>
            <a:ext cx="5257800" cy="4206240"/>
          </a:xfrm>
          <a:prstGeom prst="roundRect">
            <a:avLst>
              <a:gd name="adj" fmla="val 1739"/>
            </a:avLst>
          </a:prstGeom>
          <a:solidFill>
            <a:srgbClr val="FFFFFF"/>
          </a:solidFill>
          <a:ln w="12700">
            <a:solidFill>
              <a:srgbClr val="D6DEE6"/>
            </a:solidFill>
            <a:prstDash val="solid"/>
          </a:ln>
        </p:spPr>
        <p:txBody>
          <a:bodyPr/>
          <a:lstStyle/>
          <a:p>
            <a:endParaRPr lang="vi-VN"/>
          </a:p>
        </p:txBody>
      </p:sp>
      <p:sp>
        <p:nvSpPr>
          <p:cNvPr id="9" name="Shape 5">
            <a:extLst>
              <a:ext uri="{FF2B5EF4-FFF2-40B4-BE49-F238E27FC236}">
                <a16:creationId xmlns:a16="http://schemas.microsoft.com/office/drawing/2014/main" id="{F7C22787-5695-0C83-31F6-975365E9F442}"/>
              </a:ext>
            </a:extLst>
          </p:cNvPr>
          <p:cNvSpPr/>
          <p:nvPr/>
        </p:nvSpPr>
        <p:spPr>
          <a:xfrm>
            <a:off x="868680" y="5486399"/>
            <a:ext cx="10461100" cy="778587"/>
          </a:xfrm>
          <a:prstGeom prst="roundRect">
            <a:avLst>
              <a:gd name="adj" fmla="val 15385"/>
            </a:avLst>
          </a:prstGeom>
          <a:solidFill>
            <a:srgbClr val="EAF6EF"/>
          </a:solidFill>
          <a:ln w="12700">
            <a:solidFill>
              <a:srgbClr val="D6DEE6"/>
            </a:solidFill>
            <a:prstDash val="solid"/>
          </a:ln>
        </p:spPr>
        <p:txBody>
          <a:bodyPr/>
          <a:lstStyle/>
          <a:p>
            <a:endParaRPr lang="vi-VN"/>
          </a:p>
        </p:txBody>
      </p:sp>
      <p:sp>
        <p:nvSpPr>
          <p:cNvPr id="10" name="Text 6">
            <a:extLst>
              <a:ext uri="{FF2B5EF4-FFF2-40B4-BE49-F238E27FC236}">
                <a16:creationId xmlns:a16="http://schemas.microsoft.com/office/drawing/2014/main" id="{02CDD145-D516-03B3-D2E9-0E38C42EA055}"/>
              </a:ext>
            </a:extLst>
          </p:cNvPr>
          <p:cNvSpPr/>
          <p:nvPr/>
        </p:nvSpPr>
        <p:spPr>
          <a:xfrm>
            <a:off x="1051560" y="5504687"/>
            <a:ext cx="10012680" cy="760299"/>
          </a:xfrm>
          <a:prstGeom prst="rect">
            <a:avLst/>
          </a:prstGeom>
          <a:noFill/>
          <a:ln/>
        </p:spPr>
        <p:txBody>
          <a:bodyPr wrap="square" lIns="0" tIns="0" rIns="0" bIns="0" rtlCol="0" anchor="ctr">
            <a:normAutofit/>
          </a:bodyPr>
          <a:lstStyle/>
          <a:p>
            <a:r>
              <a:rPr lang="en-US" sz="900" dirty="0">
                <a:solidFill>
                  <a:srgbClr val="1F2D3D"/>
                </a:solidFill>
              </a:rPr>
              <a:t>Top 4 XGB: </a:t>
            </a:r>
            <a:r>
              <a:rPr lang="en-US" sz="900" dirty="0" err="1">
                <a:solidFill>
                  <a:srgbClr val="1F2D3D"/>
                </a:solidFill>
              </a:rPr>
              <a:t>dsm_bathy</a:t>
            </a:r>
            <a:r>
              <a:rPr lang="en-US" sz="900" dirty="0">
                <a:solidFill>
                  <a:srgbClr val="1F2D3D"/>
                </a:solidFill>
              </a:rPr>
              <a:t>, </a:t>
            </a:r>
            <a:r>
              <a:rPr lang="en-US" sz="900" dirty="0" err="1">
                <a:solidFill>
                  <a:srgbClr val="1F2D3D"/>
                </a:solidFill>
              </a:rPr>
              <a:t>dem_x_slope</a:t>
            </a:r>
            <a:r>
              <a:rPr lang="en-US" sz="900" dirty="0">
                <a:solidFill>
                  <a:srgbClr val="1F2D3D"/>
                </a:solidFill>
              </a:rPr>
              <a:t>, </a:t>
            </a:r>
            <a:r>
              <a:rPr lang="en-US" sz="900" dirty="0" err="1">
                <a:solidFill>
                  <a:srgbClr val="1F2D3D"/>
                </a:solidFill>
              </a:rPr>
              <a:t>dem_squared</a:t>
            </a:r>
            <a:r>
              <a:rPr lang="en-US" sz="900" dirty="0">
                <a:solidFill>
                  <a:srgbClr val="1F2D3D"/>
                </a:solidFill>
              </a:rPr>
              <a:t>, </a:t>
            </a:r>
            <a:r>
              <a:rPr lang="en-US" sz="900" dirty="0" err="1">
                <a:solidFill>
                  <a:srgbClr val="1F2D3D"/>
                </a:solidFill>
              </a:rPr>
              <a:t>dem_x_twi</a:t>
            </a:r>
            <a:r>
              <a:rPr lang="en-US" sz="900" dirty="0">
                <a:solidFill>
                  <a:srgbClr val="1F2D3D"/>
                </a:solidFill>
              </a:rPr>
              <a:t> – </a:t>
            </a:r>
            <a:r>
              <a:rPr lang="en-US" sz="900" dirty="0" err="1">
                <a:solidFill>
                  <a:srgbClr val="1F2D3D"/>
                </a:solidFill>
              </a:rPr>
              <a:t>chiếm</a:t>
            </a:r>
            <a:r>
              <a:rPr lang="en-US" sz="900" dirty="0">
                <a:solidFill>
                  <a:srgbClr val="1F2D3D"/>
                </a:solidFill>
              </a:rPr>
              <a:t> </a:t>
            </a:r>
            <a:r>
              <a:rPr lang="en-US" sz="900" dirty="0" err="1">
                <a:solidFill>
                  <a:srgbClr val="1F2D3D"/>
                </a:solidFill>
              </a:rPr>
              <a:t>khoảng</a:t>
            </a:r>
            <a:r>
              <a:rPr lang="en-US" sz="900" dirty="0">
                <a:solidFill>
                  <a:srgbClr val="1F2D3D"/>
                </a:solidFill>
              </a:rPr>
              <a:t> 79,4% </a:t>
            </a:r>
            <a:r>
              <a:rPr lang="en-US" sz="900" dirty="0" err="1">
                <a:solidFill>
                  <a:srgbClr val="1F2D3D"/>
                </a:solidFill>
              </a:rPr>
              <a:t>tổng</a:t>
            </a:r>
            <a:r>
              <a:rPr lang="en-US" sz="900" dirty="0">
                <a:solidFill>
                  <a:srgbClr val="1F2D3D"/>
                </a:solidFill>
              </a:rPr>
              <a:t> importance.</a:t>
            </a:r>
            <a:endParaRPr lang="en-US" sz="900" dirty="0"/>
          </a:p>
          <a:p>
            <a:r>
              <a:rPr lang="en-US" sz="900" dirty="0" err="1">
                <a:solidFill>
                  <a:srgbClr val="1F2D3D"/>
                </a:solidFill>
              </a:rPr>
              <a:t>Bản</a:t>
            </a:r>
            <a:r>
              <a:rPr lang="en-US" sz="900" dirty="0">
                <a:solidFill>
                  <a:srgbClr val="1F2D3D"/>
                </a:solidFill>
              </a:rPr>
              <a:t> </a:t>
            </a:r>
            <a:r>
              <a:rPr lang="en-US" sz="900" dirty="0" err="1">
                <a:solidFill>
                  <a:srgbClr val="1F2D3D"/>
                </a:solidFill>
              </a:rPr>
              <a:t>đồ</a:t>
            </a:r>
            <a:r>
              <a:rPr lang="en-US" sz="900" dirty="0">
                <a:solidFill>
                  <a:srgbClr val="1F2D3D"/>
                </a:solidFill>
              </a:rPr>
              <a:t> XGB </a:t>
            </a:r>
            <a:r>
              <a:rPr lang="en-US" sz="900" dirty="0" err="1">
                <a:solidFill>
                  <a:srgbClr val="1F2D3D"/>
                </a:solidFill>
              </a:rPr>
              <a:t>sau</a:t>
            </a:r>
            <a:r>
              <a:rPr lang="en-US" sz="900" dirty="0">
                <a:solidFill>
                  <a:srgbClr val="1F2D3D"/>
                </a:solidFill>
              </a:rPr>
              <a:t> </a:t>
            </a:r>
            <a:r>
              <a:rPr lang="en-US" sz="900" dirty="0" err="1">
                <a:solidFill>
                  <a:srgbClr val="1F2D3D"/>
                </a:solidFill>
              </a:rPr>
              <a:t>hậu</a:t>
            </a:r>
            <a:r>
              <a:rPr lang="en-US" sz="900" dirty="0">
                <a:solidFill>
                  <a:srgbClr val="1F2D3D"/>
                </a:solidFill>
              </a:rPr>
              <a:t> </a:t>
            </a:r>
            <a:r>
              <a:rPr lang="en-US" sz="900" dirty="0" err="1">
                <a:solidFill>
                  <a:srgbClr val="1F2D3D"/>
                </a:solidFill>
              </a:rPr>
              <a:t>xử</a:t>
            </a:r>
            <a:r>
              <a:rPr lang="en-US" sz="900" dirty="0">
                <a:solidFill>
                  <a:srgbClr val="1F2D3D"/>
                </a:solidFill>
              </a:rPr>
              <a:t> </a:t>
            </a:r>
            <a:r>
              <a:rPr lang="en-US" sz="900" dirty="0" err="1">
                <a:solidFill>
                  <a:srgbClr val="1F2D3D"/>
                </a:solidFill>
              </a:rPr>
              <a:t>lý</a:t>
            </a:r>
            <a:r>
              <a:rPr lang="en-US" sz="900" dirty="0">
                <a:solidFill>
                  <a:srgbClr val="1F2D3D"/>
                </a:solidFill>
              </a:rPr>
              <a:t> “</a:t>
            </a:r>
            <a:r>
              <a:rPr lang="en-US" sz="900" dirty="0" err="1">
                <a:solidFill>
                  <a:srgbClr val="1F2D3D"/>
                </a:solidFill>
              </a:rPr>
              <a:t>quyết</a:t>
            </a:r>
            <a:r>
              <a:rPr lang="en-US" sz="900" dirty="0">
                <a:solidFill>
                  <a:srgbClr val="1F2D3D"/>
                </a:solidFill>
              </a:rPr>
              <a:t> </a:t>
            </a:r>
            <a:r>
              <a:rPr lang="en-US" sz="900" dirty="0" err="1">
                <a:solidFill>
                  <a:srgbClr val="1F2D3D"/>
                </a:solidFill>
              </a:rPr>
              <a:t>liệt</a:t>
            </a:r>
            <a:r>
              <a:rPr lang="en-US" sz="900" dirty="0">
                <a:solidFill>
                  <a:srgbClr val="1F2D3D"/>
                </a:solidFill>
              </a:rPr>
              <a:t>” </a:t>
            </a:r>
            <a:r>
              <a:rPr lang="en-US" sz="900" dirty="0" err="1">
                <a:solidFill>
                  <a:srgbClr val="1F2D3D"/>
                </a:solidFill>
              </a:rPr>
              <a:t>hơn</a:t>
            </a:r>
            <a:r>
              <a:rPr lang="en-US" sz="900" dirty="0">
                <a:solidFill>
                  <a:srgbClr val="1F2D3D"/>
                </a:solidFill>
              </a:rPr>
              <a:t> RF: </a:t>
            </a:r>
            <a:r>
              <a:rPr lang="en-US" sz="900" dirty="0" err="1">
                <a:solidFill>
                  <a:srgbClr val="1F2D3D"/>
                </a:solidFill>
              </a:rPr>
              <a:t>vùng</a:t>
            </a:r>
            <a:r>
              <a:rPr lang="en-US" sz="900" dirty="0">
                <a:solidFill>
                  <a:srgbClr val="1F2D3D"/>
                </a:solidFill>
              </a:rPr>
              <a:t> &gt;2 m </a:t>
            </a:r>
            <a:r>
              <a:rPr lang="en-US" sz="900" dirty="0" err="1">
                <a:solidFill>
                  <a:srgbClr val="1F2D3D"/>
                </a:solidFill>
              </a:rPr>
              <a:t>tập</a:t>
            </a:r>
            <a:r>
              <a:rPr lang="en-US" sz="900" dirty="0">
                <a:solidFill>
                  <a:srgbClr val="1F2D3D"/>
                </a:solidFill>
              </a:rPr>
              <a:t> </a:t>
            </a:r>
            <a:r>
              <a:rPr lang="en-US" sz="900" dirty="0" err="1">
                <a:solidFill>
                  <a:srgbClr val="1F2D3D"/>
                </a:solidFill>
              </a:rPr>
              <a:t>trung</a:t>
            </a:r>
            <a:r>
              <a:rPr lang="en-US" sz="900" dirty="0">
                <a:solidFill>
                  <a:srgbClr val="1F2D3D"/>
                </a:solidFill>
              </a:rPr>
              <a:t> </a:t>
            </a:r>
            <a:r>
              <a:rPr lang="en-US" sz="900" dirty="0" err="1">
                <a:solidFill>
                  <a:srgbClr val="1F2D3D"/>
                </a:solidFill>
              </a:rPr>
              <a:t>rõ</a:t>
            </a:r>
            <a:r>
              <a:rPr lang="en-US" sz="900" dirty="0">
                <a:solidFill>
                  <a:srgbClr val="1F2D3D"/>
                </a:solidFill>
              </a:rPr>
              <a:t> </a:t>
            </a:r>
            <a:r>
              <a:rPr lang="en-US" sz="900" dirty="0" err="1">
                <a:solidFill>
                  <a:srgbClr val="1F2D3D"/>
                </a:solidFill>
              </a:rPr>
              <a:t>và</a:t>
            </a:r>
            <a:r>
              <a:rPr lang="en-US" sz="900" dirty="0">
                <a:solidFill>
                  <a:srgbClr val="1F2D3D"/>
                </a:solidFill>
              </a:rPr>
              <a:t> </a:t>
            </a:r>
            <a:r>
              <a:rPr lang="en-US" sz="900" dirty="0" err="1">
                <a:solidFill>
                  <a:srgbClr val="1F2D3D"/>
                </a:solidFill>
              </a:rPr>
              <a:t>rộng</a:t>
            </a:r>
            <a:r>
              <a:rPr lang="en-US" sz="900" dirty="0">
                <a:solidFill>
                  <a:srgbClr val="1F2D3D"/>
                </a:solidFill>
              </a:rPr>
              <a:t> </a:t>
            </a:r>
            <a:r>
              <a:rPr lang="en-US" sz="900" dirty="0" err="1">
                <a:solidFill>
                  <a:srgbClr val="1F2D3D"/>
                </a:solidFill>
              </a:rPr>
              <a:t>hơn</a:t>
            </a:r>
            <a:r>
              <a:rPr lang="en-US" sz="900" dirty="0">
                <a:solidFill>
                  <a:srgbClr val="1F2D3D"/>
                </a:solidFill>
              </a:rPr>
              <a:t>, do bathtub spreading + </a:t>
            </a:r>
            <a:r>
              <a:rPr lang="en-US" sz="900" dirty="0" err="1">
                <a:solidFill>
                  <a:srgbClr val="1F2D3D"/>
                </a:solidFill>
              </a:rPr>
              <a:t>ràng</a:t>
            </a:r>
            <a:r>
              <a:rPr lang="en-US" sz="900" dirty="0">
                <a:solidFill>
                  <a:srgbClr val="1F2D3D"/>
                </a:solidFill>
              </a:rPr>
              <a:t> </a:t>
            </a:r>
            <a:r>
              <a:rPr lang="en-US" sz="900" dirty="0" err="1">
                <a:solidFill>
                  <a:srgbClr val="1F2D3D"/>
                </a:solidFill>
              </a:rPr>
              <a:t>buộc</a:t>
            </a:r>
            <a:r>
              <a:rPr lang="en-US" sz="900" dirty="0">
                <a:solidFill>
                  <a:srgbClr val="1F2D3D"/>
                </a:solidFill>
              </a:rPr>
              <a:t> </a:t>
            </a:r>
            <a:r>
              <a:rPr lang="en-US" sz="900" dirty="0" err="1">
                <a:solidFill>
                  <a:srgbClr val="1F2D3D"/>
                </a:solidFill>
              </a:rPr>
              <a:t>vật</a:t>
            </a:r>
            <a:r>
              <a:rPr lang="en-US" sz="900" dirty="0">
                <a:solidFill>
                  <a:srgbClr val="1F2D3D"/>
                </a:solidFill>
              </a:rPr>
              <a:t> </a:t>
            </a:r>
            <a:r>
              <a:rPr lang="en-US" sz="900" dirty="0" err="1">
                <a:solidFill>
                  <a:srgbClr val="1F2D3D"/>
                </a:solidFill>
              </a:rPr>
              <a:t>lý</a:t>
            </a:r>
            <a:r>
              <a:rPr lang="en-US" sz="900" dirty="0">
                <a:solidFill>
                  <a:srgbClr val="1F2D3D"/>
                </a:solidFill>
              </a:rPr>
              <a:t>.</a:t>
            </a:r>
            <a:endParaRPr lang="en-US" sz="900" dirty="0"/>
          </a:p>
          <a:p>
            <a:r>
              <a:rPr lang="en-US" sz="900" dirty="0">
                <a:solidFill>
                  <a:srgbClr val="1F2D3D"/>
                </a:solidFill>
              </a:rPr>
              <a:t>Exact accuracy </a:t>
            </a:r>
            <a:r>
              <a:rPr lang="en-US" sz="900" dirty="0" err="1">
                <a:solidFill>
                  <a:srgbClr val="1F2D3D"/>
                </a:solidFill>
              </a:rPr>
              <a:t>thấp</a:t>
            </a:r>
            <a:r>
              <a:rPr lang="en-US" sz="900" dirty="0">
                <a:solidFill>
                  <a:srgbClr val="1F2D3D"/>
                </a:solidFill>
              </a:rPr>
              <a:t> do XGB </a:t>
            </a:r>
            <a:r>
              <a:rPr lang="en-US" sz="900" dirty="0" err="1">
                <a:solidFill>
                  <a:srgbClr val="1F2D3D"/>
                </a:solidFill>
              </a:rPr>
              <a:t>dự</a:t>
            </a:r>
            <a:r>
              <a:rPr lang="en-US" sz="900" dirty="0">
                <a:solidFill>
                  <a:srgbClr val="1F2D3D"/>
                </a:solidFill>
              </a:rPr>
              <a:t> </a:t>
            </a:r>
            <a:r>
              <a:rPr lang="en-US" sz="900" dirty="0" err="1">
                <a:solidFill>
                  <a:srgbClr val="1F2D3D"/>
                </a:solidFill>
              </a:rPr>
              <a:t>báo</a:t>
            </a:r>
            <a:r>
              <a:rPr lang="en-US" sz="900" dirty="0">
                <a:solidFill>
                  <a:srgbClr val="1F2D3D"/>
                </a:solidFill>
              </a:rPr>
              <a:t> </a:t>
            </a:r>
            <a:r>
              <a:rPr lang="en-US" sz="900" dirty="0" err="1">
                <a:solidFill>
                  <a:srgbClr val="1F2D3D"/>
                </a:solidFill>
              </a:rPr>
              <a:t>dương</a:t>
            </a:r>
            <a:r>
              <a:rPr lang="en-US" sz="900" dirty="0">
                <a:solidFill>
                  <a:srgbClr val="1F2D3D"/>
                </a:solidFill>
              </a:rPr>
              <a:t> </a:t>
            </a:r>
            <a:r>
              <a:rPr lang="en-US" sz="900" dirty="0" err="1">
                <a:solidFill>
                  <a:srgbClr val="1F2D3D"/>
                </a:solidFill>
              </a:rPr>
              <a:t>nhỏ</a:t>
            </a:r>
            <a:r>
              <a:rPr lang="en-US" sz="900" dirty="0">
                <a:solidFill>
                  <a:srgbClr val="1F2D3D"/>
                </a:solidFill>
              </a:rPr>
              <a:t> </a:t>
            </a:r>
            <a:r>
              <a:rPr lang="en-US" sz="900" dirty="0" err="1">
                <a:solidFill>
                  <a:srgbClr val="1F2D3D"/>
                </a:solidFill>
              </a:rPr>
              <a:t>cho</a:t>
            </a:r>
            <a:r>
              <a:rPr lang="en-US" sz="900" dirty="0">
                <a:solidFill>
                  <a:srgbClr val="1F2D3D"/>
                </a:solidFill>
              </a:rPr>
              <a:t> </a:t>
            </a:r>
            <a:r>
              <a:rPr lang="en-US" sz="900" dirty="0" err="1">
                <a:solidFill>
                  <a:srgbClr val="1F2D3D"/>
                </a:solidFill>
              </a:rPr>
              <a:t>các</a:t>
            </a:r>
            <a:r>
              <a:rPr lang="en-US" sz="900" dirty="0">
                <a:solidFill>
                  <a:srgbClr val="1F2D3D"/>
                </a:solidFill>
              </a:rPr>
              <a:t> </a:t>
            </a:r>
            <a:r>
              <a:rPr lang="en-US" sz="900" dirty="0" err="1">
                <a:solidFill>
                  <a:srgbClr val="1F2D3D"/>
                </a:solidFill>
              </a:rPr>
              <a:t>điểm</a:t>
            </a:r>
            <a:r>
              <a:rPr lang="en-US" sz="900" dirty="0">
                <a:solidFill>
                  <a:srgbClr val="1F2D3D"/>
                </a:solidFill>
              </a:rPr>
              <a:t> </a:t>
            </a:r>
            <a:r>
              <a:rPr lang="en-US" sz="900" dirty="0" err="1">
                <a:solidFill>
                  <a:srgbClr val="1F2D3D"/>
                </a:solidFill>
              </a:rPr>
              <a:t>không</a:t>
            </a:r>
            <a:r>
              <a:rPr lang="en-US" sz="900" dirty="0">
                <a:solidFill>
                  <a:srgbClr val="1F2D3D"/>
                </a:solidFill>
              </a:rPr>
              <a:t> </a:t>
            </a:r>
            <a:r>
              <a:rPr lang="en-US" sz="900" dirty="0" err="1">
                <a:solidFill>
                  <a:srgbClr val="1F2D3D"/>
                </a:solidFill>
              </a:rPr>
              <a:t>ngập</a:t>
            </a:r>
            <a:r>
              <a:rPr lang="en-US" sz="900" dirty="0">
                <a:solidFill>
                  <a:srgbClr val="1F2D3D"/>
                </a:solidFill>
              </a:rPr>
              <a:t>, </a:t>
            </a:r>
            <a:r>
              <a:rPr lang="en-US" sz="900" dirty="0" err="1">
                <a:solidFill>
                  <a:srgbClr val="1F2D3D"/>
                </a:solidFill>
              </a:rPr>
              <a:t>nhưng</a:t>
            </a:r>
            <a:r>
              <a:rPr lang="en-US" sz="900" dirty="0">
                <a:solidFill>
                  <a:srgbClr val="1F2D3D"/>
                </a:solidFill>
              </a:rPr>
              <a:t> ±1 </a:t>
            </a:r>
            <a:r>
              <a:rPr lang="en-US" sz="900" dirty="0" err="1">
                <a:solidFill>
                  <a:srgbClr val="1F2D3D"/>
                </a:solidFill>
              </a:rPr>
              <a:t>cấp</a:t>
            </a:r>
            <a:r>
              <a:rPr lang="en-US" sz="900" dirty="0">
                <a:solidFill>
                  <a:srgbClr val="1F2D3D"/>
                </a:solidFill>
              </a:rPr>
              <a:t> </a:t>
            </a:r>
            <a:r>
              <a:rPr lang="en-US" sz="900" dirty="0" err="1">
                <a:solidFill>
                  <a:srgbClr val="1F2D3D"/>
                </a:solidFill>
              </a:rPr>
              <a:t>vẫn</a:t>
            </a:r>
            <a:r>
              <a:rPr lang="en-US" sz="900" dirty="0">
                <a:solidFill>
                  <a:srgbClr val="1F2D3D"/>
                </a:solidFill>
              </a:rPr>
              <a:t> </a:t>
            </a:r>
            <a:r>
              <a:rPr lang="en-US" sz="900" dirty="0" err="1">
                <a:solidFill>
                  <a:srgbClr val="1F2D3D"/>
                </a:solidFill>
              </a:rPr>
              <a:t>đạt</a:t>
            </a:r>
            <a:r>
              <a:rPr lang="en-US" sz="900" dirty="0">
                <a:solidFill>
                  <a:srgbClr val="1F2D3D"/>
                </a:solidFill>
              </a:rPr>
              <a:t> 96,5%.</a:t>
            </a:r>
            <a:endParaRPr lang="en-US" sz="900" dirty="0"/>
          </a:p>
        </p:txBody>
      </p:sp>
      <p:sp>
        <p:nvSpPr>
          <p:cNvPr id="11" name="Text 7">
            <a:extLst>
              <a:ext uri="{FF2B5EF4-FFF2-40B4-BE49-F238E27FC236}">
                <a16:creationId xmlns:a16="http://schemas.microsoft.com/office/drawing/2014/main" id="{D6596BF8-CED7-6A83-1FC4-9576E83DEB05}"/>
              </a:ext>
            </a:extLst>
          </p:cNvPr>
          <p:cNvSpPr/>
          <p:nvPr/>
        </p:nvSpPr>
        <p:spPr>
          <a:xfrm>
            <a:off x="594360" y="5303520"/>
            <a:ext cx="10927080" cy="201168"/>
          </a:xfrm>
          <a:prstGeom prst="rect">
            <a:avLst/>
          </a:prstGeom>
          <a:noFill/>
          <a:ln/>
        </p:spPr>
        <p:txBody>
          <a:bodyPr wrap="square" lIns="0" tIns="0" rIns="0" bIns="0" rtlCol="0" anchor="ctr"/>
          <a:lstStyle/>
          <a:p>
            <a:pPr marL="0" indent="0" algn="ctr">
              <a:buNone/>
            </a:pPr>
            <a:r>
              <a:rPr lang="en-US" sz="750" i="1" dirty="0">
                <a:solidFill>
                  <a:srgbClr val="5D6D7E"/>
                </a:solidFill>
              </a:rPr>
              <a:t>built-in và permutation importance của RF</a:t>
            </a:r>
            <a:endParaRPr lang="en-US" sz="750" dirty="0"/>
          </a:p>
        </p:txBody>
      </p:sp>
      <p:sp>
        <p:nvSpPr>
          <p:cNvPr id="12" name="Shape 8">
            <a:extLst>
              <a:ext uri="{FF2B5EF4-FFF2-40B4-BE49-F238E27FC236}">
                <a16:creationId xmlns:a16="http://schemas.microsoft.com/office/drawing/2014/main" id="{8E4EB21C-3CD0-8A38-0DDB-752929A6CED9}"/>
              </a:ext>
            </a:extLst>
          </p:cNvPr>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3" name="Text 9">
            <a:extLst>
              <a:ext uri="{FF2B5EF4-FFF2-40B4-BE49-F238E27FC236}">
                <a16:creationId xmlns:a16="http://schemas.microsoft.com/office/drawing/2014/main" id="{32621B58-E609-9D50-688B-BB151FA41405}"/>
              </a:ext>
            </a:extLst>
          </p:cNvPr>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4" name="Text 10">
            <a:extLst>
              <a:ext uri="{FF2B5EF4-FFF2-40B4-BE49-F238E27FC236}">
                <a16:creationId xmlns:a16="http://schemas.microsoft.com/office/drawing/2014/main" id="{29FB633D-5AFB-FA2A-6064-7AC985438FFA}"/>
              </a:ext>
            </a:extLst>
          </p:cNvPr>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21</a:t>
            </a:r>
            <a:endParaRPr lang="en-US" sz="850" dirty="0"/>
          </a:p>
        </p:txBody>
      </p:sp>
      <p:pic>
        <p:nvPicPr>
          <p:cNvPr id="16" name="Picture 15" descr="image1.png">
            <a:extLst>
              <a:ext uri="{FF2B5EF4-FFF2-40B4-BE49-F238E27FC236}">
                <a16:creationId xmlns:a16="http://schemas.microsoft.com/office/drawing/2014/main" id="{DE77D96E-3509-F48E-0701-7335B079844C}"/>
              </a:ext>
            </a:extLst>
          </p:cNvPr>
          <p:cNvPicPr>
            <a:picLocks noChangeAspect="1"/>
          </p:cNvPicPr>
          <p:nvPr/>
        </p:nvPicPr>
        <p:blipFill>
          <a:blip r:embed="rId3"/>
          <a:stretch>
            <a:fillRect/>
          </a:stretch>
        </p:blipFill>
        <p:spPr>
          <a:xfrm>
            <a:off x="10945732" y="324612"/>
            <a:ext cx="384048" cy="384048"/>
          </a:xfrm>
          <a:prstGeom prst="rect">
            <a:avLst/>
          </a:prstGeom>
        </p:spPr>
      </p:pic>
      <p:pic>
        <p:nvPicPr>
          <p:cNvPr id="17" name="Image 0" descr="/mnt/data/deck_assets_new/p87_img1.png">
            <a:extLst>
              <a:ext uri="{FF2B5EF4-FFF2-40B4-BE49-F238E27FC236}">
                <a16:creationId xmlns:a16="http://schemas.microsoft.com/office/drawing/2014/main" id="{8BBB95E9-0B15-99D4-F70B-65921FF428A4}"/>
              </a:ext>
            </a:extLst>
          </p:cNvPr>
          <p:cNvPicPr>
            <a:picLocks noChangeAspect="1"/>
          </p:cNvPicPr>
          <p:nvPr/>
        </p:nvPicPr>
        <p:blipFill>
          <a:blip r:embed="rId4"/>
          <a:stretch>
            <a:fillRect/>
          </a:stretch>
        </p:blipFill>
        <p:spPr>
          <a:xfrm>
            <a:off x="598024" y="1202912"/>
            <a:ext cx="5433352" cy="4056235"/>
          </a:xfrm>
          <a:prstGeom prst="rect">
            <a:avLst/>
          </a:prstGeom>
        </p:spPr>
      </p:pic>
      <p:pic>
        <p:nvPicPr>
          <p:cNvPr id="19" name="Image 1" descr="/mnt/data/deck_assets_new/p87_img2.png">
            <a:extLst>
              <a:ext uri="{FF2B5EF4-FFF2-40B4-BE49-F238E27FC236}">
                <a16:creationId xmlns:a16="http://schemas.microsoft.com/office/drawing/2014/main" id="{37B4EA4F-2B37-6DCB-04C0-B122258DCC9C}"/>
              </a:ext>
            </a:extLst>
          </p:cNvPr>
          <p:cNvPicPr>
            <a:picLocks noChangeAspect="1"/>
          </p:cNvPicPr>
          <p:nvPr/>
        </p:nvPicPr>
        <p:blipFill>
          <a:blip r:embed="rId5"/>
          <a:stretch>
            <a:fillRect/>
          </a:stretch>
        </p:blipFill>
        <p:spPr>
          <a:xfrm>
            <a:off x="6263640" y="1252224"/>
            <a:ext cx="5257800" cy="3914610"/>
          </a:xfrm>
          <a:prstGeom prst="rect">
            <a:avLst/>
          </a:prstGeom>
        </p:spPr>
      </p:pic>
    </p:spTree>
    <p:extLst>
      <p:ext uri="{BB962C8B-B14F-4D97-AF65-F5344CB8AC3E}">
        <p14:creationId xmlns:p14="http://schemas.microsoft.com/office/powerpoint/2010/main" val="10486480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C2A111-4A80-7654-4AF7-E5D00B2DA4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85B563-C97C-4342-3EFF-B184F3A2562B}"/>
              </a:ext>
            </a:extLst>
          </p:cNvPr>
          <p:cNvSpPr/>
          <p:nvPr/>
        </p:nvSpPr>
        <p:spPr>
          <a:xfrm>
            <a:off x="548640" y="292608"/>
            <a:ext cx="10972800" cy="411480"/>
          </a:xfrm>
          <a:prstGeom prst="rect">
            <a:avLst/>
          </a:prstGeom>
          <a:noFill/>
          <a:ln/>
        </p:spPr>
        <p:txBody>
          <a:bodyPr wrap="square" lIns="0" tIns="0" rIns="0" bIns="0" rtlCol="0" anchor="ctr"/>
          <a:lstStyle/>
          <a:p>
            <a:r>
              <a:rPr lang="en-US" sz="2400" b="1" dirty="0" err="1">
                <a:solidFill>
                  <a:srgbClr val="0B3C5D"/>
                </a:solidFill>
              </a:rPr>
              <a:t>XGBoost</a:t>
            </a:r>
            <a:r>
              <a:rPr lang="en-US" sz="2400" b="1" dirty="0">
                <a:solidFill>
                  <a:srgbClr val="0B3C5D"/>
                </a:solidFill>
              </a:rPr>
              <a:t>: so </a:t>
            </a:r>
            <a:r>
              <a:rPr lang="en-US" sz="2400" b="1" dirty="0" err="1">
                <a:solidFill>
                  <a:srgbClr val="0B3C5D"/>
                </a:solidFill>
              </a:rPr>
              <a:t>sánh</a:t>
            </a:r>
            <a:r>
              <a:rPr lang="en-US" sz="2400" b="1" dirty="0">
                <a:solidFill>
                  <a:srgbClr val="0B3C5D"/>
                </a:solidFill>
              </a:rPr>
              <a:t> </a:t>
            </a:r>
            <a:r>
              <a:rPr lang="en-US" sz="2400" b="1" dirty="0" err="1">
                <a:solidFill>
                  <a:srgbClr val="0B3C5D"/>
                </a:solidFill>
              </a:rPr>
              <a:t>bản</a:t>
            </a:r>
            <a:r>
              <a:rPr lang="en-US" sz="2400" b="1" dirty="0">
                <a:solidFill>
                  <a:srgbClr val="0B3C5D"/>
                </a:solidFill>
              </a:rPr>
              <a:t> </a:t>
            </a:r>
            <a:r>
              <a:rPr lang="en-US" sz="2400" b="1" dirty="0" err="1">
                <a:solidFill>
                  <a:srgbClr val="0B3C5D"/>
                </a:solidFill>
              </a:rPr>
              <a:t>đồ</a:t>
            </a:r>
            <a:r>
              <a:rPr lang="en-US" sz="2400" b="1" dirty="0">
                <a:solidFill>
                  <a:srgbClr val="0B3C5D"/>
                </a:solidFill>
              </a:rPr>
              <a:t> RAW </a:t>
            </a:r>
            <a:r>
              <a:rPr lang="en-US" sz="2400" b="1" dirty="0" err="1">
                <a:solidFill>
                  <a:srgbClr val="0B3C5D"/>
                </a:solidFill>
              </a:rPr>
              <a:t>và</a:t>
            </a:r>
            <a:r>
              <a:rPr lang="en-US" sz="2400" b="1" dirty="0">
                <a:solidFill>
                  <a:srgbClr val="0B3C5D"/>
                </a:solidFill>
              </a:rPr>
              <a:t> </a:t>
            </a:r>
            <a:r>
              <a:rPr lang="en-US" sz="2400" b="1" dirty="0" err="1">
                <a:solidFill>
                  <a:srgbClr val="0B3C5D"/>
                </a:solidFill>
              </a:rPr>
              <a:t>hậu</a:t>
            </a:r>
            <a:r>
              <a:rPr lang="en-US" sz="2400" b="1" dirty="0">
                <a:solidFill>
                  <a:srgbClr val="0B3C5D"/>
                </a:solidFill>
              </a:rPr>
              <a:t> </a:t>
            </a:r>
            <a:r>
              <a:rPr lang="en-US" sz="2400" b="1" dirty="0" err="1">
                <a:solidFill>
                  <a:srgbClr val="0B3C5D"/>
                </a:solidFill>
              </a:rPr>
              <a:t>xử</a:t>
            </a:r>
            <a:r>
              <a:rPr lang="en-US" sz="2400" b="1" dirty="0">
                <a:solidFill>
                  <a:srgbClr val="0B3C5D"/>
                </a:solidFill>
              </a:rPr>
              <a:t> </a:t>
            </a:r>
            <a:r>
              <a:rPr lang="en-US" sz="2400" b="1" dirty="0" err="1">
                <a:solidFill>
                  <a:srgbClr val="0B3C5D"/>
                </a:solidFill>
              </a:rPr>
              <a:t>lý</a:t>
            </a:r>
            <a:endParaRPr lang="en-US" sz="2400" dirty="0"/>
          </a:p>
        </p:txBody>
      </p:sp>
      <p:sp>
        <p:nvSpPr>
          <p:cNvPr id="3" name="Shape 1">
            <a:extLst>
              <a:ext uri="{FF2B5EF4-FFF2-40B4-BE49-F238E27FC236}">
                <a16:creationId xmlns:a16="http://schemas.microsoft.com/office/drawing/2014/main" id="{0AD4A545-3B89-4101-0F63-BF0140AF7069}"/>
              </a:ext>
            </a:extLst>
          </p:cNvPr>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a:extLst>
              <a:ext uri="{FF2B5EF4-FFF2-40B4-BE49-F238E27FC236}">
                <a16:creationId xmlns:a16="http://schemas.microsoft.com/office/drawing/2014/main" id="{2BDEAE21-852C-113C-CC29-DE74335E53DF}"/>
              </a:ext>
            </a:extLst>
          </p:cNvPr>
          <p:cNvSpPr/>
          <p:nvPr/>
        </p:nvSpPr>
        <p:spPr>
          <a:xfrm>
            <a:off x="548640" y="868680"/>
            <a:ext cx="11064240" cy="228600"/>
          </a:xfrm>
          <a:prstGeom prst="rect">
            <a:avLst/>
          </a:prstGeom>
          <a:noFill/>
          <a:ln/>
        </p:spPr>
        <p:txBody>
          <a:bodyPr wrap="square" lIns="0" tIns="0" rIns="0" bIns="0" rtlCol="0" anchor="ctr"/>
          <a:lstStyle/>
          <a:p>
            <a:r>
              <a:rPr lang="en-US" sz="1050" dirty="0" err="1">
                <a:solidFill>
                  <a:srgbClr val="5D6D7E"/>
                </a:solidFill>
              </a:rPr>
              <a:t>Cần</a:t>
            </a:r>
            <a:r>
              <a:rPr lang="en-US" sz="1050" dirty="0">
                <a:solidFill>
                  <a:srgbClr val="5D6D7E"/>
                </a:solidFill>
              </a:rPr>
              <a:t> </a:t>
            </a:r>
            <a:r>
              <a:rPr lang="en-US" sz="1050" dirty="0" err="1">
                <a:solidFill>
                  <a:srgbClr val="5D6D7E"/>
                </a:solidFill>
              </a:rPr>
              <a:t>hậu</a:t>
            </a:r>
            <a:r>
              <a:rPr lang="en-US" sz="1050" dirty="0">
                <a:solidFill>
                  <a:srgbClr val="5D6D7E"/>
                </a:solidFill>
              </a:rPr>
              <a:t> </a:t>
            </a:r>
            <a:r>
              <a:rPr lang="en-US" sz="1050" dirty="0" err="1">
                <a:solidFill>
                  <a:srgbClr val="5D6D7E"/>
                </a:solidFill>
              </a:rPr>
              <a:t>xử</a:t>
            </a:r>
            <a:r>
              <a:rPr lang="en-US" sz="1050" dirty="0">
                <a:solidFill>
                  <a:srgbClr val="5D6D7E"/>
                </a:solidFill>
              </a:rPr>
              <a:t> </a:t>
            </a:r>
            <a:r>
              <a:rPr lang="en-US" sz="1050" dirty="0" err="1">
                <a:solidFill>
                  <a:srgbClr val="5D6D7E"/>
                </a:solidFill>
              </a:rPr>
              <a:t>lý</a:t>
            </a:r>
            <a:r>
              <a:rPr lang="en-US" sz="1050" dirty="0">
                <a:solidFill>
                  <a:srgbClr val="5D6D7E"/>
                </a:solidFill>
              </a:rPr>
              <a:t> </a:t>
            </a:r>
            <a:r>
              <a:rPr lang="en-US" sz="1050" dirty="0" err="1">
                <a:solidFill>
                  <a:srgbClr val="5D6D7E"/>
                </a:solidFill>
              </a:rPr>
              <a:t>không</a:t>
            </a:r>
            <a:r>
              <a:rPr lang="en-US" sz="1050" dirty="0">
                <a:solidFill>
                  <a:srgbClr val="5D6D7E"/>
                </a:solidFill>
              </a:rPr>
              <a:t> </a:t>
            </a:r>
            <a:r>
              <a:rPr lang="en-US" sz="1050" dirty="0" err="1">
                <a:solidFill>
                  <a:srgbClr val="5D6D7E"/>
                </a:solidFill>
              </a:rPr>
              <a:t>gian</a:t>
            </a:r>
            <a:r>
              <a:rPr lang="en-US" sz="1050" dirty="0">
                <a:solidFill>
                  <a:srgbClr val="5D6D7E"/>
                </a:solidFill>
              </a:rPr>
              <a:t> </a:t>
            </a:r>
            <a:r>
              <a:rPr lang="en-US" sz="1050" dirty="0" err="1">
                <a:solidFill>
                  <a:srgbClr val="5D6D7E"/>
                </a:solidFill>
              </a:rPr>
              <a:t>ngay</a:t>
            </a:r>
            <a:r>
              <a:rPr lang="en-US" sz="1050" dirty="0">
                <a:solidFill>
                  <a:srgbClr val="5D6D7E"/>
                </a:solidFill>
              </a:rPr>
              <a:t> </a:t>
            </a:r>
            <a:r>
              <a:rPr lang="en-US" sz="1050" dirty="0" err="1">
                <a:solidFill>
                  <a:srgbClr val="5D6D7E"/>
                </a:solidFill>
              </a:rPr>
              <a:t>cả</a:t>
            </a:r>
            <a:r>
              <a:rPr lang="en-US" sz="1050" dirty="0">
                <a:solidFill>
                  <a:srgbClr val="5D6D7E"/>
                </a:solidFill>
              </a:rPr>
              <a:t> </a:t>
            </a:r>
            <a:r>
              <a:rPr lang="en-US" sz="1050" dirty="0" err="1">
                <a:solidFill>
                  <a:srgbClr val="5D6D7E"/>
                </a:solidFill>
              </a:rPr>
              <a:t>khi</a:t>
            </a:r>
            <a:r>
              <a:rPr lang="en-US" sz="1050" dirty="0">
                <a:solidFill>
                  <a:srgbClr val="5D6D7E"/>
                </a:solidFill>
              </a:rPr>
              <a:t> </a:t>
            </a:r>
            <a:r>
              <a:rPr lang="en-US" sz="1050" dirty="0" err="1">
                <a:solidFill>
                  <a:srgbClr val="5D6D7E"/>
                </a:solidFill>
              </a:rPr>
              <a:t>mô</a:t>
            </a:r>
            <a:r>
              <a:rPr lang="en-US" sz="1050" dirty="0">
                <a:solidFill>
                  <a:srgbClr val="5D6D7E"/>
                </a:solidFill>
              </a:rPr>
              <a:t> </a:t>
            </a:r>
            <a:r>
              <a:rPr lang="en-US" sz="1050" dirty="0" err="1">
                <a:solidFill>
                  <a:srgbClr val="5D6D7E"/>
                </a:solidFill>
              </a:rPr>
              <a:t>hình</a:t>
            </a:r>
            <a:r>
              <a:rPr lang="en-US" sz="1050" dirty="0">
                <a:solidFill>
                  <a:srgbClr val="5D6D7E"/>
                </a:solidFill>
              </a:rPr>
              <a:t> </a:t>
            </a:r>
            <a:r>
              <a:rPr lang="en-US" sz="1050" dirty="0" err="1">
                <a:solidFill>
                  <a:srgbClr val="5D6D7E"/>
                </a:solidFill>
              </a:rPr>
              <a:t>có</a:t>
            </a:r>
            <a:r>
              <a:rPr lang="en-US" sz="1050" dirty="0">
                <a:solidFill>
                  <a:srgbClr val="5D6D7E"/>
                </a:solidFill>
              </a:rPr>
              <a:t> </a:t>
            </a:r>
            <a:r>
              <a:rPr lang="en-US" sz="1050" dirty="0" err="1">
                <a:solidFill>
                  <a:srgbClr val="5D6D7E"/>
                </a:solidFill>
              </a:rPr>
              <a:t>ràng</a:t>
            </a:r>
            <a:r>
              <a:rPr lang="en-US" sz="1050" dirty="0">
                <a:solidFill>
                  <a:srgbClr val="5D6D7E"/>
                </a:solidFill>
              </a:rPr>
              <a:t> </a:t>
            </a:r>
            <a:r>
              <a:rPr lang="en-US" sz="1050" dirty="0" err="1">
                <a:solidFill>
                  <a:srgbClr val="5D6D7E"/>
                </a:solidFill>
              </a:rPr>
              <a:t>buộc</a:t>
            </a:r>
            <a:r>
              <a:rPr lang="en-US" sz="1050" dirty="0">
                <a:solidFill>
                  <a:srgbClr val="5D6D7E"/>
                </a:solidFill>
              </a:rPr>
              <a:t> </a:t>
            </a:r>
            <a:r>
              <a:rPr lang="en-US" sz="1050" dirty="0" err="1">
                <a:solidFill>
                  <a:srgbClr val="5D6D7E"/>
                </a:solidFill>
              </a:rPr>
              <a:t>đơn</a:t>
            </a:r>
            <a:r>
              <a:rPr lang="en-US" sz="1050" dirty="0">
                <a:solidFill>
                  <a:srgbClr val="5D6D7E"/>
                </a:solidFill>
              </a:rPr>
              <a:t> </a:t>
            </a:r>
            <a:r>
              <a:rPr lang="en-US" sz="1050" dirty="0" err="1">
                <a:solidFill>
                  <a:srgbClr val="5D6D7E"/>
                </a:solidFill>
              </a:rPr>
              <a:t>điệu</a:t>
            </a:r>
            <a:r>
              <a:rPr lang="en-US" sz="1050" dirty="0">
                <a:solidFill>
                  <a:srgbClr val="5D6D7E"/>
                </a:solidFill>
              </a:rPr>
              <a:t> </a:t>
            </a:r>
            <a:r>
              <a:rPr lang="en-US" sz="1050" dirty="0" err="1">
                <a:solidFill>
                  <a:srgbClr val="5D6D7E"/>
                </a:solidFill>
              </a:rPr>
              <a:t>trong</a:t>
            </a:r>
            <a:r>
              <a:rPr lang="en-US" sz="1050" dirty="0">
                <a:solidFill>
                  <a:srgbClr val="5D6D7E"/>
                </a:solidFill>
              </a:rPr>
              <a:t> </a:t>
            </a:r>
            <a:r>
              <a:rPr lang="en-US" sz="1050" dirty="0" err="1">
                <a:solidFill>
                  <a:srgbClr val="5D6D7E"/>
                </a:solidFill>
              </a:rPr>
              <a:t>huấn</a:t>
            </a:r>
            <a:r>
              <a:rPr lang="en-US" sz="1050" dirty="0">
                <a:solidFill>
                  <a:srgbClr val="5D6D7E"/>
                </a:solidFill>
              </a:rPr>
              <a:t> </a:t>
            </a:r>
            <a:r>
              <a:rPr lang="en-US" sz="1050" dirty="0" err="1">
                <a:solidFill>
                  <a:srgbClr val="5D6D7E"/>
                </a:solidFill>
              </a:rPr>
              <a:t>luyện</a:t>
            </a:r>
            <a:r>
              <a:rPr lang="en-US" sz="1050" dirty="0">
                <a:solidFill>
                  <a:srgbClr val="5D6D7E"/>
                </a:solidFill>
              </a:rPr>
              <a:t>.</a:t>
            </a:r>
            <a:endParaRPr lang="en-US" sz="1050" dirty="0"/>
          </a:p>
        </p:txBody>
      </p:sp>
      <p:sp>
        <p:nvSpPr>
          <p:cNvPr id="5" name="Shape 3">
            <a:extLst>
              <a:ext uri="{FF2B5EF4-FFF2-40B4-BE49-F238E27FC236}">
                <a16:creationId xmlns:a16="http://schemas.microsoft.com/office/drawing/2014/main" id="{69CAE9B0-2562-E4F3-72A1-A9F98DBDD448}"/>
              </a:ext>
            </a:extLst>
          </p:cNvPr>
          <p:cNvSpPr/>
          <p:nvPr/>
        </p:nvSpPr>
        <p:spPr>
          <a:xfrm>
            <a:off x="548640" y="1327231"/>
            <a:ext cx="3611880" cy="2971800"/>
          </a:xfrm>
          <a:prstGeom prst="roundRect">
            <a:avLst>
              <a:gd name="adj" fmla="val 2462"/>
            </a:avLst>
          </a:prstGeom>
          <a:solidFill>
            <a:srgbClr val="FFFFFF"/>
          </a:solidFill>
          <a:ln w="12700">
            <a:solidFill>
              <a:srgbClr val="D6DEE6"/>
            </a:solidFill>
            <a:prstDash val="solid"/>
          </a:ln>
        </p:spPr>
        <p:txBody>
          <a:bodyPr/>
          <a:lstStyle/>
          <a:p>
            <a:endParaRPr lang="vi-VN"/>
          </a:p>
        </p:txBody>
      </p:sp>
      <p:sp>
        <p:nvSpPr>
          <p:cNvPr id="7" name="Shape 4">
            <a:extLst>
              <a:ext uri="{FF2B5EF4-FFF2-40B4-BE49-F238E27FC236}">
                <a16:creationId xmlns:a16="http://schemas.microsoft.com/office/drawing/2014/main" id="{AA3C7356-893B-2540-5EB6-40697FF6AD7F}"/>
              </a:ext>
            </a:extLst>
          </p:cNvPr>
          <p:cNvSpPr/>
          <p:nvPr/>
        </p:nvSpPr>
        <p:spPr>
          <a:xfrm>
            <a:off x="4343400" y="1327231"/>
            <a:ext cx="3611880" cy="2971800"/>
          </a:xfrm>
          <a:prstGeom prst="roundRect">
            <a:avLst>
              <a:gd name="adj" fmla="val 2462"/>
            </a:avLst>
          </a:prstGeom>
          <a:solidFill>
            <a:srgbClr val="FFFFFF"/>
          </a:solidFill>
          <a:ln w="12700">
            <a:solidFill>
              <a:srgbClr val="D6DEE6"/>
            </a:solidFill>
            <a:prstDash val="solid"/>
          </a:ln>
        </p:spPr>
        <p:txBody>
          <a:bodyPr/>
          <a:lstStyle/>
          <a:p>
            <a:endParaRPr lang="vi-VN"/>
          </a:p>
        </p:txBody>
      </p:sp>
      <p:sp>
        <p:nvSpPr>
          <p:cNvPr id="9" name="Shape 5">
            <a:extLst>
              <a:ext uri="{FF2B5EF4-FFF2-40B4-BE49-F238E27FC236}">
                <a16:creationId xmlns:a16="http://schemas.microsoft.com/office/drawing/2014/main" id="{B47E42D4-E486-11CC-CE70-502AA1359E88}"/>
              </a:ext>
            </a:extLst>
          </p:cNvPr>
          <p:cNvSpPr/>
          <p:nvPr/>
        </p:nvSpPr>
        <p:spPr>
          <a:xfrm>
            <a:off x="8138160" y="1327231"/>
            <a:ext cx="3429000" cy="2971800"/>
          </a:xfrm>
          <a:prstGeom prst="roundRect">
            <a:avLst>
              <a:gd name="adj" fmla="val 2462"/>
            </a:avLst>
          </a:prstGeom>
          <a:solidFill>
            <a:srgbClr val="FFFFFF"/>
          </a:solidFill>
          <a:ln w="12700">
            <a:solidFill>
              <a:srgbClr val="D6DEE6"/>
            </a:solidFill>
            <a:prstDash val="solid"/>
          </a:ln>
        </p:spPr>
        <p:txBody>
          <a:bodyPr/>
          <a:lstStyle/>
          <a:p>
            <a:endParaRPr lang="vi-VN"/>
          </a:p>
        </p:txBody>
      </p:sp>
      <p:sp>
        <p:nvSpPr>
          <p:cNvPr id="11" name="Text 6">
            <a:extLst>
              <a:ext uri="{FF2B5EF4-FFF2-40B4-BE49-F238E27FC236}">
                <a16:creationId xmlns:a16="http://schemas.microsoft.com/office/drawing/2014/main" id="{0CCE0C6C-B052-B443-27B0-F52F9D252418}"/>
              </a:ext>
            </a:extLst>
          </p:cNvPr>
          <p:cNvSpPr/>
          <p:nvPr/>
        </p:nvSpPr>
        <p:spPr>
          <a:xfrm>
            <a:off x="548640" y="4156489"/>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(a) RAW</a:t>
            </a:r>
            <a:endParaRPr lang="en-US" sz="900" dirty="0"/>
          </a:p>
        </p:txBody>
      </p:sp>
      <p:sp>
        <p:nvSpPr>
          <p:cNvPr id="12" name="Text 7">
            <a:extLst>
              <a:ext uri="{FF2B5EF4-FFF2-40B4-BE49-F238E27FC236}">
                <a16:creationId xmlns:a16="http://schemas.microsoft.com/office/drawing/2014/main" id="{D82BD867-D315-642E-385D-DAC8B92F8B04}"/>
              </a:ext>
            </a:extLst>
          </p:cNvPr>
          <p:cNvSpPr/>
          <p:nvPr/>
        </p:nvSpPr>
        <p:spPr>
          <a:xfrm>
            <a:off x="4343400" y="4156489"/>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(b) </a:t>
            </a:r>
            <a:r>
              <a:rPr lang="vi-VN" sz="900" dirty="0">
                <a:solidFill>
                  <a:srgbClr val="5D6D7E"/>
                </a:solidFill>
              </a:rPr>
              <a:t>Hậu</a:t>
            </a:r>
            <a:r>
              <a:rPr lang="en-US" sz="900" dirty="0">
                <a:solidFill>
                  <a:srgbClr val="5D6D7E"/>
                </a:solidFill>
              </a:rPr>
              <a:t> xử lý</a:t>
            </a:r>
            <a:endParaRPr lang="en-US" sz="900" dirty="0"/>
          </a:p>
        </p:txBody>
      </p:sp>
      <p:sp>
        <p:nvSpPr>
          <p:cNvPr id="13" name="Text 8">
            <a:extLst>
              <a:ext uri="{FF2B5EF4-FFF2-40B4-BE49-F238E27FC236}">
                <a16:creationId xmlns:a16="http://schemas.microsoft.com/office/drawing/2014/main" id="{54710855-FE8F-6115-5453-83DB1F4B1C1D}"/>
              </a:ext>
            </a:extLst>
          </p:cNvPr>
          <p:cNvSpPr/>
          <p:nvPr/>
        </p:nvSpPr>
        <p:spPr>
          <a:xfrm>
            <a:off x="8138160" y="4156489"/>
            <a:ext cx="3429000" cy="182880"/>
          </a:xfrm>
          <a:prstGeom prst="rect">
            <a:avLst/>
          </a:prstGeom>
          <a:noFill/>
          <a:ln/>
        </p:spPr>
        <p:txBody>
          <a:bodyPr wrap="square" lIns="0" tIns="0" rIns="0" bIns="0" rtlCol="0" anchor="ctr"/>
          <a:lstStyle/>
          <a:p>
            <a:pPr marL="0" indent="0" algn="ctr">
              <a:buNone/>
            </a:pPr>
            <a:r>
              <a:rPr lang="en-US" sz="900" dirty="0">
                <a:solidFill>
                  <a:srgbClr val="5D6D7E"/>
                </a:solidFill>
              </a:rPr>
              <a:t>Bản đồ phân vùng 6 cấp</a:t>
            </a:r>
            <a:endParaRPr lang="en-US" sz="900" dirty="0"/>
          </a:p>
        </p:txBody>
      </p:sp>
      <p:sp>
        <p:nvSpPr>
          <p:cNvPr id="16" name="Shape 11">
            <a:extLst>
              <a:ext uri="{FF2B5EF4-FFF2-40B4-BE49-F238E27FC236}">
                <a16:creationId xmlns:a16="http://schemas.microsoft.com/office/drawing/2014/main" id="{70330064-1AE7-CFB9-4E1A-FF0AA53B5C2C}"/>
              </a:ext>
            </a:extLst>
          </p:cNvPr>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7" name="Text 12">
            <a:extLst>
              <a:ext uri="{FF2B5EF4-FFF2-40B4-BE49-F238E27FC236}">
                <a16:creationId xmlns:a16="http://schemas.microsoft.com/office/drawing/2014/main" id="{3E3E610D-F941-FED7-5A9A-7EE4470DF6A0}"/>
              </a:ext>
            </a:extLst>
          </p:cNvPr>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8" name="Text 13">
            <a:extLst>
              <a:ext uri="{FF2B5EF4-FFF2-40B4-BE49-F238E27FC236}">
                <a16:creationId xmlns:a16="http://schemas.microsoft.com/office/drawing/2014/main" id="{77CD69EC-4ADE-9C60-20B0-CC637D51691A}"/>
              </a:ext>
            </a:extLst>
          </p:cNvPr>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22</a:t>
            </a:r>
            <a:endParaRPr lang="en-US" sz="850" dirty="0"/>
          </a:p>
        </p:txBody>
      </p:sp>
      <p:pic>
        <p:nvPicPr>
          <p:cNvPr id="20" name="Image 2" descr="/mnt/data/deck_assets_new/p90_img1.png">
            <a:extLst>
              <a:ext uri="{FF2B5EF4-FFF2-40B4-BE49-F238E27FC236}">
                <a16:creationId xmlns:a16="http://schemas.microsoft.com/office/drawing/2014/main" id="{01B7EF78-09C6-A862-07EA-63DACE17AAEE}"/>
              </a:ext>
            </a:extLst>
          </p:cNvPr>
          <p:cNvPicPr>
            <a:picLocks noChangeAspect="1"/>
          </p:cNvPicPr>
          <p:nvPr/>
        </p:nvPicPr>
        <p:blipFill>
          <a:blip r:embed="rId3"/>
          <a:stretch>
            <a:fillRect/>
          </a:stretch>
        </p:blipFill>
        <p:spPr>
          <a:xfrm>
            <a:off x="8152861" y="1593482"/>
            <a:ext cx="3399597" cy="2405542"/>
          </a:xfrm>
          <a:prstGeom prst="rect">
            <a:avLst/>
          </a:prstGeom>
        </p:spPr>
      </p:pic>
      <p:pic>
        <p:nvPicPr>
          <p:cNvPr id="22" name="Image 0" descr="/mnt/data/deck_assets_new/p89_img1.png">
            <a:extLst>
              <a:ext uri="{FF2B5EF4-FFF2-40B4-BE49-F238E27FC236}">
                <a16:creationId xmlns:a16="http://schemas.microsoft.com/office/drawing/2014/main" id="{346D3F41-B337-32B7-0FA9-1FAF475A13F2}"/>
              </a:ext>
            </a:extLst>
          </p:cNvPr>
          <p:cNvPicPr>
            <a:picLocks noChangeAspect="1"/>
          </p:cNvPicPr>
          <p:nvPr/>
        </p:nvPicPr>
        <p:blipFill>
          <a:blip r:embed="rId4"/>
          <a:stretch>
            <a:fillRect/>
          </a:stretch>
        </p:blipFill>
        <p:spPr>
          <a:xfrm>
            <a:off x="548640" y="1522398"/>
            <a:ext cx="3611880" cy="2552785"/>
          </a:xfrm>
          <a:prstGeom prst="rect">
            <a:avLst/>
          </a:prstGeom>
        </p:spPr>
      </p:pic>
      <p:pic>
        <p:nvPicPr>
          <p:cNvPr id="24" name="Image 1" descr="/mnt/data/deck_assets_new/p89_img2.png">
            <a:extLst>
              <a:ext uri="{FF2B5EF4-FFF2-40B4-BE49-F238E27FC236}">
                <a16:creationId xmlns:a16="http://schemas.microsoft.com/office/drawing/2014/main" id="{B5AB8408-1374-F71D-D83E-CE6E9ADA2B08}"/>
              </a:ext>
            </a:extLst>
          </p:cNvPr>
          <p:cNvPicPr>
            <a:picLocks noChangeAspect="1"/>
          </p:cNvPicPr>
          <p:nvPr/>
        </p:nvPicPr>
        <p:blipFill>
          <a:blip r:embed="rId5"/>
          <a:stretch>
            <a:fillRect/>
          </a:stretch>
        </p:blipFill>
        <p:spPr>
          <a:xfrm>
            <a:off x="4353769" y="1522398"/>
            <a:ext cx="3601511" cy="2548033"/>
          </a:xfrm>
          <a:prstGeom prst="rect">
            <a:avLst/>
          </a:prstGeom>
        </p:spPr>
      </p:pic>
      <p:sp>
        <p:nvSpPr>
          <p:cNvPr id="26" name="Shape 7">
            <a:extLst>
              <a:ext uri="{FF2B5EF4-FFF2-40B4-BE49-F238E27FC236}">
                <a16:creationId xmlns:a16="http://schemas.microsoft.com/office/drawing/2014/main" id="{707362ED-B984-C97C-6B22-F0290BC090ED}"/>
              </a:ext>
            </a:extLst>
          </p:cNvPr>
          <p:cNvSpPr/>
          <p:nvPr/>
        </p:nvSpPr>
        <p:spPr>
          <a:xfrm>
            <a:off x="1005840" y="4890692"/>
            <a:ext cx="10195560" cy="438912"/>
          </a:xfrm>
          <a:prstGeom prst="roundRect">
            <a:avLst>
              <a:gd name="adj" fmla="val 16667"/>
            </a:avLst>
          </a:prstGeom>
          <a:solidFill>
            <a:srgbClr val="FFF3E8"/>
          </a:solidFill>
          <a:ln w="12700">
            <a:solidFill>
              <a:srgbClr val="D6DEE6"/>
            </a:solidFill>
            <a:prstDash val="solid"/>
          </a:ln>
        </p:spPr>
        <p:txBody>
          <a:bodyPr/>
          <a:lstStyle/>
          <a:p>
            <a:endParaRPr lang="vi-VN"/>
          </a:p>
        </p:txBody>
      </p:sp>
      <p:sp>
        <p:nvSpPr>
          <p:cNvPr id="28" name="Text 8">
            <a:extLst>
              <a:ext uri="{FF2B5EF4-FFF2-40B4-BE49-F238E27FC236}">
                <a16:creationId xmlns:a16="http://schemas.microsoft.com/office/drawing/2014/main" id="{B7A30ADD-8369-736E-FBF1-C5A3E70FD179}"/>
              </a:ext>
            </a:extLst>
          </p:cNvPr>
          <p:cNvSpPr/>
          <p:nvPr/>
        </p:nvSpPr>
        <p:spPr>
          <a:xfrm>
            <a:off x="1234440" y="5036996"/>
            <a:ext cx="9738360" cy="146304"/>
          </a:xfrm>
          <a:prstGeom prst="rect">
            <a:avLst/>
          </a:prstGeom>
          <a:noFill/>
          <a:ln/>
        </p:spPr>
        <p:txBody>
          <a:bodyPr wrap="square" lIns="0" tIns="0" rIns="0" bIns="0" rtlCol="0" anchor="ctr">
            <a:normAutofit/>
          </a:bodyPr>
          <a:lstStyle/>
          <a:p>
            <a:pPr marL="0" indent="0">
              <a:buNone/>
            </a:pPr>
            <a:r>
              <a:rPr lang="en-US" sz="880" dirty="0" err="1">
                <a:solidFill>
                  <a:srgbClr val="1F2D3D"/>
                </a:solidFill>
              </a:rPr>
              <a:t>ràng</a:t>
            </a:r>
            <a:r>
              <a:rPr lang="en-US" sz="880" dirty="0">
                <a:solidFill>
                  <a:srgbClr val="1F2D3D"/>
                </a:solidFill>
              </a:rPr>
              <a:t> buộc đơn điệu làm mô hình nhất quán hơn theo biến đầu vào, còn hậu xử lý giúp kết quả hợp lý hơn về mặt không gian – thủy lực.</a:t>
            </a:r>
            <a:endParaRPr lang="en-US" sz="880" dirty="0"/>
          </a:p>
        </p:txBody>
      </p:sp>
    </p:spTree>
    <p:extLst>
      <p:ext uri="{BB962C8B-B14F-4D97-AF65-F5344CB8AC3E}">
        <p14:creationId xmlns:p14="http://schemas.microsoft.com/office/powerpoint/2010/main" val="256343646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Deep Neural Network: cấu hình và chỉ số</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DNN có ưu thế rõ nhất ở các điểm không ngập nhờ bounded output.</a:t>
            </a:r>
            <a:endParaRPr lang="en-US" sz="1050" dirty="0"/>
          </a:p>
        </p:txBody>
      </p:sp>
      <p:sp>
        <p:nvSpPr>
          <p:cNvPr id="5" name="Shape 3"/>
          <p:cNvSpPr/>
          <p:nvPr/>
        </p:nvSpPr>
        <p:spPr>
          <a:xfrm>
            <a:off x="68580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6" name="Text 4"/>
          <p:cNvSpPr/>
          <p:nvPr/>
        </p:nvSpPr>
        <p:spPr>
          <a:xfrm>
            <a:off x="685800" y="1371600"/>
            <a:ext cx="1691640" cy="292608"/>
          </a:xfrm>
          <a:prstGeom prst="rect">
            <a:avLst/>
          </a:prstGeom>
          <a:noFill/>
          <a:ln/>
        </p:spPr>
        <p:txBody>
          <a:bodyPr wrap="square" lIns="0" tIns="0" rIns="0" bIns="0" rtlCol="0" anchor="ctr"/>
          <a:lstStyle/>
          <a:p>
            <a:pPr marL="0" indent="0" algn="ctr">
              <a:buNone/>
            </a:pPr>
            <a:r>
              <a:rPr lang="en-US" sz="2100" b="1" dirty="0">
                <a:solidFill>
                  <a:srgbClr val="E87E22"/>
                </a:solidFill>
              </a:rPr>
              <a:t>0,8847</a:t>
            </a:r>
            <a:endParaRPr lang="en-US" sz="2100" dirty="0"/>
          </a:p>
        </p:txBody>
      </p:sp>
      <p:sp>
        <p:nvSpPr>
          <p:cNvPr id="7" name="Text 5"/>
          <p:cNvSpPr/>
          <p:nvPr/>
        </p:nvSpPr>
        <p:spPr>
          <a:xfrm>
            <a:off x="73152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R² overall</a:t>
            </a:r>
            <a:endParaRPr lang="en-US" sz="900" dirty="0"/>
          </a:p>
        </p:txBody>
      </p:sp>
      <p:sp>
        <p:nvSpPr>
          <p:cNvPr id="8" name="Shape 6"/>
          <p:cNvSpPr/>
          <p:nvPr/>
        </p:nvSpPr>
        <p:spPr>
          <a:xfrm>
            <a:off x="260604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9" name="Text 7"/>
          <p:cNvSpPr/>
          <p:nvPr/>
        </p:nvSpPr>
        <p:spPr>
          <a:xfrm>
            <a:off x="2606040" y="1371600"/>
            <a:ext cx="1691640" cy="292608"/>
          </a:xfrm>
          <a:prstGeom prst="rect">
            <a:avLst/>
          </a:prstGeom>
          <a:noFill/>
          <a:ln/>
        </p:spPr>
        <p:txBody>
          <a:bodyPr wrap="square" lIns="0" tIns="0" rIns="0" bIns="0" rtlCol="0" anchor="ctr"/>
          <a:lstStyle/>
          <a:p>
            <a:pPr marL="0" indent="0" algn="ctr">
              <a:buNone/>
            </a:pPr>
            <a:r>
              <a:rPr lang="en-US" sz="2100" b="1" dirty="0">
                <a:solidFill>
                  <a:srgbClr val="E87E22"/>
                </a:solidFill>
              </a:rPr>
              <a:t>0,279 m</a:t>
            </a:r>
            <a:endParaRPr lang="en-US" sz="2100" dirty="0"/>
          </a:p>
        </p:txBody>
      </p:sp>
      <p:sp>
        <p:nvSpPr>
          <p:cNvPr id="10" name="Text 8"/>
          <p:cNvSpPr/>
          <p:nvPr/>
        </p:nvSpPr>
        <p:spPr>
          <a:xfrm>
            <a:off x="265176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RMSE</a:t>
            </a:r>
            <a:endParaRPr lang="en-US" sz="900" dirty="0"/>
          </a:p>
        </p:txBody>
      </p:sp>
      <p:sp>
        <p:nvSpPr>
          <p:cNvPr id="11" name="Shape 9"/>
          <p:cNvSpPr/>
          <p:nvPr/>
        </p:nvSpPr>
        <p:spPr>
          <a:xfrm>
            <a:off x="452628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2" name="Text 10"/>
          <p:cNvSpPr/>
          <p:nvPr/>
        </p:nvSpPr>
        <p:spPr>
          <a:xfrm>
            <a:off x="4526280" y="1371600"/>
            <a:ext cx="1691640" cy="292608"/>
          </a:xfrm>
          <a:prstGeom prst="rect">
            <a:avLst/>
          </a:prstGeom>
          <a:noFill/>
          <a:ln/>
        </p:spPr>
        <p:txBody>
          <a:bodyPr wrap="square" lIns="0" tIns="0" rIns="0" bIns="0" rtlCol="0" anchor="ctr"/>
          <a:lstStyle/>
          <a:p>
            <a:pPr marL="0" indent="0" algn="ctr">
              <a:buNone/>
            </a:pPr>
            <a:r>
              <a:rPr lang="en-US" sz="2100" b="1" dirty="0">
                <a:solidFill>
                  <a:srgbClr val="E87E22"/>
                </a:solidFill>
              </a:rPr>
              <a:t>0,141 m</a:t>
            </a:r>
            <a:endParaRPr lang="en-US" sz="2100" dirty="0"/>
          </a:p>
        </p:txBody>
      </p:sp>
      <p:sp>
        <p:nvSpPr>
          <p:cNvPr id="13" name="Text 11"/>
          <p:cNvSpPr/>
          <p:nvPr/>
        </p:nvSpPr>
        <p:spPr>
          <a:xfrm>
            <a:off x="457200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MAE</a:t>
            </a:r>
            <a:endParaRPr lang="en-US" sz="900" dirty="0"/>
          </a:p>
        </p:txBody>
      </p:sp>
      <p:sp>
        <p:nvSpPr>
          <p:cNvPr id="14" name="Shape 12"/>
          <p:cNvSpPr/>
          <p:nvPr/>
        </p:nvSpPr>
        <p:spPr>
          <a:xfrm>
            <a:off x="644652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5" name="Text 13"/>
          <p:cNvSpPr/>
          <p:nvPr/>
        </p:nvSpPr>
        <p:spPr>
          <a:xfrm>
            <a:off x="6446520" y="1371600"/>
            <a:ext cx="1691640" cy="292608"/>
          </a:xfrm>
          <a:prstGeom prst="rect">
            <a:avLst/>
          </a:prstGeom>
          <a:noFill/>
          <a:ln/>
        </p:spPr>
        <p:txBody>
          <a:bodyPr wrap="square" lIns="0" tIns="0" rIns="0" bIns="0" rtlCol="0" anchor="ctr"/>
          <a:lstStyle/>
          <a:p>
            <a:pPr marL="0" indent="0" algn="ctr">
              <a:buNone/>
            </a:pPr>
            <a:r>
              <a:rPr lang="en-US" sz="2100" b="1" dirty="0">
                <a:solidFill>
                  <a:srgbClr val="E87E22"/>
                </a:solidFill>
              </a:rPr>
              <a:t>25,35%</a:t>
            </a:r>
            <a:endParaRPr lang="en-US" sz="2100" dirty="0"/>
          </a:p>
        </p:txBody>
      </p:sp>
      <p:sp>
        <p:nvSpPr>
          <p:cNvPr id="16" name="Text 14"/>
          <p:cNvSpPr/>
          <p:nvPr/>
        </p:nvSpPr>
        <p:spPr>
          <a:xfrm>
            <a:off x="649224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MAPE</a:t>
            </a:r>
            <a:endParaRPr lang="en-US" sz="900" dirty="0"/>
          </a:p>
        </p:txBody>
      </p:sp>
      <p:sp>
        <p:nvSpPr>
          <p:cNvPr id="17" name="Shape 15"/>
          <p:cNvSpPr/>
          <p:nvPr/>
        </p:nvSpPr>
        <p:spPr>
          <a:xfrm>
            <a:off x="8366760" y="1234440"/>
            <a:ext cx="169164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18" name="Text 16"/>
          <p:cNvSpPr/>
          <p:nvPr/>
        </p:nvSpPr>
        <p:spPr>
          <a:xfrm>
            <a:off x="8366760" y="1371600"/>
            <a:ext cx="1691640" cy="292608"/>
          </a:xfrm>
          <a:prstGeom prst="rect">
            <a:avLst/>
          </a:prstGeom>
          <a:noFill/>
          <a:ln/>
        </p:spPr>
        <p:txBody>
          <a:bodyPr wrap="square" lIns="0" tIns="0" rIns="0" bIns="0" rtlCol="0" anchor="ctr"/>
          <a:lstStyle/>
          <a:p>
            <a:pPr marL="0" indent="0" algn="ctr">
              <a:buNone/>
            </a:pPr>
            <a:r>
              <a:rPr lang="en-US" sz="2100" b="1" dirty="0">
                <a:solidFill>
                  <a:srgbClr val="1D7A48"/>
                </a:solidFill>
              </a:rPr>
              <a:t>0,070 m</a:t>
            </a:r>
            <a:endParaRPr lang="en-US" sz="2100" dirty="0"/>
          </a:p>
        </p:txBody>
      </p:sp>
      <p:sp>
        <p:nvSpPr>
          <p:cNvPr id="19" name="Text 17"/>
          <p:cNvSpPr/>
          <p:nvPr/>
        </p:nvSpPr>
        <p:spPr>
          <a:xfrm>
            <a:off x="8412480" y="1737360"/>
            <a:ext cx="160020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RMSE 0 m</a:t>
            </a:r>
            <a:endParaRPr lang="en-US" sz="900" dirty="0"/>
          </a:p>
        </p:txBody>
      </p:sp>
      <p:sp>
        <p:nvSpPr>
          <p:cNvPr id="20" name="Shape 18"/>
          <p:cNvSpPr/>
          <p:nvPr/>
        </p:nvSpPr>
        <p:spPr>
          <a:xfrm>
            <a:off x="10287000" y="1234440"/>
            <a:ext cx="1188720" cy="960120"/>
          </a:xfrm>
          <a:prstGeom prst="roundRect">
            <a:avLst>
              <a:gd name="adj" fmla="val 7619"/>
            </a:avLst>
          </a:prstGeom>
          <a:solidFill>
            <a:srgbClr val="FFFFFF"/>
          </a:solidFill>
          <a:ln w="12700">
            <a:solidFill>
              <a:srgbClr val="D6DEE6"/>
            </a:solidFill>
            <a:prstDash val="solid"/>
          </a:ln>
        </p:spPr>
        <p:txBody>
          <a:bodyPr/>
          <a:lstStyle/>
          <a:p>
            <a:endParaRPr lang="vi-VN"/>
          </a:p>
        </p:txBody>
      </p:sp>
      <p:sp>
        <p:nvSpPr>
          <p:cNvPr id="21" name="Text 19"/>
          <p:cNvSpPr/>
          <p:nvPr/>
        </p:nvSpPr>
        <p:spPr>
          <a:xfrm>
            <a:off x="10287000" y="1371600"/>
            <a:ext cx="1188720" cy="292608"/>
          </a:xfrm>
          <a:prstGeom prst="rect">
            <a:avLst/>
          </a:prstGeom>
          <a:noFill/>
          <a:ln/>
        </p:spPr>
        <p:txBody>
          <a:bodyPr wrap="square" lIns="0" tIns="0" rIns="0" bIns="0" rtlCol="0" anchor="ctr"/>
          <a:lstStyle/>
          <a:p>
            <a:pPr marL="0" indent="0" algn="ctr">
              <a:buNone/>
            </a:pPr>
            <a:r>
              <a:rPr lang="en-US" sz="2100" b="1" dirty="0">
                <a:solidFill>
                  <a:srgbClr val="1D7A48"/>
                </a:solidFill>
              </a:rPr>
              <a:t>97,50%</a:t>
            </a:r>
            <a:endParaRPr lang="en-US" sz="2100" dirty="0"/>
          </a:p>
        </p:txBody>
      </p:sp>
      <p:sp>
        <p:nvSpPr>
          <p:cNvPr id="22" name="Text 20"/>
          <p:cNvSpPr/>
          <p:nvPr/>
        </p:nvSpPr>
        <p:spPr>
          <a:xfrm>
            <a:off x="10332720" y="1737360"/>
            <a:ext cx="1097280" cy="274320"/>
          </a:xfrm>
          <a:prstGeom prst="rect">
            <a:avLst/>
          </a:prstGeom>
          <a:noFill/>
          <a:ln/>
        </p:spPr>
        <p:txBody>
          <a:bodyPr wrap="square" lIns="0" tIns="0" rIns="0" bIns="0" rtlCol="0" anchor="ctr">
            <a:normAutofit/>
          </a:bodyPr>
          <a:lstStyle/>
          <a:p>
            <a:pPr marL="0" indent="0" algn="ctr">
              <a:buNone/>
            </a:pPr>
            <a:r>
              <a:rPr lang="en-US" sz="900" dirty="0">
                <a:solidFill>
                  <a:srgbClr val="5D6D7E"/>
                </a:solidFill>
              </a:rPr>
              <a:t>±1 cấp</a:t>
            </a:r>
            <a:endParaRPr lang="en-US" sz="900" dirty="0"/>
          </a:p>
        </p:txBody>
      </p:sp>
      <p:sp>
        <p:nvSpPr>
          <p:cNvPr id="23" name="Shape 21"/>
          <p:cNvSpPr/>
          <p:nvPr/>
        </p:nvSpPr>
        <p:spPr>
          <a:xfrm>
            <a:off x="594360" y="2423160"/>
            <a:ext cx="5166360" cy="1874520"/>
          </a:xfrm>
          <a:prstGeom prst="roundRect">
            <a:avLst>
              <a:gd name="adj" fmla="val 3902"/>
            </a:avLst>
          </a:prstGeom>
          <a:solidFill>
            <a:srgbClr val="FFFFFF"/>
          </a:solidFill>
          <a:ln w="12700">
            <a:solidFill>
              <a:srgbClr val="D6DEE6"/>
            </a:solidFill>
            <a:prstDash val="solid"/>
          </a:ln>
        </p:spPr>
        <p:txBody>
          <a:bodyPr/>
          <a:lstStyle/>
          <a:p>
            <a:endParaRPr lang="vi-VN"/>
          </a:p>
        </p:txBody>
      </p:sp>
      <p:pic>
        <p:nvPicPr>
          <p:cNvPr id="24" name="Image 0" descr="/mnt/data/deck_assets_new/p91_img1.png"/>
          <p:cNvPicPr>
            <a:picLocks noChangeAspect="1"/>
          </p:cNvPicPr>
          <p:nvPr/>
        </p:nvPicPr>
        <p:blipFill>
          <a:blip r:embed="rId3"/>
          <a:stretch>
            <a:fillRect/>
          </a:stretch>
        </p:blipFill>
        <p:spPr>
          <a:xfrm>
            <a:off x="594360" y="2517821"/>
            <a:ext cx="5166360" cy="1685199"/>
          </a:xfrm>
          <a:prstGeom prst="rect">
            <a:avLst/>
          </a:prstGeom>
        </p:spPr>
      </p:pic>
      <p:sp>
        <p:nvSpPr>
          <p:cNvPr id="25" name="Shape 22"/>
          <p:cNvSpPr/>
          <p:nvPr/>
        </p:nvSpPr>
        <p:spPr>
          <a:xfrm>
            <a:off x="5989320" y="2331720"/>
            <a:ext cx="2788920" cy="2240280"/>
          </a:xfrm>
          <a:prstGeom prst="roundRect">
            <a:avLst>
              <a:gd name="adj" fmla="val 3265"/>
            </a:avLst>
          </a:prstGeom>
          <a:solidFill>
            <a:srgbClr val="FFFFFF"/>
          </a:solidFill>
          <a:ln w="12700">
            <a:solidFill>
              <a:srgbClr val="D6DEE6"/>
            </a:solidFill>
            <a:prstDash val="solid"/>
          </a:ln>
        </p:spPr>
        <p:txBody>
          <a:bodyPr/>
          <a:lstStyle/>
          <a:p>
            <a:endParaRPr lang="vi-VN"/>
          </a:p>
        </p:txBody>
      </p:sp>
      <p:pic>
        <p:nvPicPr>
          <p:cNvPr id="26" name="Image 1" descr="/mnt/data/deck_assets_new/p93_img1.png"/>
          <p:cNvPicPr>
            <a:picLocks noChangeAspect="1"/>
          </p:cNvPicPr>
          <p:nvPr/>
        </p:nvPicPr>
        <p:blipFill>
          <a:blip r:embed="rId4"/>
          <a:stretch>
            <a:fillRect/>
          </a:stretch>
        </p:blipFill>
        <p:spPr>
          <a:xfrm>
            <a:off x="6039228" y="2331720"/>
            <a:ext cx="2689103" cy="2240280"/>
          </a:xfrm>
          <a:prstGeom prst="rect">
            <a:avLst/>
          </a:prstGeom>
        </p:spPr>
      </p:pic>
      <p:sp>
        <p:nvSpPr>
          <p:cNvPr id="27" name="Shape 23"/>
          <p:cNvSpPr/>
          <p:nvPr/>
        </p:nvSpPr>
        <p:spPr>
          <a:xfrm>
            <a:off x="9006840" y="2331720"/>
            <a:ext cx="2514600" cy="2240280"/>
          </a:xfrm>
          <a:prstGeom prst="roundRect">
            <a:avLst>
              <a:gd name="adj" fmla="val 3265"/>
            </a:avLst>
          </a:prstGeom>
          <a:solidFill>
            <a:srgbClr val="FFFFFF"/>
          </a:solidFill>
          <a:ln w="12700">
            <a:solidFill>
              <a:srgbClr val="D6DEE6"/>
            </a:solidFill>
            <a:prstDash val="solid"/>
          </a:ln>
        </p:spPr>
        <p:txBody>
          <a:bodyPr/>
          <a:lstStyle/>
          <a:p>
            <a:endParaRPr lang="vi-VN"/>
          </a:p>
        </p:txBody>
      </p:sp>
      <p:pic>
        <p:nvPicPr>
          <p:cNvPr id="28" name="Image 2" descr="/mnt/data/deck_assets_new/p93_img2.png"/>
          <p:cNvPicPr>
            <a:picLocks noChangeAspect="1"/>
          </p:cNvPicPr>
          <p:nvPr/>
        </p:nvPicPr>
        <p:blipFill>
          <a:blip r:embed="rId5"/>
          <a:stretch>
            <a:fillRect/>
          </a:stretch>
        </p:blipFill>
        <p:spPr>
          <a:xfrm>
            <a:off x="9006840" y="3041745"/>
            <a:ext cx="2514600" cy="820229"/>
          </a:xfrm>
          <a:prstGeom prst="rect">
            <a:avLst/>
          </a:prstGeom>
        </p:spPr>
      </p:pic>
      <p:sp>
        <p:nvSpPr>
          <p:cNvPr id="29" name="Shape 24"/>
          <p:cNvSpPr/>
          <p:nvPr/>
        </p:nvSpPr>
        <p:spPr>
          <a:xfrm>
            <a:off x="731520" y="5027858"/>
            <a:ext cx="10698480" cy="685800"/>
          </a:xfrm>
          <a:prstGeom prst="roundRect">
            <a:avLst>
              <a:gd name="adj" fmla="val 10667"/>
            </a:avLst>
          </a:prstGeom>
          <a:solidFill>
            <a:srgbClr val="F4F8FB"/>
          </a:solidFill>
          <a:ln w="12700">
            <a:solidFill>
              <a:srgbClr val="D6DEE6"/>
            </a:solidFill>
            <a:prstDash val="solid"/>
          </a:ln>
        </p:spPr>
        <p:txBody>
          <a:bodyPr/>
          <a:lstStyle/>
          <a:p>
            <a:endParaRPr lang="vi-VN"/>
          </a:p>
        </p:txBody>
      </p:sp>
      <p:sp>
        <p:nvSpPr>
          <p:cNvPr id="30" name="Text 25"/>
          <p:cNvSpPr/>
          <p:nvPr/>
        </p:nvSpPr>
        <p:spPr>
          <a:xfrm>
            <a:off x="960120" y="5192450"/>
            <a:ext cx="10287000" cy="347472"/>
          </a:xfrm>
          <a:prstGeom prst="rect">
            <a:avLst/>
          </a:prstGeom>
          <a:noFill/>
          <a:ln/>
        </p:spPr>
        <p:txBody>
          <a:bodyPr wrap="square" lIns="762" tIns="762" rIns="762" bIns="762" rtlCol="0" anchor="ctr">
            <a:normAutofit fontScale="92500" lnSpcReduction="10000"/>
          </a:bodyPr>
          <a:lstStyle/>
          <a:p>
            <a:r>
              <a:rPr lang="en-US" sz="890" dirty="0">
                <a:solidFill>
                  <a:srgbClr val="1F2D3D"/>
                </a:solidFill>
              </a:rPr>
              <a:t>Kiến trúc: 31 input → 256 → 128 → 64 → 32 → sigmoid×5, Huber loss, Adam, RobustScaler, Dropout/L2.</a:t>
            </a:r>
            <a:endParaRPr lang="en-US" sz="890" dirty="0"/>
          </a:p>
          <a:p>
            <a:r>
              <a:rPr lang="en-US" sz="890" dirty="0">
                <a:solidFill>
                  <a:srgbClr val="1F2D3D"/>
                </a:solidFill>
              </a:rPr>
              <a:t>Hội tụ ổn định 300 epochs; không overfit rõ rệt.</a:t>
            </a:r>
            <a:endParaRPr lang="en-US" sz="890" dirty="0"/>
          </a:p>
          <a:p>
            <a:r>
              <a:rPr lang="en-US" sz="890" dirty="0">
                <a:solidFill>
                  <a:srgbClr val="1F2D3D"/>
                </a:solidFill>
              </a:rPr>
              <a:t>Hạn chế: flood-only R² âm, RAW map over-flooding mạnh; cần hậu xử lý thủy lực.</a:t>
            </a:r>
            <a:endParaRPr lang="en-US" sz="890" dirty="0"/>
          </a:p>
        </p:txBody>
      </p:sp>
      <p:sp>
        <p:nvSpPr>
          <p:cNvPr id="31" name="Text 26"/>
          <p:cNvSpPr/>
          <p:nvPr/>
        </p:nvSpPr>
        <p:spPr>
          <a:xfrm>
            <a:off x="470648" y="4659947"/>
            <a:ext cx="10972800" cy="201168"/>
          </a:xfrm>
          <a:prstGeom prst="rect">
            <a:avLst/>
          </a:prstGeom>
          <a:noFill/>
          <a:ln/>
        </p:spPr>
        <p:txBody>
          <a:bodyPr wrap="square" lIns="0" tIns="0" rIns="0" bIns="0" rtlCol="0" anchor="ctr"/>
          <a:lstStyle/>
          <a:p>
            <a:pPr marL="0" indent="0" algn="ctr">
              <a:buNone/>
            </a:pPr>
            <a:r>
              <a:rPr lang="en-US" sz="750" i="1" dirty="0">
                <a:solidFill>
                  <a:srgbClr val="5D6D7E"/>
                </a:solidFill>
              </a:rPr>
              <a:t>training curve, scatter và residuals của DNN</a:t>
            </a:r>
            <a:endParaRPr lang="en-US" sz="750" dirty="0"/>
          </a:p>
        </p:txBody>
      </p:sp>
      <p:sp>
        <p:nvSpPr>
          <p:cNvPr id="32" name="Shape 27"/>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33" name="Text 28"/>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34" name="Text 29"/>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26</a:t>
            </a:r>
            <a:endParaRPr lang="en-US" sz="850" dirty="0"/>
          </a:p>
        </p:txBody>
      </p:sp>
      <p:pic>
        <p:nvPicPr>
          <p:cNvPr id="36" name="Picture 35" descr="image1.png">
            <a:extLst>
              <a:ext uri="{FF2B5EF4-FFF2-40B4-BE49-F238E27FC236}">
                <a16:creationId xmlns:a16="http://schemas.microsoft.com/office/drawing/2014/main" id="{13393D6F-7584-A584-947F-B15E73696AB1}"/>
              </a:ext>
            </a:extLst>
          </p:cNvPr>
          <p:cNvPicPr>
            <a:picLocks noChangeAspect="1"/>
          </p:cNvPicPr>
          <p:nvPr/>
        </p:nvPicPr>
        <p:blipFill>
          <a:blip r:embed="rId6"/>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DNN: bản đồ trước/</a:t>
            </a:r>
            <a:r>
              <a:rPr lang="en-US" sz="2400" b="1" dirty="0" err="1">
                <a:solidFill>
                  <a:srgbClr val="0B3C5D"/>
                </a:solidFill>
              </a:rPr>
              <a:t>sau</a:t>
            </a:r>
            <a:r>
              <a:rPr lang="en-US" sz="2400" b="1" dirty="0">
                <a:solidFill>
                  <a:srgbClr val="0B3C5D"/>
                </a:solidFill>
              </a:rPr>
              <a:t> xử lý và phân vùng 6 cấp</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Hậu xử lý giúp giảm over-flooding và tạo gradient không gian hợp lý hơn.</a:t>
            </a:r>
            <a:endParaRPr lang="en-US" sz="1050" dirty="0"/>
          </a:p>
        </p:txBody>
      </p:sp>
      <p:sp>
        <p:nvSpPr>
          <p:cNvPr id="5" name="Shape 3"/>
          <p:cNvSpPr/>
          <p:nvPr/>
        </p:nvSpPr>
        <p:spPr>
          <a:xfrm>
            <a:off x="548640" y="1051560"/>
            <a:ext cx="3611880" cy="3017520"/>
          </a:xfrm>
          <a:prstGeom prst="roundRect">
            <a:avLst>
              <a:gd name="adj" fmla="val 2424"/>
            </a:avLst>
          </a:prstGeom>
          <a:solidFill>
            <a:srgbClr val="FFFFFF"/>
          </a:solidFill>
          <a:ln w="12700">
            <a:solidFill>
              <a:srgbClr val="D6DEE6"/>
            </a:solidFill>
            <a:prstDash val="solid"/>
          </a:ln>
        </p:spPr>
        <p:txBody>
          <a:bodyPr/>
          <a:lstStyle/>
          <a:p>
            <a:endParaRPr lang="vi-VN"/>
          </a:p>
        </p:txBody>
      </p:sp>
      <p:pic>
        <p:nvPicPr>
          <p:cNvPr id="6" name="Image 0" descr="/mnt/data/deck_assets_new/p95_img1.png"/>
          <p:cNvPicPr>
            <a:picLocks noChangeAspect="1"/>
          </p:cNvPicPr>
          <p:nvPr/>
        </p:nvPicPr>
        <p:blipFill>
          <a:blip r:embed="rId3"/>
          <a:stretch>
            <a:fillRect/>
          </a:stretch>
        </p:blipFill>
        <p:spPr>
          <a:xfrm>
            <a:off x="548640" y="1282818"/>
            <a:ext cx="3611880" cy="2555005"/>
          </a:xfrm>
          <a:prstGeom prst="rect">
            <a:avLst/>
          </a:prstGeom>
        </p:spPr>
      </p:pic>
      <p:sp>
        <p:nvSpPr>
          <p:cNvPr id="7" name="Shape 4"/>
          <p:cNvSpPr/>
          <p:nvPr/>
        </p:nvSpPr>
        <p:spPr>
          <a:xfrm>
            <a:off x="4343400" y="1051560"/>
            <a:ext cx="3611880" cy="3017520"/>
          </a:xfrm>
          <a:prstGeom prst="roundRect">
            <a:avLst>
              <a:gd name="adj" fmla="val 2424"/>
            </a:avLst>
          </a:prstGeom>
          <a:solidFill>
            <a:srgbClr val="FFFFFF"/>
          </a:solidFill>
          <a:ln w="12700">
            <a:solidFill>
              <a:srgbClr val="D6DEE6"/>
            </a:solidFill>
            <a:prstDash val="solid"/>
          </a:ln>
        </p:spPr>
        <p:txBody>
          <a:bodyPr/>
          <a:lstStyle/>
          <a:p>
            <a:endParaRPr lang="vi-VN"/>
          </a:p>
        </p:txBody>
      </p:sp>
      <p:pic>
        <p:nvPicPr>
          <p:cNvPr id="8" name="Image 1" descr="/mnt/data/deck_assets_new/p95_img2.png"/>
          <p:cNvPicPr>
            <a:picLocks noChangeAspect="1"/>
          </p:cNvPicPr>
          <p:nvPr/>
        </p:nvPicPr>
        <p:blipFill>
          <a:blip r:embed="rId4"/>
          <a:stretch>
            <a:fillRect/>
          </a:stretch>
        </p:blipFill>
        <p:spPr>
          <a:xfrm>
            <a:off x="4343400" y="1283861"/>
            <a:ext cx="3611880" cy="2552918"/>
          </a:xfrm>
          <a:prstGeom prst="rect">
            <a:avLst/>
          </a:prstGeom>
        </p:spPr>
      </p:pic>
      <p:sp>
        <p:nvSpPr>
          <p:cNvPr id="9" name="Shape 5"/>
          <p:cNvSpPr/>
          <p:nvPr/>
        </p:nvSpPr>
        <p:spPr>
          <a:xfrm>
            <a:off x="8138160" y="1051560"/>
            <a:ext cx="3429000" cy="3017520"/>
          </a:xfrm>
          <a:prstGeom prst="roundRect">
            <a:avLst>
              <a:gd name="adj" fmla="val 2424"/>
            </a:avLst>
          </a:prstGeom>
          <a:solidFill>
            <a:srgbClr val="FFFFFF"/>
          </a:solidFill>
          <a:ln w="12700">
            <a:solidFill>
              <a:srgbClr val="D6DEE6"/>
            </a:solidFill>
            <a:prstDash val="solid"/>
          </a:ln>
        </p:spPr>
        <p:txBody>
          <a:bodyPr/>
          <a:lstStyle/>
          <a:p>
            <a:endParaRPr lang="vi-VN"/>
          </a:p>
        </p:txBody>
      </p:sp>
      <p:pic>
        <p:nvPicPr>
          <p:cNvPr id="10" name="Image 2" descr="/mnt/data/deck_assets_new/p96_img1.png"/>
          <p:cNvPicPr>
            <a:picLocks noChangeAspect="1"/>
          </p:cNvPicPr>
          <p:nvPr/>
        </p:nvPicPr>
        <p:blipFill>
          <a:blip r:embed="rId5"/>
          <a:stretch>
            <a:fillRect/>
          </a:stretch>
        </p:blipFill>
        <p:spPr>
          <a:xfrm>
            <a:off x="8138160" y="1348930"/>
            <a:ext cx="3429000" cy="2422779"/>
          </a:xfrm>
          <a:prstGeom prst="rect">
            <a:avLst/>
          </a:prstGeom>
        </p:spPr>
      </p:pic>
      <p:sp>
        <p:nvSpPr>
          <p:cNvPr id="11" name="Text 6"/>
          <p:cNvSpPr/>
          <p:nvPr/>
        </p:nvSpPr>
        <p:spPr>
          <a:xfrm>
            <a:off x="548640" y="4160520"/>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(a) RAW</a:t>
            </a:r>
            <a:endParaRPr lang="en-US" sz="900" dirty="0"/>
          </a:p>
        </p:txBody>
      </p:sp>
      <p:sp>
        <p:nvSpPr>
          <p:cNvPr id="12" name="Text 7"/>
          <p:cNvSpPr/>
          <p:nvPr/>
        </p:nvSpPr>
        <p:spPr>
          <a:xfrm>
            <a:off x="4343400" y="4160520"/>
            <a:ext cx="3611880" cy="182880"/>
          </a:xfrm>
          <a:prstGeom prst="rect">
            <a:avLst/>
          </a:prstGeom>
          <a:noFill/>
          <a:ln/>
        </p:spPr>
        <p:txBody>
          <a:bodyPr wrap="square" lIns="0" tIns="0" rIns="0" bIns="0" rtlCol="0" anchor="ctr"/>
          <a:lstStyle/>
          <a:p>
            <a:pPr marL="0" indent="0" algn="ctr">
              <a:buNone/>
            </a:pPr>
            <a:r>
              <a:rPr lang="en-US" sz="900" dirty="0">
                <a:solidFill>
                  <a:srgbClr val="5D6D7E"/>
                </a:solidFill>
              </a:rPr>
              <a:t>(b) </a:t>
            </a:r>
            <a:r>
              <a:rPr lang="vi-VN" sz="900" dirty="0">
                <a:solidFill>
                  <a:srgbClr val="5D6D7E"/>
                </a:solidFill>
              </a:rPr>
              <a:t>Hậu</a:t>
            </a:r>
            <a:r>
              <a:rPr lang="en-US" sz="900" dirty="0">
                <a:solidFill>
                  <a:srgbClr val="5D6D7E"/>
                </a:solidFill>
              </a:rPr>
              <a:t> xử lý</a:t>
            </a:r>
            <a:endParaRPr lang="en-US" sz="900" dirty="0"/>
          </a:p>
        </p:txBody>
      </p:sp>
      <p:sp>
        <p:nvSpPr>
          <p:cNvPr id="13" name="Text 8"/>
          <p:cNvSpPr/>
          <p:nvPr/>
        </p:nvSpPr>
        <p:spPr>
          <a:xfrm>
            <a:off x="8138160" y="4160520"/>
            <a:ext cx="3429000" cy="182880"/>
          </a:xfrm>
          <a:prstGeom prst="rect">
            <a:avLst/>
          </a:prstGeom>
          <a:noFill/>
          <a:ln/>
        </p:spPr>
        <p:txBody>
          <a:bodyPr wrap="square" lIns="0" tIns="0" rIns="0" bIns="0" rtlCol="0" anchor="ctr"/>
          <a:lstStyle/>
          <a:p>
            <a:pPr marL="0" indent="0" algn="ctr">
              <a:buNone/>
            </a:pPr>
            <a:r>
              <a:rPr lang="en-US" sz="900" dirty="0">
                <a:solidFill>
                  <a:srgbClr val="5D6D7E"/>
                </a:solidFill>
              </a:rPr>
              <a:t>Bản đồ phân vùng 6 cấp</a:t>
            </a:r>
            <a:endParaRPr lang="en-US" sz="900" dirty="0"/>
          </a:p>
        </p:txBody>
      </p:sp>
      <p:sp>
        <p:nvSpPr>
          <p:cNvPr id="14" name="Shape 9"/>
          <p:cNvSpPr/>
          <p:nvPr/>
        </p:nvSpPr>
        <p:spPr>
          <a:xfrm>
            <a:off x="777240" y="4617720"/>
            <a:ext cx="10515600" cy="914400"/>
          </a:xfrm>
          <a:prstGeom prst="roundRect">
            <a:avLst>
              <a:gd name="adj" fmla="val 8000"/>
            </a:avLst>
          </a:prstGeom>
          <a:solidFill>
            <a:srgbClr val="FFF3E8"/>
          </a:solidFill>
          <a:ln w="12700">
            <a:solidFill>
              <a:srgbClr val="D6DEE6"/>
            </a:solidFill>
            <a:prstDash val="solid"/>
          </a:ln>
        </p:spPr>
        <p:txBody>
          <a:bodyPr/>
          <a:lstStyle/>
          <a:p>
            <a:endParaRPr lang="vi-VN"/>
          </a:p>
        </p:txBody>
      </p:sp>
      <p:sp>
        <p:nvSpPr>
          <p:cNvPr id="15" name="Text 10"/>
          <p:cNvSpPr/>
          <p:nvPr/>
        </p:nvSpPr>
        <p:spPr>
          <a:xfrm>
            <a:off x="1005840" y="4800600"/>
            <a:ext cx="10058400" cy="438912"/>
          </a:xfrm>
          <a:prstGeom prst="rect">
            <a:avLst/>
          </a:prstGeom>
          <a:noFill/>
          <a:ln/>
        </p:spPr>
        <p:txBody>
          <a:bodyPr wrap="square" lIns="762" tIns="762" rIns="762" bIns="762" rtlCol="0" anchor="ctr">
            <a:normAutofit/>
          </a:bodyPr>
          <a:lstStyle/>
          <a:p>
            <a:r>
              <a:rPr lang="en-US" sz="940" dirty="0">
                <a:solidFill>
                  <a:srgbClr val="1F2D3D"/>
                </a:solidFill>
              </a:rPr>
              <a:t>DNN RAW tạo vùng “khối đỏ” rộng nhất trong ba mô hình.</a:t>
            </a:r>
            <a:endParaRPr lang="en-US" sz="940" dirty="0"/>
          </a:p>
          <a:p>
            <a:r>
              <a:rPr lang="en-US" sz="940" dirty="0">
                <a:solidFill>
                  <a:srgbClr val="1F2D3D"/>
                </a:solidFill>
              </a:rPr>
              <a:t>Sau hậu xử lý: phần lớn vùng đồng bằng chuyển về cấp 1–2 m, ít cực ngập hơn XGBoost.</a:t>
            </a:r>
            <a:endParaRPr lang="en-US" sz="940" dirty="0"/>
          </a:p>
          <a:p>
            <a:r>
              <a:rPr lang="en-US" sz="940" dirty="0">
                <a:solidFill>
                  <a:srgbClr val="1F2D3D"/>
                </a:solidFill>
              </a:rPr>
              <a:t>Final clip của DNN ở 3,5 m, thận trọng hơn so với RF/XGB 5 m.</a:t>
            </a:r>
            <a:endParaRPr lang="en-US" sz="940" dirty="0"/>
          </a:p>
        </p:txBody>
      </p:sp>
      <p:sp>
        <p:nvSpPr>
          <p:cNvPr id="16" name="Shape 11"/>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7" name="Text 12"/>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8" name="Text 13"/>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27</a:t>
            </a:r>
            <a:endParaRPr lang="en-US" sz="850" dirty="0"/>
          </a:p>
        </p:txBody>
      </p:sp>
      <p:pic>
        <p:nvPicPr>
          <p:cNvPr id="20" name="Picture 19" descr="image1.png">
            <a:extLst>
              <a:ext uri="{FF2B5EF4-FFF2-40B4-BE49-F238E27FC236}">
                <a16:creationId xmlns:a16="http://schemas.microsoft.com/office/drawing/2014/main" id="{E5406CE2-C0F6-A490-2EEE-E13064ED8F21}"/>
              </a:ext>
            </a:extLst>
          </p:cNvPr>
          <p:cNvPicPr>
            <a:picLocks noChangeAspect="1"/>
          </p:cNvPicPr>
          <p:nvPr/>
        </p:nvPicPr>
        <p:blipFill>
          <a:blip r:embed="rId6"/>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So sánh định lượng giữa ba mô hình</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Cả ba mô hình đạt R² &gt; 0,88; Random Forest dẫn đầu tổng thể.</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4360" y="1051560"/>
          <a:ext cx="5989320" cy="4343400"/>
        </p:xfrm>
        <a:graphic>
          <a:graphicData uri="http://schemas.openxmlformats.org/drawingml/2006/table">
            <a:tbl>
              <a:tblPr/>
              <a:tblGrid>
                <a:gridCol w="1497330">
                  <a:extLst>
                    <a:ext uri="{9D8B030D-6E8A-4147-A177-3AD203B41FA5}">
                      <a16:colId xmlns:a16="http://schemas.microsoft.com/office/drawing/2014/main" val="20000"/>
                    </a:ext>
                  </a:extLst>
                </a:gridCol>
                <a:gridCol w="1497330">
                  <a:extLst>
                    <a:ext uri="{9D8B030D-6E8A-4147-A177-3AD203B41FA5}">
                      <a16:colId xmlns:a16="http://schemas.microsoft.com/office/drawing/2014/main" val="20001"/>
                    </a:ext>
                  </a:extLst>
                </a:gridCol>
                <a:gridCol w="1497330">
                  <a:extLst>
                    <a:ext uri="{9D8B030D-6E8A-4147-A177-3AD203B41FA5}">
                      <a16:colId xmlns:a16="http://schemas.microsoft.com/office/drawing/2014/main" val="20002"/>
                    </a:ext>
                  </a:extLst>
                </a:gridCol>
                <a:gridCol w="1497330">
                  <a:extLst>
                    <a:ext uri="{9D8B030D-6E8A-4147-A177-3AD203B41FA5}">
                      <a16:colId xmlns:a16="http://schemas.microsoft.com/office/drawing/2014/main" val="20003"/>
                    </a:ext>
                  </a:extLst>
                </a:gridCol>
              </a:tblGrid>
              <a:tr h="482600">
                <a:tc>
                  <a:txBody>
                    <a:bodyPr/>
                    <a:lstStyle/>
                    <a:p>
                      <a:pPr marL="0" indent="0">
                        <a:buNone/>
                      </a:pPr>
                      <a:r>
                        <a:rPr lang="en-US" sz="870" b="1" dirty="0">
                          <a:solidFill>
                            <a:srgbClr val="FFFFFF"/>
                          </a:solidFill>
                        </a:rPr>
                        <a:t>Chỉ số</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70" b="1" dirty="0">
                          <a:solidFill>
                            <a:srgbClr val="FFFFFF"/>
                          </a:solidFill>
                        </a:rPr>
                        <a:t>Random Forest</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70" b="1" dirty="0">
                          <a:solidFill>
                            <a:srgbClr val="FFFFFF"/>
                          </a:solidFill>
                        </a:rPr>
                        <a:t>XGBoost</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tc>
                  <a:txBody>
                    <a:bodyPr/>
                    <a:lstStyle/>
                    <a:p>
                      <a:pPr marL="0" indent="0">
                        <a:buNone/>
                      </a:pPr>
                      <a:r>
                        <a:rPr lang="en-US" sz="870" b="1" dirty="0">
                          <a:solidFill>
                            <a:srgbClr val="FFFFFF"/>
                          </a:solidFill>
                        </a:rPr>
                        <a:t>DNN</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E87E22"/>
                    </a:solidFill>
                  </a:tcPr>
                </a:tc>
                <a:extLst>
                  <a:ext uri="{0D108BD9-81ED-4DB2-BD59-A6C34878D82A}">
                    <a16:rowId xmlns:a16="http://schemas.microsoft.com/office/drawing/2014/main" val="10000"/>
                  </a:ext>
                </a:extLst>
              </a:tr>
              <a:tr h="482600">
                <a:tc>
                  <a:txBody>
                    <a:bodyPr/>
                    <a:lstStyle/>
                    <a:p>
                      <a:pPr marL="0" indent="0">
                        <a:buNone/>
                      </a:pPr>
                      <a:r>
                        <a:rPr lang="en-US" sz="870" dirty="0">
                          <a:solidFill>
                            <a:srgbClr val="1F2D3D"/>
                          </a:solidFill>
                        </a:rPr>
                        <a:t>R² overall</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0,8946</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0,8884</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0,8847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marL="0" indent="0">
                        <a:buNone/>
                      </a:pPr>
                      <a:r>
                        <a:rPr lang="en-US" sz="870" dirty="0">
                          <a:solidFill>
                            <a:srgbClr val="1F2D3D"/>
                          </a:solidFill>
                        </a:rPr>
                        <a:t>RMSE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0,267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0,275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0,279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2600">
                <a:tc>
                  <a:txBody>
                    <a:bodyPr/>
                    <a:lstStyle/>
                    <a:p>
                      <a:pPr marL="0" indent="0">
                        <a:buNone/>
                      </a:pPr>
                      <a:r>
                        <a:rPr lang="en-US" sz="870" dirty="0">
                          <a:solidFill>
                            <a:srgbClr val="1F2D3D"/>
                          </a:solidFill>
                        </a:rPr>
                        <a:t>MAE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0,111</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0,130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0,141</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marL="0" indent="0">
                        <a:buNone/>
                      </a:pPr>
                      <a:r>
                        <a:rPr lang="en-US" sz="870" dirty="0">
                          <a:solidFill>
                            <a:srgbClr val="1F2D3D"/>
                          </a:solidFill>
                        </a:rPr>
                        <a:t>MAPE</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23,54%</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22,60%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25,35%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2600">
                <a:tc>
                  <a:txBody>
                    <a:bodyPr/>
                    <a:lstStyle/>
                    <a:p>
                      <a:pPr marL="0" indent="0">
                        <a:buNone/>
                      </a:pPr>
                      <a:r>
                        <a:rPr lang="en-US" sz="870" dirty="0">
                          <a:solidFill>
                            <a:srgbClr val="1F2D3D"/>
                          </a:solidFill>
                        </a:rPr>
                        <a:t>RMSE flood-only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0,488</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0,507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0,529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2600">
                <a:tc>
                  <a:txBody>
                    <a:bodyPr/>
                    <a:lstStyle/>
                    <a:p>
                      <a:pPr marL="0" indent="0">
                        <a:buNone/>
                      </a:pPr>
                      <a:r>
                        <a:rPr lang="en-US" sz="870" dirty="0">
                          <a:solidFill>
                            <a:srgbClr val="1F2D3D"/>
                          </a:solidFill>
                        </a:rPr>
                        <a:t>Exact accuracy 6 cấp</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68,50%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10,00%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10,50%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82600">
                <a:tc>
                  <a:txBody>
                    <a:bodyPr/>
                    <a:lstStyle/>
                    <a:p>
                      <a:pPr marL="0" indent="0">
                        <a:buNone/>
                      </a:pPr>
                      <a:r>
                        <a:rPr lang="en-US" sz="870" dirty="0">
                          <a:solidFill>
                            <a:srgbClr val="1F2D3D"/>
                          </a:solidFill>
                        </a:rPr>
                        <a:t>±1 cấp accuracy</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97,00%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96,50%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97,50%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2600">
                <a:tc>
                  <a:txBody>
                    <a:bodyPr/>
                    <a:lstStyle/>
                    <a:p>
                      <a:pPr marL="0" indent="0">
                        <a:buNone/>
                      </a:pPr>
                      <a:r>
                        <a:rPr lang="en-US" sz="870" dirty="0">
                          <a:solidFill>
                            <a:srgbClr val="1F2D3D"/>
                          </a:solidFill>
                        </a:rPr>
                        <a:t>RMSE không ngập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0,105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0,099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0,070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903720" y="1051560"/>
          <a:ext cx="4617720" cy="2788920"/>
        </p:xfrm>
        <a:graphic>
          <a:graphicData uri="http://schemas.openxmlformats.org/drawingml/2006/table">
            <a:tbl>
              <a:tblPr/>
              <a:tblGrid>
                <a:gridCol w="115443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154430">
                  <a:extLst>
                    <a:ext uri="{9D8B030D-6E8A-4147-A177-3AD203B41FA5}">
                      <a16:colId xmlns:a16="http://schemas.microsoft.com/office/drawing/2014/main" val="20002"/>
                    </a:ext>
                  </a:extLst>
                </a:gridCol>
                <a:gridCol w="1154430">
                  <a:extLst>
                    <a:ext uri="{9D8B030D-6E8A-4147-A177-3AD203B41FA5}">
                      <a16:colId xmlns:a16="http://schemas.microsoft.com/office/drawing/2014/main" val="20003"/>
                    </a:ext>
                  </a:extLst>
                </a:gridCol>
              </a:tblGrid>
              <a:tr h="464820">
                <a:tc>
                  <a:txBody>
                    <a:bodyPr/>
                    <a:lstStyle/>
                    <a:p>
                      <a:pPr marL="0" indent="0">
                        <a:buNone/>
                      </a:pPr>
                      <a:r>
                        <a:rPr lang="en-US" sz="870" b="1" dirty="0">
                          <a:solidFill>
                            <a:srgbClr val="FFFFFF"/>
                          </a:solidFill>
                        </a:rPr>
                        <a:t>Cấp độ</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70" b="1" dirty="0">
                          <a:solidFill>
                            <a:srgbClr val="FFFFFF"/>
                          </a:solidFill>
                        </a:rPr>
                        <a:t>RF</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0B3C5D"/>
                    </a:solidFill>
                  </a:tcPr>
                </a:tc>
                <a:tc>
                  <a:txBody>
                    <a:bodyPr/>
                    <a:lstStyle/>
                    <a:p>
                      <a:pPr marL="0" indent="0">
                        <a:buNone/>
                      </a:pPr>
                      <a:r>
                        <a:rPr lang="en-US" sz="870" b="1" dirty="0">
                          <a:solidFill>
                            <a:srgbClr val="FFFFFF"/>
                          </a:solidFill>
                        </a:rPr>
                        <a:t>XGB</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1D7A48"/>
                    </a:solidFill>
                  </a:tcPr>
                </a:tc>
                <a:tc>
                  <a:txBody>
                    <a:bodyPr/>
                    <a:lstStyle/>
                    <a:p>
                      <a:pPr marL="0" indent="0">
                        <a:buNone/>
                      </a:pPr>
                      <a:r>
                        <a:rPr lang="en-US" sz="870" b="1" dirty="0">
                          <a:solidFill>
                            <a:srgbClr val="FFFFFF"/>
                          </a:solidFill>
                        </a:rPr>
                        <a:t>DNN</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E87E22"/>
                    </a:solidFill>
                  </a:tcPr>
                </a:tc>
                <a:extLst>
                  <a:ext uri="{0D108BD9-81ED-4DB2-BD59-A6C34878D82A}">
                    <a16:rowId xmlns:a16="http://schemas.microsoft.com/office/drawing/2014/main" val="10000"/>
                  </a:ext>
                </a:extLst>
              </a:tr>
              <a:tr h="464820">
                <a:tc>
                  <a:txBody>
                    <a:bodyPr/>
                    <a:lstStyle/>
                    <a:p>
                      <a:pPr marL="0" indent="0">
                        <a:buNone/>
                      </a:pPr>
                      <a:r>
                        <a:rPr lang="en-US" sz="870" dirty="0">
                          <a:solidFill>
                            <a:srgbClr val="1F2D3D"/>
                          </a:solidFill>
                        </a:rPr>
                        <a:t>0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0,105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0,099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0,070</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4820">
                <a:tc>
                  <a:txBody>
                    <a:bodyPr/>
                    <a:lstStyle/>
                    <a:p>
                      <a:pPr marL="0" indent="0">
                        <a:buNone/>
                      </a:pPr>
                      <a:r>
                        <a:rPr lang="en-US" sz="870" dirty="0">
                          <a:solidFill>
                            <a:srgbClr val="1F2D3D"/>
                          </a:solidFill>
                        </a:rPr>
                        <a:t>0,5–1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0,689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0,563</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0,709</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4820">
                <a:tc>
                  <a:txBody>
                    <a:bodyPr/>
                    <a:lstStyle/>
                    <a:p>
                      <a:pPr marL="0" indent="0">
                        <a:buNone/>
                      </a:pPr>
                      <a:r>
                        <a:rPr lang="en-US" sz="870" dirty="0">
                          <a:solidFill>
                            <a:srgbClr val="1F2D3D"/>
                          </a:solidFill>
                        </a:rPr>
                        <a:t>1–1,5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0,506</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0,495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0,447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4820">
                <a:tc>
                  <a:txBody>
                    <a:bodyPr/>
                    <a:lstStyle/>
                    <a:p>
                      <a:pPr marL="0" indent="0">
                        <a:buNone/>
                      </a:pPr>
                      <a:r>
                        <a:rPr lang="en-US" sz="870" dirty="0">
                          <a:solidFill>
                            <a:srgbClr val="1F2D3D"/>
                          </a:solidFill>
                        </a:rPr>
                        <a:t>1,5–2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0,168</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0,217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0,275</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4820">
                <a:tc>
                  <a:txBody>
                    <a:bodyPr/>
                    <a:lstStyle/>
                    <a:p>
                      <a:pPr marL="0" indent="0">
                        <a:buNone/>
                      </a:pPr>
                      <a:r>
                        <a:rPr lang="en-US" sz="870" dirty="0">
                          <a:solidFill>
                            <a:srgbClr val="1F2D3D"/>
                          </a:solidFill>
                        </a:rPr>
                        <a:t>&gt;2 m</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0,707</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0,772</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870" dirty="0">
                          <a:solidFill>
                            <a:srgbClr val="1F2D3D"/>
                          </a:solidFill>
                        </a:rPr>
                        <a:t>0,788</a:t>
                      </a:r>
                      <a:endParaRPr lang="en-US" sz="870" dirty="0"/>
                    </a:p>
                  </a:txBody>
                  <a:tcPr marL="27432" marR="27432" marT="27432" marB="27432">
                    <a:lnL w="7620" cap="flat" cmpd="sng" algn="ctr">
                      <a:solidFill>
                        <a:srgbClr val="D6DEE6"/>
                      </a:solidFill>
                      <a:prstDash val="solid"/>
                      <a:round/>
                      <a:headEnd type="none" w="med" len="med"/>
                      <a:tailEnd type="none" w="med" len="med"/>
                    </a:lnL>
                    <a:lnR w="7620" cap="flat" cmpd="sng" algn="ctr">
                      <a:solidFill>
                        <a:srgbClr val="D6DEE6"/>
                      </a:solidFill>
                      <a:prstDash val="solid"/>
                      <a:round/>
                      <a:headEnd type="none" w="med" len="med"/>
                      <a:tailEnd type="none" w="med" len="med"/>
                    </a:lnR>
                    <a:lnT w="7620" cap="flat" cmpd="sng" algn="ctr">
                      <a:solidFill>
                        <a:srgbClr val="D6DEE6"/>
                      </a:solidFill>
                      <a:prstDash val="solid"/>
                      <a:round/>
                      <a:headEnd type="none" w="med" len="med"/>
                      <a:tailEnd type="none" w="med" len="med"/>
                    </a:lnT>
                    <a:lnB w="7620"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6903720" y="4160520"/>
            <a:ext cx="4617720" cy="1143000"/>
          </a:xfrm>
          <a:prstGeom prst="roundRect">
            <a:avLst>
              <a:gd name="adj" fmla="val 6400"/>
            </a:avLst>
          </a:prstGeom>
          <a:solidFill>
            <a:srgbClr val="F4F8FB"/>
          </a:solidFill>
          <a:ln w="12700">
            <a:solidFill>
              <a:srgbClr val="D6DEE6"/>
            </a:solidFill>
            <a:prstDash val="solid"/>
          </a:ln>
        </p:spPr>
        <p:txBody>
          <a:bodyPr/>
          <a:lstStyle/>
          <a:p>
            <a:endParaRPr lang="vi-VN"/>
          </a:p>
        </p:txBody>
      </p:sp>
      <p:sp>
        <p:nvSpPr>
          <p:cNvPr id="8" name="Text 4"/>
          <p:cNvSpPr/>
          <p:nvPr/>
        </p:nvSpPr>
        <p:spPr>
          <a:xfrm>
            <a:off x="7178040" y="4370832"/>
            <a:ext cx="4069080" cy="548640"/>
          </a:xfrm>
          <a:prstGeom prst="rect">
            <a:avLst/>
          </a:prstGeom>
          <a:noFill/>
          <a:ln/>
        </p:spPr>
        <p:txBody>
          <a:bodyPr wrap="square" lIns="762" tIns="762" rIns="762" bIns="762" rtlCol="0" anchor="ctr">
            <a:normAutofit/>
          </a:bodyPr>
          <a:lstStyle/>
          <a:p>
            <a:r>
              <a:rPr lang="en-US" sz="1000" dirty="0">
                <a:solidFill>
                  <a:srgbClr val="1F2D3D"/>
                </a:solidFill>
              </a:rPr>
              <a:t>RF: tốt nhất về R², RMSE, MAE, exact accuracy.</a:t>
            </a:r>
            <a:endParaRPr lang="en-US" sz="1000" dirty="0"/>
          </a:p>
          <a:p>
            <a:r>
              <a:rPr lang="en-US" sz="1000" dirty="0">
                <a:solidFill>
                  <a:srgbClr val="1F2D3D"/>
                </a:solidFill>
              </a:rPr>
              <a:t>XGB: MAPE thấp nhất, mạnh về nhất quán vật lý.</a:t>
            </a:r>
            <a:endParaRPr lang="en-US" sz="1000" dirty="0"/>
          </a:p>
          <a:p>
            <a:r>
              <a:rPr lang="en-US" sz="1000" dirty="0">
                <a:solidFill>
                  <a:srgbClr val="1F2D3D"/>
                </a:solidFill>
              </a:rPr>
              <a:t>DNN: tốt nhất ở không ngập và ±1 cấp.</a:t>
            </a:r>
            <a:endParaRPr lang="en-US" sz="1000" dirty="0"/>
          </a:p>
        </p:txBody>
      </p:sp>
      <p:sp>
        <p:nvSpPr>
          <p:cNvPr id="9" name="Text 5"/>
          <p:cNvSpPr/>
          <p:nvPr/>
        </p:nvSpPr>
        <p:spPr>
          <a:xfrm>
            <a:off x="594360" y="5577840"/>
            <a:ext cx="10972800" cy="201168"/>
          </a:xfrm>
          <a:prstGeom prst="rect">
            <a:avLst/>
          </a:prstGeom>
          <a:noFill/>
          <a:ln/>
        </p:spPr>
        <p:txBody>
          <a:bodyPr wrap="square" lIns="0" tIns="0" rIns="0" bIns="0" rtlCol="0" anchor="ctr"/>
          <a:lstStyle/>
          <a:p>
            <a:pPr marL="0" indent="0" algn="ctr">
              <a:buNone/>
            </a:pPr>
            <a:r>
              <a:rPr lang="en-US" sz="750" i="1" dirty="0">
                <a:solidFill>
                  <a:srgbClr val="5D6D7E"/>
                </a:solidFill>
              </a:rPr>
              <a:t>Bảng 3.4 và 3.5: so sánh chỉ số tổng thể và RMSE theo cấp ngập</a:t>
            </a:r>
            <a:endParaRPr lang="en-US" sz="750" dirty="0"/>
          </a:p>
        </p:txBody>
      </p:sp>
      <p:sp>
        <p:nvSpPr>
          <p:cNvPr id="10" name="Shape 6"/>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1" name="Text 7"/>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2" name="Text 8"/>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28</a:t>
            </a:r>
            <a:endParaRPr lang="en-US" sz="850" dirty="0"/>
          </a:p>
        </p:txBody>
      </p:sp>
      <p:pic>
        <p:nvPicPr>
          <p:cNvPr id="6" name="Picture 5" descr="image1.png">
            <a:extLst>
              <a:ext uri="{FF2B5EF4-FFF2-40B4-BE49-F238E27FC236}">
                <a16:creationId xmlns:a16="http://schemas.microsoft.com/office/drawing/2014/main" id="{5C756B1D-482D-272D-74FF-D3709E2966FB}"/>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So sánh không gian và khuyến nghị sử dụng</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Mỗi mô hình phù hợp với một ngữ cảnh ứng dụng khác nhau.</a:t>
            </a:r>
            <a:endParaRPr lang="en-US" sz="1050" dirty="0"/>
          </a:p>
        </p:txBody>
      </p:sp>
      <p:sp>
        <p:nvSpPr>
          <p:cNvPr id="5" name="Shape 3"/>
          <p:cNvSpPr/>
          <p:nvPr/>
        </p:nvSpPr>
        <p:spPr>
          <a:xfrm>
            <a:off x="685800" y="1234440"/>
            <a:ext cx="3383280" cy="2926080"/>
          </a:xfrm>
          <a:prstGeom prst="roundRect">
            <a:avLst>
              <a:gd name="adj" fmla="val 2500"/>
            </a:avLst>
          </a:prstGeom>
          <a:solidFill>
            <a:srgbClr val="EAF3F8"/>
          </a:solidFill>
          <a:ln w="12700">
            <a:solidFill>
              <a:srgbClr val="D6DEE6"/>
            </a:solidFill>
            <a:prstDash val="solid"/>
          </a:ln>
        </p:spPr>
        <p:txBody>
          <a:bodyPr/>
          <a:lstStyle/>
          <a:p>
            <a:endParaRPr lang="vi-VN"/>
          </a:p>
        </p:txBody>
      </p:sp>
      <p:sp>
        <p:nvSpPr>
          <p:cNvPr id="6" name="Text 4"/>
          <p:cNvSpPr/>
          <p:nvPr/>
        </p:nvSpPr>
        <p:spPr>
          <a:xfrm>
            <a:off x="914400" y="1508760"/>
            <a:ext cx="2926080" cy="274320"/>
          </a:xfrm>
          <a:prstGeom prst="rect">
            <a:avLst/>
          </a:prstGeom>
          <a:noFill/>
          <a:ln/>
        </p:spPr>
        <p:txBody>
          <a:bodyPr wrap="square" lIns="0" tIns="0" rIns="0" bIns="0" rtlCol="0" anchor="ctr"/>
          <a:lstStyle/>
          <a:p>
            <a:pPr marL="0" indent="0" algn="ctr">
              <a:buNone/>
            </a:pPr>
            <a:r>
              <a:rPr lang="en-US" sz="1700" b="1" dirty="0">
                <a:solidFill>
                  <a:srgbClr val="0B3C5D"/>
                </a:solidFill>
              </a:rPr>
              <a:t>Random Forest</a:t>
            </a:r>
            <a:endParaRPr lang="en-US" sz="1700" dirty="0"/>
          </a:p>
        </p:txBody>
      </p:sp>
      <p:sp>
        <p:nvSpPr>
          <p:cNvPr id="7" name="Text 5"/>
          <p:cNvSpPr/>
          <p:nvPr/>
        </p:nvSpPr>
        <p:spPr>
          <a:xfrm>
            <a:off x="914400" y="1993392"/>
            <a:ext cx="2926080" cy="228600"/>
          </a:xfrm>
          <a:prstGeom prst="rect">
            <a:avLst/>
          </a:prstGeom>
          <a:noFill/>
          <a:ln/>
        </p:spPr>
        <p:txBody>
          <a:bodyPr wrap="square" lIns="0" tIns="0" rIns="0" bIns="0" rtlCol="0" anchor="ctr"/>
          <a:lstStyle/>
          <a:p>
            <a:pPr marL="0" indent="0" algn="ctr">
              <a:buNone/>
            </a:pPr>
            <a:r>
              <a:rPr lang="en-US" sz="1200" b="1" dirty="0">
                <a:solidFill>
                  <a:srgbClr val="1F2D3D"/>
                </a:solidFill>
              </a:rPr>
              <a:t>Mô hình chính</a:t>
            </a:r>
            <a:endParaRPr lang="en-US" sz="1200" dirty="0"/>
          </a:p>
        </p:txBody>
      </p:sp>
      <p:sp>
        <p:nvSpPr>
          <p:cNvPr id="8" name="Text 6"/>
          <p:cNvSpPr/>
          <p:nvPr/>
        </p:nvSpPr>
        <p:spPr>
          <a:xfrm>
            <a:off x="1005840" y="2514600"/>
            <a:ext cx="2743200" cy="822960"/>
          </a:xfrm>
          <a:prstGeom prst="rect">
            <a:avLst/>
          </a:prstGeom>
          <a:noFill/>
          <a:ln/>
        </p:spPr>
        <p:txBody>
          <a:bodyPr wrap="square" lIns="0" tIns="0" rIns="0" bIns="0" rtlCol="0" anchor="ctr">
            <a:normAutofit/>
          </a:bodyPr>
          <a:lstStyle/>
          <a:p>
            <a:pPr marL="0" indent="0">
              <a:buNone/>
            </a:pPr>
            <a:r>
              <a:rPr lang="en-US" sz="1000" dirty="0">
                <a:solidFill>
                  <a:srgbClr val="1F2D3D"/>
                </a:solidFill>
              </a:rPr>
              <a:t>Độ chính xác tổng thể tốt nhất; bản đồ gradient mượt; phù hợp quy hoạch dài hạn và lập kế hoạch phòng chống thiên tai.</a:t>
            </a:r>
            <a:endParaRPr lang="en-US" sz="1000" dirty="0"/>
          </a:p>
        </p:txBody>
      </p:sp>
      <p:sp>
        <p:nvSpPr>
          <p:cNvPr id="9" name="Shape 7"/>
          <p:cNvSpPr/>
          <p:nvPr/>
        </p:nvSpPr>
        <p:spPr>
          <a:xfrm>
            <a:off x="4480560" y="1234440"/>
            <a:ext cx="3383280" cy="2926080"/>
          </a:xfrm>
          <a:prstGeom prst="roundRect">
            <a:avLst>
              <a:gd name="adj" fmla="val 2500"/>
            </a:avLst>
          </a:prstGeom>
          <a:solidFill>
            <a:srgbClr val="EAF6EF"/>
          </a:solidFill>
          <a:ln w="12700">
            <a:solidFill>
              <a:srgbClr val="D6DEE6"/>
            </a:solidFill>
            <a:prstDash val="solid"/>
          </a:ln>
        </p:spPr>
        <p:txBody>
          <a:bodyPr/>
          <a:lstStyle/>
          <a:p>
            <a:endParaRPr lang="vi-VN"/>
          </a:p>
        </p:txBody>
      </p:sp>
      <p:sp>
        <p:nvSpPr>
          <p:cNvPr id="10" name="Text 8"/>
          <p:cNvSpPr/>
          <p:nvPr/>
        </p:nvSpPr>
        <p:spPr>
          <a:xfrm>
            <a:off x="4709160" y="1508760"/>
            <a:ext cx="2926080" cy="274320"/>
          </a:xfrm>
          <a:prstGeom prst="rect">
            <a:avLst/>
          </a:prstGeom>
          <a:noFill/>
          <a:ln/>
        </p:spPr>
        <p:txBody>
          <a:bodyPr wrap="square" lIns="0" tIns="0" rIns="0" bIns="0" rtlCol="0" anchor="ctr"/>
          <a:lstStyle/>
          <a:p>
            <a:pPr marL="0" indent="0" algn="ctr">
              <a:buNone/>
            </a:pPr>
            <a:r>
              <a:rPr lang="en-US" sz="1700" b="1" dirty="0">
                <a:solidFill>
                  <a:srgbClr val="1D7A48"/>
                </a:solidFill>
              </a:rPr>
              <a:t>XGBoost</a:t>
            </a:r>
            <a:endParaRPr lang="en-US" sz="1700" dirty="0"/>
          </a:p>
        </p:txBody>
      </p:sp>
      <p:sp>
        <p:nvSpPr>
          <p:cNvPr id="11" name="Text 9"/>
          <p:cNvSpPr/>
          <p:nvPr/>
        </p:nvSpPr>
        <p:spPr>
          <a:xfrm>
            <a:off x="4709160" y="1993392"/>
            <a:ext cx="2926080" cy="228600"/>
          </a:xfrm>
          <a:prstGeom prst="rect">
            <a:avLst/>
          </a:prstGeom>
          <a:noFill/>
          <a:ln/>
        </p:spPr>
        <p:txBody>
          <a:bodyPr wrap="square" lIns="0" tIns="0" rIns="0" bIns="0" rtlCol="0" anchor="ctr"/>
          <a:lstStyle/>
          <a:p>
            <a:pPr marL="0" indent="0" algn="ctr">
              <a:buNone/>
            </a:pPr>
            <a:r>
              <a:rPr lang="en-US" sz="1200" b="1" dirty="0">
                <a:solidFill>
                  <a:srgbClr val="1F2D3D"/>
                </a:solidFill>
              </a:rPr>
              <a:t>Nhất quán vật lý</a:t>
            </a:r>
            <a:endParaRPr lang="en-US" sz="1200" dirty="0"/>
          </a:p>
        </p:txBody>
      </p:sp>
      <p:sp>
        <p:nvSpPr>
          <p:cNvPr id="12" name="Text 10"/>
          <p:cNvSpPr/>
          <p:nvPr/>
        </p:nvSpPr>
        <p:spPr>
          <a:xfrm>
            <a:off x="4800600" y="2514600"/>
            <a:ext cx="2743200" cy="822960"/>
          </a:xfrm>
          <a:prstGeom prst="rect">
            <a:avLst/>
          </a:prstGeom>
          <a:noFill/>
          <a:ln/>
        </p:spPr>
        <p:txBody>
          <a:bodyPr wrap="square" lIns="0" tIns="0" rIns="0" bIns="0" rtlCol="0" anchor="ctr">
            <a:normAutofit/>
          </a:bodyPr>
          <a:lstStyle/>
          <a:p>
            <a:pPr marL="0" indent="0">
              <a:buNone/>
            </a:pPr>
            <a:r>
              <a:rPr lang="en-US" sz="1000" dirty="0">
                <a:solidFill>
                  <a:srgbClr val="1F2D3D"/>
                </a:solidFill>
              </a:rPr>
              <a:t>Có 11 ràng buộc đơn điệu; phù hợp khi cần giải thích thủy văn hoặc dự báo nhanh bằng GPU.</a:t>
            </a:r>
            <a:endParaRPr lang="en-US" sz="1000" dirty="0"/>
          </a:p>
        </p:txBody>
      </p:sp>
      <p:sp>
        <p:nvSpPr>
          <p:cNvPr id="13" name="Shape 11"/>
          <p:cNvSpPr/>
          <p:nvPr/>
        </p:nvSpPr>
        <p:spPr>
          <a:xfrm>
            <a:off x="8275320" y="1234440"/>
            <a:ext cx="3383280" cy="2926080"/>
          </a:xfrm>
          <a:prstGeom prst="roundRect">
            <a:avLst>
              <a:gd name="adj" fmla="val 2500"/>
            </a:avLst>
          </a:prstGeom>
          <a:solidFill>
            <a:srgbClr val="FFF3E8"/>
          </a:solidFill>
          <a:ln w="12700">
            <a:solidFill>
              <a:srgbClr val="D6DEE6"/>
            </a:solidFill>
            <a:prstDash val="solid"/>
          </a:ln>
        </p:spPr>
        <p:txBody>
          <a:bodyPr/>
          <a:lstStyle/>
          <a:p>
            <a:endParaRPr lang="vi-VN"/>
          </a:p>
        </p:txBody>
      </p:sp>
      <p:sp>
        <p:nvSpPr>
          <p:cNvPr id="14" name="Text 12"/>
          <p:cNvSpPr/>
          <p:nvPr/>
        </p:nvSpPr>
        <p:spPr>
          <a:xfrm>
            <a:off x="8503920" y="1508760"/>
            <a:ext cx="2926080" cy="274320"/>
          </a:xfrm>
          <a:prstGeom prst="rect">
            <a:avLst/>
          </a:prstGeom>
          <a:noFill/>
          <a:ln/>
        </p:spPr>
        <p:txBody>
          <a:bodyPr wrap="square" lIns="0" tIns="0" rIns="0" bIns="0" rtlCol="0" anchor="ctr"/>
          <a:lstStyle/>
          <a:p>
            <a:pPr marL="0" indent="0" algn="ctr">
              <a:buNone/>
            </a:pPr>
            <a:r>
              <a:rPr lang="en-US" sz="1700" b="1" dirty="0">
                <a:solidFill>
                  <a:srgbClr val="E87E22"/>
                </a:solidFill>
              </a:rPr>
              <a:t>DNN</a:t>
            </a:r>
            <a:endParaRPr lang="en-US" sz="1700" dirty="0"/>
          </a:p>
        </p:txBody>
      </p:sp>
      <p:sp>
        <p:nvSpPr>
          <p:cNvPr id="15" name="Text 13"/>
          <p:cNvSpPr/>
          <p:nvPr/>
        </p:nvSpPr>
        <p:spPr>
          <a:xfrm>
            <a:off x="8503920" y="1993392"/>
            <a:ext cx="2926080" cy="228600"/>
          </a:xfrm>
          <a:prstGeom prst="rect">
            <a:avLst/>
          </a:prstGeom>
          <a:noFill/>
          <a:ln/>
        </p:spPr>
        <p:txBody>
          <a:bodyPr wrap="square" lIns="0" tIns="0" rIns="0" bIns="0" rtlCol="0" anchor="ctr"/>
          <a:lstStyle/>
          <a:p>
            <a:pPr marL="0" indent="0" algn="ctr">
              <a:buNone/>
            </a:pPr>
            <a:r>
              <a:rPr lang="en-US" sz="1200" b="1" dirty="0">
                <a:solidFill>
                  <a:srgbClr val="1F2D3D"/>
                </a:solidFill>
              </a:rPr>
              <a:t>Ranh giới ngập/không ngập</a:t>
            </a:r>
            <a:endParaRPr lang="en-US" sz="1200" dirty="0"/>
          </a:p>
        </p:txBody>
      </p:sp>
      <p:sp>
        <p:nvSpPr>
          <p:cNvPr id="16" name="Text 14"/>
          <p:cNvSpPr/>
          <p:nvPr/>
        </p:nvSpPr>
        <p:spPr>
          <a:xfrm>
            <a:off x="8595360" y="2514600"/>
            <a:ext cx="2743200" cy="822960"/>
          </a:xfrm>
          <a:prstGeom prst="rect">
            <a:avLst/>
          </a:prstGeom>
          <a:noFill/>
          <a:ln/>
        </p:spPr>
        <p:txBody>
          <a:bodyPr wrap="square" lIns="0" tIns="0" rIns="0" bIns="0" rtlCol="0" anchor="ctr">
            <a:normAutofit/>
          </a:bodyPr>
          <a:lstStyle/>
          <a:p>
            <a:pPr marL="0" indent="0">
              <a:buNone/>
            </a:pPr>
            <a:r>
              <a:rPr lang="en-US" sz="1000" dirty="0">
                <a:solidFill>
                  <a:srgbClr val="1F2D3D"/>
                </a:solidFill>
              </a:rPr>
              <a:t>RMSE điểm không ngập thấp nhất; phù hợp bài toán đô thị chi tiết, cần tránh báo động giả ở vùng khô.</a:t>
            </a:r>
            <a:endParaRPr lang="en-US" sz="1000" dirty="0"/>
          </a:p>
        </p:txBody>
      </p:sp>
      <p:sp>
        <p:nvSpPr>
          <p:cNvPr id="17" name="Shape 15"/>
          <p:cNvSpPr/>
          <p:nvPr/>
        </p:nvSpPr>
        <p:spPr>
          <a:xfrm>
            <a:off x="822960" y="4572000"/>
            <a:ext cx="10561320" cy="914400"/>
          </a:xfrm>
          <a:prstGeom prst="roundRect">
            <a:avLst>
              <a:gd name="adj" fmla="val 8000"/>
            </a:avLst>
          </a:prstGeom>
          <a:solidFill>
            <a:srgbClr val="F4F8FB"/>
          </a:solidFill>
          <a:ln w="12700">
            <a:solidFill>
              <a:srgbClr val="D6DEE6"/>
            </a:solidFill>
            <a:prstDash val="solid"/>
          </a:ln>
        </p:spPr>
        <p:txBody>
          <a:bodyPr/>
          <a:lstStyle/>
          <a:p>
            <a:endParaRPr lang="vi-VN"/>
          </a:p>
        </p:txBody>
      </p:sp>
      <p:sp>
        <p:nvSpPr>
          <p:cNvPr id="18" name="Text 16"/>
          <p:cNvSpPr/>
          <p:nvPr/>
        </p:nvSpPr>
        <p:spPr>
          <a:xfrm>
            <a:off x="1097280" y="4800600"/>
            <a:ext cx="2560320" cy="228600"/>
          </a:xfrm>
          <a:prstGeom prst="rect">
            <a:avLst/>
          </a:prstGeom>
          <a:noFill/>
          <a:ln/>
        </p:spPr>
        <p:txBody>
          <a:bodyPr wrap="square" lIns="0" tIns="0" rIns="0" bIns="0" rtlCol="0" anchor="ctr"/>
          <a:lstStyle/>
          <a:p>
            <a:pPr marL="0" indent="0">
              <a:buNone/>
            </a:pPr>
            <a:r>
              <a:rPr lang="en-US" sz="1300" b="1" dirty="0">
                <a:solidFill>
                  <a:srgbClr val="0B3C5D"/>
                </a:solidFill>
              </a:rPr>
              <a:t>Điểm nhất quán không gian</a:t>
            </a:r>
            <a:endParaRPr lang="en-US" sz="1300" dirty="0"/>
          </a:p>
        </p:txBody>
      </p:sp>
      <p:sp>
        <p:nvSpPr>
          <p:cNvPr id="19" name="Text 17"/>
          <p:cNvSpPr/>
          <p:nvPr/>
        </p:nvSpPr>
        <p:spPr>
          <a:xfrm>
            <a:off x="3566160" y="4800600"/>
            <a:ext cx="7543800" cy="292608"/>
          </a:xfrm>
          <a:prstGeom prst="rect">
            <a:avLst/>
          </a:prstGeom>
          <a:noFill/>
          <a:ln/>
        </p:spPr>
        <p:txBody>
          <a:bodyPr wrap="square" lIns="0" tIns="0" rIns="0" bIns="0" rtlCol="0" anchor="ctr">
            <a:normAutofit lnSpcReduction="10000"/>
          </a:bodyPr>
          <a:lstStyle/>
          <a:p>
            <a:pPr marL="0" indent="0">
              <a:buNone/>
            </a:pPr>
            <a:r>
              <a:rPr lang="en-US" sz="980" dirty="0">
                <a:solidFill>
                  <a:srgbClr val="1F2D3D"/>
                </a:solidFill>
              </a:rPr>
              <a:t>Cả ba mô hình đều nắm bắt các vùng ngập sâu dọc sông Hương, sông Bồ, sông Ô Lâu; vùng đầm phá Tam Giang – Cầu Hai; khu vực Hòa Duân; và vùng núi phía Tây gần như không ngập.</a:t>
            </a:r>
            <a:endParaRPr lang="en-US" sz="980" dirty="0"/>
          </a:p>
        </p:txBody>
      </p:sp>
      <p:sp>
        <p:nvSpPr>
          <p:cNvPr id="20" name="Shape 18"/>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1" name="Text 19"/>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2" name="Text 20"/>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29</a:t>
            </a:r>
            <a:endParaRPr lang="en-US" sz="850" dirty="0"/>
          </a:p>
        </p:txBody>
      </p:sp>
      <p:pic>
        <p:nvPicPr>
          <p:cNvPr id="24" name="Picture 23" descr="image1.png">
            <a:extLst>
              <a:ext uri="{FF2B5EF4-FFF2-40B4-BE49-F238E27FC236}">
                <a16:creationId xmlns:a16="http://schemas.microsoft.com/office/drawing/2014/main" id="{D26A2882-5BDB-FEA9-824F-AB78759A3367}"/>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Đóng góp tổng thể của đồ án</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4" name="Text 2"/>
          <p:cNvSpPr/>
          <p:nvPr/>
        </p:nvSpPr>
        <p:spPr>
          <a:xfrm>
            <a:off x="548640" y="868680"/>
            <a:ext cx="11064240" cy="228600"/>
          </a:xfrm>
          <a:prstGeom prst="rect">
            <a:avLst/>
          </a:prstGeom>
          <a:noFill/>
          <a:ln/>
        </p:spPr>
        <p:txBody>
          <a:bodyPr wrap="square" lIns="0" tIns="0" rIns="0" bIns="0" rtlCol="0" anchor="ctr"/>
          <a:lstStyle/>
          <a:p>
            <a:pPr marL="0" indent="0">
              <a:buNone/>
            </a:pPr>
            <a:r>
              <a:rPr lang="en-US" sz="1050" dirty="0">
                <a:solidFill>
                  <a:srgbClr val="5D6D7E"/>
                </a:solidFill>
              </a:rPr>
              <a:t>Kết hợp học máy với tri thức thủy văn để tạo sản phẩm bản đồ có khả năng ứng dụng.</a:t>
            </a:r>
            <a:endParaRPr lang="en-US" sz="1050" dirty="0"/>
          </a:p>
        </p:txBody>
      </p:sp>
      <p:sp>
        <p:nvSpPr>
          <p:cNvPr id="5" name="Shape 3"/>
          <p:cNvSpPr/>
          <p:nvPr/>
        </p:nvSpPr>
        <p:spPr>
          <a:xfrm>
            <a:off x="822960" y="1234440"/>
            <a:ext cx="5074920" cy="1508760"/>
          </a:xfrm>
          <a:prstGeom prst="roundRect">
            <a:avLst>
              <a:gd name="adj" fmla="val 4848"/>
            </a:avLst>
          </a:prstGeom>
          <a:solidFill>
            <a:srgbClr val="EAF3F8"/>
          </a:solidFill>
          <a:ln w="12700">
            <a:solidFill>
              <a:srgbClr val="D6DEE6"/>
            </a:solidFill>
            <a:prstDash val="solid"/>
          </a:ln>
        </p:spPr>
        <p:txBody>
          <a:bodyPr/>
          <a:lstStyle/>
          <a:p>
            <a:endParaRPr lang="vi-VN"/>
          </a:p>
        </p:txBody>
      </p:sp>
      <p:sp>
        <p:nvSpPr>
          <p:cNvPr id="6" name="Text 4"/>
          <p:cNvSpPr/>
          <p:nvPr/>
        </p:nvSpPr>
        <p:spPr>
          <a:xfrm>
            <a:off x="1005840" y="1463040"/>
            <a:ext cx="457200" cy="320040"/>
          </a:xfrm>
          <a:prstGeom prst="rect">
            <a:avLst/>
          </a:prstGeom>
          <a:noFill/>
          <a:ln/>
        </p:spPr>
        <p:txBody>
          <a:bodyPr wrap="square" lIns="0" tIns="0" rIns="0" bIns="0" rtlCol="0" anchor="ctr"/>
          <a:lstStyle/>
          <a:p>
            <a:pPr marL="0" indent="0" algn="ctr">
              <a:buNone/>
            </a:pPr>
            <a:r>
              <a:rPr lang="en-US" sz="2000" b="1" dirty="0">
                <a:solidFill>
                  <a:srgbClr val="0B3C5D"/>
                </a:solidFill>
              </a:rPr>
              <a:t>1</a:t>
            </a:r>
            <a:endParaRPr lang="en-US" sz="2000" dirty="0"/>
          </a:p>
        </p:txBody>
      </p:sp>
      <p:sp>
        <p:nvSpPr>
          <p:cNvPr id="7" name="Text 5"/>
          <p:cNvSpPr/>
          <p:nvPr/>
        </p:nvSpPr>
        <p:spPr>
          <a:xfrm>
            <a:off x="1645920" y="1463040"/>
            <a:ext cx="3749040" cy="274320"/>
          </a:xfrm>
          <a:prstGeom prst="rect">
            <a:avLst/>
          </a:prstGeom>
          <a:noFill/>
          <a:ln/>
        </p:spPr>
        <p:txBody>
          <a:bodyPr wrap="square" lIns="0" tIns="0" rIns="0" bIns="0" rtlCol="0" anchor="ctr"/>
          <a:lstStyle/>
          <a:p>
            <a:pPr marL="0" indent="0">
              <a:buNone/>
            </a:pPr>
            <a:r>
              <a:rPr lang="en-US" sz="1500" b="1" dirty="0">
                <a:solidFill>
                  <a:srgbClr val="1F2D3D"/>
                </a:solidFill>
              </a:rPr>
              <a:t>Bộ dữ liệu 31 đặc trưng</a:t>
            </a:r>
            <a:endParaRPr lang="en-US" sz="1500" dirty="0"/>
          </a:p>
        </p:txBody>
      </p:sp>
      <p:sp>
        <p:nvSpPr>
          <p:cNvPr id="8" name="Text 6"/>
          <p:cNvSpPr/>
          <p:nvPr/>
        </p:nvSpPr>
        <p:spPr>
          <a:xfrm>
            <a:off x="1645920" y="1920240"/>
            <a:ext cx="3749040" cy="411480"/>
          </a:xfrm>
          <a:prstGeom prst="rect">
            <a:avLst/>
          </a:prstGeom>
          <a:noFill/>
          <a:ln/>
        </p:spPr>
        <p:txBody>
          <a:bodyPr wrap="square" lIns="0" tIns="0" rIns="0" bIns="0" rtlCol="0" anchor="ctr">
            <a:normAutofit/>
          </a:bodyPr>
          <a:lstStyle/>
          <a:p>
            <a:pPr marL="0" indent="0">
              <a:buNone/>
            </a:pPr>
            <a:r>
              <a:rPr lang="en-US" sz="1080" dirty="0">
                <a:solidFill>
                  <a:srgbClr val="1F2D3D"/>
                </a:solidFill>
              </a:rPr>
              <a:t>16 biến gốc + 15 biến tương tác; chuẩn hóa 30 m trên toàn Huế.</a:t>
            </a:r>
            <a:endParaRPr lang="en-US" sz="1080" dirty="0"/>
          </a:p>
        </p:txBody>
      </p:sp>
      <p:sp>
        <p:nvSpPr>
          <p:cNvPr id="9" name="Shape 7"/>
          <p:cNvSpPr/>
          <p:nvPr/>
        </p:nvSpPr>
        <p:spPr>
          <a:xfrm>
            <a:off x="6309360" y="1234440"/>
            <a:ext cx="5074920" cy="1508760"/>
          </a:xfrm>
          <a:prstGeom prst="roundRect">
            <a:avLst>
              <a:gd name="adj" fmla="val 4848"/>
            </a:avLst>
          </a:prstGeom>
          <a:solidFill>
            <a:srgbClr val="EAF6EF"/>
          </a:solidFill>
          <a:ln w="12700">
            <a:solidFill>
              <a:srgbClr val="D6DEE6"/>
            </a:solidFill>
            <a:prstDash val="solid"/>
          </a:ln>
        </p:spPr>
        <p:txBody>
          <a:bodyPr/>
          <a:lstStyle/>
          <a:p>
            <a:endParaRPr lang="vi-VN"/>
          </a:p>
        </p:txBody>
      </p:sp>
      <p:sp>
        <p:nvSpPr>
          <p:cNvPr id="10" name="Text 8"/>
          <p:cNvSpPr/>
          <p:nvPr/>
        </p:nvSpPr>
        <p:spPr>
          <a:xfrm>
            <a:off x="6492240" y="1463040"/>
            <a:ext cx="457200" cy="320040"/>
          </a:xfrm>
          <a:prstGeom prst="rect">
            <a:avLst/>
          </a:prstGeom>
          <a:noFill/>
          <a:ln/>
        </p:spPr>
        <p:txBody>
          <a:bodyPr wrap="square" lIns="0" tIns="0" rIns="0" bIns="0" rtlCol="0" anchor="ctr"/>
          <a:lstStyle/>
          <a:p>
            <a:pPr marL="0" indent="0" algn="ctr">
              <a:buNone/>
            </a:pPr>
            <a:r>
              <a:rPr lang="en-US" sz="2000" b="1" dirty="0">
                <a:solidFill>
                  <a:srgbClr val="1D7A48"/>
                </a:solidFill>
              </a:rPr>
              <a:t>2</a:t>
            </a:r>
            <a:endParaRPr lang="en-US" sz="2000" dirty="0"/>
          </a:p>
        </p:txBody>
      </p:sp>
      <p:sp>
        <p:nvSpPr>
          <p:cNvPr id="11" name="Text 9"/>
          <p:cNvSpPr/>
          <p:nvPr/>
        </p:nvSpPr>
        <p:spPr>
          <a:xfrm>
            <a:off x="7132320" y="1463040"/>
            <a:ext cx="3749040" cy="274320"/>
          </a:xfrm>
          <a:prstGeom prst="rect">
            <a:avLst/>
          </a:prstGeom>
          <a:noFill/>
          <a:ln/>
        </p:spPr>
        <p:txBody>
          <a:bodyPr wrap="square" lIns="0" tIns="0" rIns="0" bIns="0" rtlCol="0" anchor="ctr"/>
          <a:lstStyle/>
          <a:p>
            <a:pPr marL="0" indent="0">
              <a:buNone/>
            </a:pPr>
            <a:r>
              <a:rPr lang="en-US" sz="1500" b="1" dirty="0">
                <a:solidFill>
                  <a:srgbClr val="1F2D3D"/>
                </a:solidFill>
              </a:rPr>
              <a:t>Physics-informed ML</a:t>
            </a:r>
            <a:endParaRPr lang="en-US" sz="1500" dirty="0"/>
          </a:p>
        </p:txBody>
      </p:sp>
      <p:sp>
        <p:nvSpPr>
          <p:cNvPr id="12" name="Text 10"/>
          <p:cNvSpPr/>
          <p:nvPr/>
        </p:nvSpPr>
        <p:spPr>
          <a:xfrm>
            <a:off x="7132320" y="1920240"/>
            <a:ext cx="3749040" cy="411480"/>
          </a:xfrm>
          <a:prstGeom prst="rect">
            <a:avLst/>
          </a:prstGeom>
          <a:noFill/>
          <a:ln/>
        </p:spPr>
        <p:txBody>
          <a:bodyPr wrap="square" lIns="0" tIns="0" rIns="0" bIns="0" rtlCol="0" anchor="ctr">
            <a:normAutofit/>
          </a:bodyPr>
          <a:lstStyle/>
          <a:p>
            <a:pPr marL="0" indent="0">
              <a:buNone/>
            </a:pPr>
            <a:r>
              <a:rPr lang="en-US" sz="1080" dirty="0">
                <a:solidFill>
                  <a:srgbClr val="1F2D3D"/>
                </a:solidFill>
              </a:rPr>
              <a:t>Manning n, biến tương tác thủy lực, 11 ràng buộc đơn điệu, hậu xử lý 4 vùng.</a:t>
            </a:r>
            <a:endParaRPr lang="en-US" sz="1080" dirty="0"/>
          </a:p>
        </p:txBody>
      </p:sp>
      <p:sp>
        <p:nvSpPr>
          <p:cNvPr id="13" name="Shape 11"/>
          <p:cNvSpPr/>
          <p:nvPr/>
        </p:nvSpPr>
        <p:spPr>
          <a:xfrm>
            <a:off x="822960" y="3291840"/>
            <a:ext cx="5074920" cy="1508760"/>
          </a:xfrm>
          <a:prstGeom prst="roundRect">
            <a:avLst>
              <a:gd name="adj" fmla="val 4848"/>
            </a:avLst>
          </a:prstGeom>
          <a:solidFill>
            <a:srgbClr val="EAF3F8"/>
          </a:solidFill>
          <a:ln w="12700">
            <a:solidFill>
              <a:srgbClr val="D6DEE6"/>
            </a:solidFill>
            <a:prstDash val="solid"/>
          </a:ln>
        </p:spPr>
        <p:txBody>
          <a:bodyPr/>
          <a:lstStyle/>
          <a:p>
            <a:endParaRPr lang="vi-VN"/>
          </a:p>
        </p:txBody>
      </p:sp>
      <p:sp>
        <p:nvSpPr>
          <p:cNvPr id="14" name="Text 12"/>
          <p:cNvSpPr/>
          <p:nvPr/>
        </p:nvSpPr>
        <p:spPr>
          <a:xfrm>
            <a:off x="1005840" y="3520440"/>
            <a:ext cx="457200" cy="320040"/>
          </a:xfrm>
          <a:prstGeom prst="rect">
            <a:avLst/>
          </a:prstGeom>
          <a:noFill/>
          <a:ln/>
        </p:spPr>
        <p:txBody>
          <a:bodyPr wrap="square" lIns="0" tIns="0" rIns="0" bIns="0" rtlCol="0" anchor="ctr"/>
          <a:lstStyle/>
          <a:p>
            <a:pPr marL="0" indent="0" algn="ctr">
              <a:buNone/>
            </a:pPr>
            <a:r>
              <a:rPr lang="en-US" sz="2000" b="1" dirty="0">
                <a:solidFill>
                  <a:srgbClr val="0B3C5D"/>
                </a:solidFill>
              </a:rPr>
              <a:t>3</a:t>
            </a:r>
            <a:endParaRPr lang="en-US" sz="2000" dirty="0"/>
          </a:p>
        </p:txBody>
      </p:sp>
      <p:sp>
        <p:nvSpPr>
          <p:cNvPr id="15" name="Text 13"/>
          <p:cNvSpPr/>
          <p:nvPr/>
        </p:nvSpPr>
        <p:spPr>
          <a:xfrm>
            <a:off x="1645920" y="3520440"/>
            <a:ext cx="3749040" cy="274320"/>
          </a:xfrm>
          <a:prstGeom prst="rect">
            <a:avLst/>
          </a:prstGeom>
          <a:noFill/>
          <a:ln/>
        </p:spPr>
        <p:txBody>
          <a:bodyPr wrap="square" lIns="0" tIns="0" rIns="0" bIns="0" rtlCol="0" anchor="ctr"/>
          <a:lstStyle/>
          <a:p>
            <a:pPr marL="0" indent="0">
              <a:buNone/>
            </a:pPr>
            <a:r>
              <a:rPr lang="en-US" sz="1500" b="1" dirty="0">
                <a:solidFill>
                  <a:srgbClr val="1F2D3D"/>
                </a:solidFill>
              </a:rPr>
              <a:t>So sánh 3 mô hình</a:t>
            </a:r>
            <a:endParaRPr lang="en-US" sz="1500" dirty="0"/>
          </a:p>
        </p:txBody>
      </p:sp>
      <p:sp>
        <p:nvSpPr>
          <p:cNvPr id="16" name="Text 14"/>
          <p:cNvSpPr/>
          <p:nvPr/>
        </p:nvSpPr>
        <p:spPr>
          <a:xfrm>
            <a:off x="1645920" y="3977640"/>
            <a:ext cx="3749040" cy="411480"/>
          </a:xfrm>
          <a:prstGeom prst="rect">
            <a:avLst/>
          </a:prstGeom>
          <a:noFill/>
          <a:ln/>
        </p:spPr>
        <p:txBody>
          <a:bodyPr wrap="square" lIns="0" tIns="0" rIns="0" bIns="0" rtlCol="0" anchor="ctr">
            <a:normAutofit/>
          </a:bodyPr>
          <a:lstStyle/>
          <a:p>
            <a:pPr marL="0" indent="0">
              <a:buNone/>
            </a:pPr>
            <a:r>
              <a:rPr lang="en-US" sz="1080" dirty="0">
                <a:solidFill>
                  <a:srgbClr val="1F2D3D"/>
                </a:solidFill>
              </a:rPr>
              <a:t>RF, XGB, DNN trên cùng dữ liệu, cùng metric, cùng sản phẩm bản đồ.</a:t>
            </a:r>
            <a:endParaRPr lang="en-US" sz="1080" dirty="0"/>
          </a:p>
        </p:txBody>
      </p:sp>
      <p:sp>
        <p:nvSpPr>
          <p:cNvPr id="17" name="Shape 15"/>
          <p:cNvSpPr/>
          <p:nvPr/>
        </p:nvSpPr>
        <p:spPr>
          <a:xfrm>
            <a:off x="6309360" y="3291840"/>
            <a:ext cx="5074920" cy="1508760"/>
          </a:xfrm>
          <a:prstGeom prst="roundRect">
            <a:avLst>
              <a:gd name="adj" fmla="val 4848"/>
            </a:avLst>
          </a:prstGeom>
          <a:solidFill>
            <a:srgbClr val="EAF6EF"/>
          </a:solidFill>
          <a:ln w="12700">
            <a:solidFill>
              <a:srgbClr val="D6DEE6"/>
            </a:solidFill>
            <a:prstDash val="solid"/>
          </a:ln>
        </p:spPr>
        <p:txBody>
          <a:bodyPr/>
          <a:lstStyle/>
          <a:p>
            <a:endParaRPr lang="vi-VN"/>
          </a:p>
        </p:txBody>
      </p:sp>
      <p:sp>
        <p:nvSpPr>
          <p:cNvPr id="18" name="Text 16"/>
          <p:cNvSpPr/>
          <p:nvPr/>
        </p:nvSpPr>
        <p:spPr>
          <a:xfrm>
            <a:off x="6492240" y="3520440"/>
            <a:ext cx="457200" cy="320040"/>
          </a:xfrm>
          <a:prstGeom prst="rect">
            <a:avLst/>
          </a:prstGeom>
          <a:noFill/>
          <a:ln/>
        </p:spPr>
        <p:txBody>
          <a:bodyPr wrap="square" lIns="0" tIns="0" rIns="0" bIns="0" rtlCol="0" anchor="ctr"/>
          <a:lstStyle/>
          <a:p>
            <a:pPr marL="0" indent="0" algn="ctr">
              <a:buNone/>
            </a:pPr>
            <a:r>
              <a:rPr lang="en-US" sz="2000" b="1" dirty="0">
                <a:solidFill>
                  <a:srgbClr val="1D7A48"/>
                </a:solidFill>
              </a:rPr>
              <a:t>4</a:t>
            </a:r>
            <a:endParaRPr lang="en-US" sz="2000" dirty="0"/>
          </a:p>
        </p:txBody>
      </p:sp>
      <p:sp>
        <p:nvSpPr>
          <p:cNvPr id="19" name="Text 17"/>
          <p:cNvSpPr/>
          <p:nvPr/>
        </p:nvSpPr>
        <p:spPr>
          <a:xfrm>
            <a:off x="7132320" y="3520440"/>
            <a:ext cx="3749040" cy="274320"/>
          </a:xfrm>
          <a:prstGeom prst="rect">
            <a:avLst/>
          </a:prstGeom>
          <a:noFill/>
          <a:ln/>
        </p:spPr>
        <p:txBody>
          <a:bodyPr wrap="square" lIns="0" tIns="0" rIns="0" bIns="0" rtlCol="0" anchor="ctr"/>
          <a:lstStyle/>
          <a:p>
            <a:pPr marL="0" indent="0">
              <a:buNone/>
            </a:pPr>
            <a:r>
              <a:rPr lang="en-US" sz="1500" b="1" dirty="0">
                <a:solidFill>
                  <a:srgbClr val="1F2D3D"/>
                </a:solidFill>
              </a:rPr>
              <a:t>Bản đồ sản phẩm</a:t>
            </a:r>
            <a:endParaRPr lang="en-US" sz="1500" dirty="0"/>
          </a:p>
        </p:txBody>
      </p:sp>
      <p:sp>
        <p:nvSpPr>
          <p:cNvPr id="20" name="Text 18"/>
          <p:cNvSpPr/>
          <p:nvPr/>
        </p:nvSpPr>
        <p:spPr>
          <a:xfrm>
            <a:off x="7132320" y="3977640"/>
            <a:ext cx="3749040" cy="411480"/>
          </a:xfrm>
          <a:prstGeom prst="rect">
            <a:avLst/>
          </a:prstGeom>
          <a:noFill/>
          <a:ln/>
        </p:spPr>
        <p:txBody>
          <a:bodyPr wrap="square" lIns="0" tIns="0" rIns="0" bIns="0" rtlCol="0" anchor="ctr">
            <a:normAutofit/>
          </a:bodyPr>
          <a:lstStyle/>
          <a:p>
            <a:pPr marL="0" indent="0">
              <a:buNone/>
            </a:pPr>
            <a:r>
              <a:rPr lang="en-US" sz="1080" dirty="0">
                <a:solidFill>
                  <a:srgbClr val="1F2D3D"/>
                </a:solidFill>
              </a:rPr>
              <a:t>Bản đồ độ sâu liên tục và phân vùng 6 cấp 30 m, hỗ trợ quy hoạch và phòng chống thiên tai.</a:t>
            </a:r>
            <a:endParaRPr lang="en-US" sz="1080" dirty="0"/>
          </a:p>
        </p:txBody>
      </p:sp>
      <p:sp>
        <p:nvSpPr>
          <p:cNvPr id="21" name="Shape 19"/>
          <p:cNvSpPr/>
          <p:nvPr/>
        </p:nvSpPr>
        <p:spPr>
          <a:xfrm>
            <a:off x="822960" y="5486400"/>
            <a:ext cx="10561320" cy="512064"/>
          </a:xfrm>
          <a:prstGeom prst="roundRect">
            <a:avLst>
              <a:gd name="adj" fmla="val 14286"/>
            </a:avLst>
          </a:prstGeom>
          <a:solidFill>
            <a:srgbClr val="FFF3E8"/>
          </a:solidFill>
          <a:ln w="12700">
            <a:solidFill>
              <a:srgbClr val="D6DEE6"/>
            </a:solidFill>
            <a:prstDash val="solid"/>
          </a:ln>
        </p:spPr>
        <p:txBody>
          <a:bodyPr/>
          <a:lstStyle/>
          <a:p>
            <a:endParaRPr lang="vi-VN"/>
          </a:p>
        </p:txBody>
      </p:sp>
      <p:sp>
        <p:nvSpPr>
          <p:cNvPr id="22" name="Text 20"/>
          <p:cNvSpPr/>
          <p:nvPr/>
        </p:nvSpPr>
        <p:spPr>
          <a:xfrm>
            <a:off x="1051560" y="5650992"/>
            <a:ext cx="10058400" cy="164592"/>
          </a:xfrm>
          <a:prstGeom prst="rect">
            <a:avLst/>
          </a:prstGeom>
          <a:noFill/>
          <a:ln/>
        </p:spPr>
        <p:txBody>
          <a:bodyPr wrap="square" lIns="0" tIns="0" rIns="0" bIns="0" rtlCol="0" anchor="ctr">
            <a:normAutofit/>
          </a:bodyPr>
          <a:lstStyle/>
          <a:p>
            <a:pPr marL="0" indent="0">
              <a:buNone/>
            </a:pPr>
            <a:r>
              <a:rPr lang="en-US" sz="920" dirty="0">
                <a:solidFill>
                  <a:srgbClr val="1F2D3D"/>
                </a:solidFill>
              </a:rPr>
              <a:t>Kết luận định lượng: Random Forest đạt R²=0,8946 và RMSE=0,267 m; cả ba mô hình đều đạt R² &gt; 0,88, khẳng định tính ổn định của khung phương pháp.</a:t>
            </a:r>
            <a:endParaRPr lang="en-US" sz="920" dirty="0"/>
          </a:p>
        </p:txBody>
      </p:sp>
      <p:sp>
        <p:nvSpPr>
          <p:cNvPr id="23" name="Shape 21"/>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24" name="Text 22"/>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25" name="Text 23"/>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30</a:t>
            </a:r>
            <a:endParaRPr lang="en-US" sz="850" dirty="0"/>
          </a:p>
        </p:txBody>
      </p:sp>
      <p:pic>
        <p:nvPicPr>
          <p:cNvPr id="27" name="Picture 26" descr="image1.png">
            <a:extLst>
              <a:ext uri="{FF2B5EF4-FFF2-40B4-BE49-F238E27FC236}">
                <a16:creationId xmlns:a16="http://schemas.microsoft.com/office/drawing/2014/main" id="{AF68A6A3-16A3-A994-2D7F-4AD2C35DD7C4}"/>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972800" cy="411480"/>
          </a:xfrm>
          <a:prstGeom prst="rect">
            <a:avLst/>
          </a:prstGeom>
          <a:noFill/>
          <a:ln/>
        </p:spPr>
        <p:txBody>
          <a:bodyPr wrap="square" lIns="0" tIns="0" rIns="0" bIns="0" rtlCol="0" anchor="ctr"/>
          <a:lstStyle/>
          <a:p>
            <a:pPr marL="0" indent="0">
              <a:buNone/>
            </a:pPr>
            <a:r>
              <a:rPr lang="en-US" sz="2400" b="1" dirty="0">
                <a:solidFill>
                  <a:srgbClr val="0B3C5D"/>
                </a:solidFill>
              </a:rPr>
              <a:t>Hạn chế và hướng phát triển</a:t>
            </a:r>
            <a:endParaRPr lang="en-US" sz="2400" dirty="0"/>
          </a:p>
        </p:txBody>
      </p:sp>
      <p:sp>
        <p:nvSpPr>
          <p:cNvPr id="3" name="Shape 1"/>
          <p:cNvSpPr/>
          <p:nvPr/>
        </p:nvSpPr>
        <p:spPr>
          <a:xfrm>
            <a:off x="548640" y="786384"/>
            <a:ext cx="1828800" cy="0"/>
          </a:xfrm>
          <a:prstGeom prst="line">
            <a:avLst/>
          </a:prstGeom>
          <a:noFill/>
          <a:ln w="38100">
            <a:solidFill>
              <a:srgbClr val="E87E22"/>
            </a:solidFill>
            <a:prstDash val="solid"/>
          </a:ln>
        </p:spPr>
        <p:txBody>
          <a:bodyPr/>
          <a:lstStyle/>
          <a:p>
            <a:endParaRPr lang="vi-VN"/>
          </a:p>
        </p:txBody>
      </p:sp>
      <p:sp>
        <p:nvSpPr>
          <p:cNvPr id="5" name="Shape 3"/>
          <p:cNvSpPr/>
          <p:nvPr/>
        </p:nvSpPr>
        <p:spPr>
          <a:xfrm>
            <a:off x="685800" y="1143000"/>
            <a:ext cx="5166360" cy="4480560"/>
          </a:xfrm>
          <a:prstGeom prst="roundRect">
            <a:avLst>
              <a:gd name="adj" fmla="val 1633"/>
            </a:avLst>
          </a:prstGeom>
          <a:solidFill>
            <a:srgbClr val="FFF0F0"/>
          </a:solidFill>
          <a:ln w="12700">
            <a:solidFill>
              <a:srgbClr val="D6DEE6"/>
            </a:solidFill>
            <a:prstDash val="solid"/>
          </a:ln>
        </p:spPr>
        <p:txBody>
          <a:bodyPr/>
          <a:lstStyle/>
          <a:p>
            <a:endParaRPr lang="vi-VN"/>
          </a:p>
        </p:txBody>
      </p:sp>
      <p:sp>
        <p:nvSpPr>
          <p:cNvPr id="6" name="Text 4"/>
          <p:cNvSpPr/>
          <p:nvPr/>
        </p:nvSpPr>
        <p:spPr>
          <a:xfrm>
            <a:off x="960120" y="1417320"/>
            <a:ext cx="4480560" cy="320040"/>
          </a:xfrm>
          <a:prstGeom prst="rect">
            <a:avLst/>
          </a:prstGeom>
          <a:noFill/>
          <a:ln/>
        </p:spPr>
        <p:txBody>
          <a:bodyPr wrap="square" lIns="0" tIns="0" rIns="0" bIns="0" rtlCol="0" anchor="ctr"/>
          <a:lstStyle/>
          <a:p>
            <a:pPr marL="0" indent="0">
              <a:buNone/>
            </a:pPr>
            <a:r>
              <a:rPr lang="en-US" sz="1800" b="1" dirty="0">
                <a:solidFill>
                  <a:srgbClr val="B03A2E"/>
                </a:solidFill>
              </a:rPr>
              <a:t>Hạn chế</a:t>
            </a:r>
            <a:endParaRPr lang="en-US" sz="1800" dirty="0"/>
          </a:p>
        </p:txBody>
      </p:sp>
      <p:sp>
        <p:nvSpPr>
          <p:cNvPr id="7" name="Text 5"/>
          <p:cNvSpPr/>
          <p:nvPr/>
        </p:nvSpPr>
        <p:spPr>
          <a:xfrm>
            <a:off x="1005840" y="1920240"/>
            <a:ext cx="4434840" cy="1965960"/>
          </a:xfrm>
          <a:prstGeom prst="rect">
            <a:avLst/>
          </a:prstGeom>
          <a:noFill/>
          <a:ln/>
        </p:spPr>
        <p:txBody>
          <a:bodyPr wrap="square" lIns="762" tIns="762" rIns="762" bIns="762" rtlCol="0" anchor="ctr">
            <a:normAutofit/>
          </a:bodyPr>
          <a:lstStyle/>
          <a:p>
            <a:r>
              <a:rPr lang="en-US" sz="1100" dirty="0">
                <a:solidFill>
                  <a:srgbClr val="1F2D3D"/>
                </a:solidFill>
              </a:rPr>
              <a:t>Dữ liệu vết lũ chỉ phản ánh một sự kiện 1999.</a:t>
            </a:r>
            <a:endParaRPr lang="en-US" sz="1100" dirty="0"/>
          </a:p>
          <a:p>
            <a:r>
              <a:rPr lang="en-US" sz="1100" dirty="0">
                <a:solidFill>
                  <a:srgbClr val="1F2D3D"/>
                </a:solidFill>
              </a:rPr>
              <a:t>Phân bố điểm khảo sát không đều; nhiều điểm không ngập.</a:t>
            </a:r>
            <a:endParaRPr lang="en-US" sz="1100" dirty="0"/>
          </a:p>
          <a:p>
            <a:r>
              <a:rPr lang="en-US" sz="1100" dirty="0">
                <a:solidFill>
                  <a:srgbClr val="1F2D3D"/>
                </a:solidFill>
              </a:rPr>
              <a:t>Dữ liệu mưa là tổng tích lũy, chưa mô tả diễn biến thời gian.</a:t>
            </a:r>
            <a:endParaRPr lang="en-US" sz="1100" dirty="0"/>
          </a:p>
          <a:p>
            <a:r>
              <a:rPr lang="en-US" sz="1100" dirty="0">
                <a:solidFill>
                  <a:srgbClr val="1F2D3D"/>
                </a:solidFill>
              </a:rPr>
              <a:t>Regression to the mean làm giảm độ chính xác ở cấp trung gian và cực đoan.</a:t>
            </a:r>
            <a:endParaRPr lang="en-US" sz="1100" dirty="0"/>
          </a:p>
          <a:p>
            <a:r>
              <a:rPr lang="en-US" sz="1100" dirty="0">
                <a:solidFill>
                  <a:srgbClr val="1F2D3D"/>
                </a:solidFill>
              </a:rPr>
              <a:t>DNN chưa phát huy ưu thế do dữ liệu bảng nhỏ.</a:t>
            </a:r>
            <a:endParaRPr lang="en-US" sz="1100" dirty="0"/>
          </a:p>
        </p:txBody>
      </p:sp>
      <p:sp>
        <p:nvSpPr>
          <p:cNvPr id="8" name="Shape 6"/>
          <p:cNvSpPr/>
          <p:nvPr/>
        </p:nvSpPr>
        <p:spPr>
          <a:xfrm>
            <a:off x="6309360" y="1143000"/>
            <a:ext cx="5166360" cy="4480560"/>
          </a:xfrm>
          <a:prstGeom prst="roundRect">
            <a:avLst>
              <a:gd name="adj" fmla="val 1633"/>
            </a:avLst>
          </a:prstGeom>
          <a:solidFill>
            <a:srgbClr val="EAF6EF"/>
          </a:solidFill>
          <a:ln w="12700">
            <a:solidFill>
              <a:srgbClr val="D6DEE6"/>
            </a:solidFill>
            <a:prstDash val="solid"/>
          </a:ln>
        </p:spPr>
        <p:txBody>
          <a:bodyPr/>
          <a:lstStyle/>
          <a:p>
            <a:endParaRPr lang="vi-VN"/>
          </a:p>
        </p:txBody>
      </p:sp>
      <p:sp>
        <p:nvSpPr>
          <p:cNvPr id="9" name="Text 7"/>
          <p:cNvSpPr/>
          <p:nvPr/>
        </p:nvSpPr>
        <p:spPr>
          <a:xfrm>
            <a:off x="6583680" y="1417320"/>
            <a:ext cx="4480560" cy="320040"/>
          </a:xfrm>
          <a:prstGeom prst="rect">
            <a:avLst/>
          </a:prstGeom>
          <a:noFill/>
          <a:ln/>
        </p:spPr>
        <p:txBody>
          <a:bodyPr wrap="square" lIns="0" tIns="0" rIns="0" bIns="0" rtlCol="0" anchor="ctr"/>
          <a:lstStyle/>
          <a:p>
            <a:pPr marL="0" indent="0">
              <a:buNone/>
            </a:pPr>
            <a:r>
              <a:rPr lang="en-US" sz="1800" b="1" dirty="0">
                <a:solidFill>
                  <a:srgbClr val="1D7A48"/>
                </a:solidFill>
              </a:rPr>
              <a:t>Hướng phát triển</a:t>
            </a:r>
            <a:endParaRPr lang="en-US" sz="1800" dirty="0"/>
          </a:p>
        </p:txBody>
      </p:sp>
      <p:sp>
        <p:nvSpPr>
          <p:cNvPr id="10" name="Text 8"/>
          <p:cNvSpPr/>
          <p:nvPr/>
        </p:nvSpPr>
        <p:spPr>
          <a:xfrm>
            <a:off x="6629400" y="1920240"/>
            <a:ext cx="4434840" cy="1965960"/>
          </a:xfrm>
          <a:prstGeom prst="rect">
            <a:avLst/>
          </a:prstGeom>
          <a:noFill/>
          <a:ln/>
        </p:spPr>
        <p:txBody>
          <a:bodyPr wrap="square" lIns="762" tIns="762" rIns="762" bIns="762" rtlCol="0" anchor="ctr">
            <a:normAutofit/>
          </a:bodyPr>
          <a:lstStyle/>
          <a:p>
            <a:r>
              <a:rPr lang="en-US" sz="1100" dirty="0">
                <a:solidFill>
                  <a:srgbClr val="1F2D3D"/>
                </a:solidFill>
              </a:rPr>
              <a:t>Bổ sung vết lũ các năm 2007, 2017, 2020.</a:t>
            </a:r>
            <a:endParaRPr lang="en-US" sz="1100" dirty="0"/>
          </a:p>
          <a:p>
            <a:r>
              <a:rPr lang="en-US" sz="1100" dirty="0">
                <a:solidFill>
                  <a:srgbClr val="1F2D3D"/>
                </a:solidFill>
              </a:rPr>
              <a:t>Kết hợp Sentinel-1 SAR sau lũ để mở rộng nhãn không gian.</a:t>
            </a:r>
            <a:endParaRPr lang="en-US" sz="1100" dirty="0"/>
          </a:p>
          <a:p>
            <a:r>
              <a:rPr lang="en-US" sz="1100" dirty="0">
                <a:solidFill>
                  <a:srgbClr val="1F2D3D"/>
                </a:solidFill>
              </a:rPr>
              <a:t>Phát triển ensemble tận dụng ưu thế RF/XGB/DNN theo từng cấp ngập.</a:t>
            </a:r>
            <a:endParaRPr lang="en-US" sz="1100" dirty="0"/>
          </a:p>
          <a:p>
            <a:r>
              <a:rPr lang="en-US" sz="1100" dirty="0">
                <a:solidFill>
                  <a:srgbClr val="1F2D3D"/>
                </a:solidFill>
              </a:rPr>
              <a:t>Tích hợp mưa thời gian thực cho cảnh báo sớm.</a:t>
            </a:r>
            <a:endParaRPr lang="en-US" sz="1100" dirty="0"/>
          </a:p>
          <a:p>
            <a:r>
              <a:rPr lang="en-US" sz="1100" dirty="0">
                <a:solidFill>
                  <a:srgbClr val="1F2D3D"/>
                </a:solidFill>
              </a:rPr>
              <a:t>Nhân rộng cho các lưu vực miền Trung: Vu Gia–Thu Bồn, sông Cả, sông Ba.</a:t>
            </a:r>
            <a:endParaRPr lang="en-US" sz="1100" dirty="0"/>
          </a:p>
        </p:txBody>
      </p:sp>
      <p:sp>
        <p:nvSpPr>
          <p:cNvPr id="11" name="Shape 9"/>
          <p:cNvSpPr/>
          <p:nvPr/>
        </p:nvSpPr>
        <p:spPr>
          <a:xfrm>
            <a:off x="502920" y="6510528"/>
            <a:ext cx="11201400" cy="0"/>
          </a:xfrm>
          <a:prstGeom prst="line">
            <a:avLst/>
          </a:prstGeom>
          <a:noFill/>
          <a:ln w="12700">
            <a:solidFill>
              <a:srgbClr val="D8E2EA"/>
            </a:solidFill>
            <a:prstDash val="solid"/>
          </a:ln>
        </p:spPr>
        <p:txBody>
          <a:bodyPr/>
          <a:lstStyle/>
          <a:p>
            <a:endParaRPr lang="vi-VN"/>
          </a:p>
        </p:txBody>
      </p:sp>
      <p:sp>
        <p:nvSpPr>
          <p:cNvPr id="12" name="Text 10"/>
          <p:cNvSpPr/>
          <p:nvPr/>
        </p:nvSpPr>
        <p:spPr>
          <a:xfrm>
            <a:off x="548640" y="6565392"/>
            <a:ext cx="7955280" cy="164592"/>
          </a:xfrm>
          <a:prstGeom prst="rect">
            <a:avLst/>
          </a:prstGeom>
          <a:noFill/>
          <a:ln/>
        </p:spPr>
        <p:txBody>
          <a:bodyPr wrap="square" rtlCol="0" anchor="ctr"/>
          <a:lstStyle/>
          <a:p>
            <a:pPr marL="0" indent="0">
              <a:buNone/>
            </a:pPr>
            <a:r>
              <a:rPr lang="en-US" sz="750" dirty="0">
                <a:solidFill>
                  <a:srgbClr val="5D6D7E"/>
                </a:solidFill>
              </a:rPr>
              <a:t>DATN | Viễn thám + GIS + Học máy cho bản đồ độ sâu ngập lụt Huế</a:t>
            </a:r>
            <a:endParaRPr lang="en-US" sz="750" dirty="0"/>
          </a:p>
        </p:txBody>
      </p:sp>
      <p:sp>
        <p:nvSpPr>
          <p:cNvPr id="13" name="Text 11"/>
          <p:cNvSpPr/>
          <p:nvPr/>
        </p:nvSpPr>
        <p:spPr>
          <a:xfrm>
            <a:off x="11201400" y="6519672"/>
            <a:ext cx="502920" cy="228600"/>
          </a:xfrm>
          <a:prstGeom prst="rect">
            <a:avLst/>
          </a:prstGeom>
          <a:noFill/>
          <a:ln/>
        </p:spPr>
        <p:txBody>
          <a:bodyPr wrap="square" rtlCol="0" anchor="ctr"/>
          <a:lstStyle/>
          <a:p>
            <a:pPr marL="0" indent="0" algn="r">
              <a:buNone/>
            </a:pPr>
            <a:r>
              <a:rPr lang="en-US" sz="850" dirty="0">
                <a:solidFill>
                  <a:srgbClr val="5D6D7E"/>
                </a:solidFill>
              </a:rPr>
              <a:t>31</a:t>
            </a:r>
            <a:endParaRPr lang="en-US" sz="850" dirty="0"/>
          </a:p>
        </p:txBody>
      </p:sp>
      <p:pic>
        <p:nvPicPr>
          <p:cNvPr id="15" name="Picture 14" descr="image1.png">
            <a:extLst>
              <a:ext uri="{FF2B5EF4-FFF2-40B4-BE49-F238E27FC236}">
                <a16:creationId xmlns:a16="http://schemas.microsoft.com/office/drawing/2014/main" id="{1A8FDC9B-10C7-2A5A-E118-D10C4AB36BA5}"/>
              </a:ext>
            </a:extLst>
          </p:cNvPr>
          <p:cNvPicPr>
            <a:picLocks noChangeAspect="1"/>
          </p:cNvPicPr>
          <p:nvPr/>
        </p:nvPicPr>
        <p:blipFill>
          <a:blip r:embed="rId3"/>
          <a:stretch>
            <a:fillRect/>
          </a:stretch>
        </p:blipFill>
        <p:spPr>
          <a:xfrm>
            <a:off x="10945732" y="324612"/>
            <a:ext cx="384048" cy="3840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C5D"/>
        </a:solidFill>
        <a:effectLst/>
      </p:bgPr>
    </p:bg>
    <p:spTree>
      <p:nvGrpSpPr>
        <p:cNvPr id="1" name=""/>
        <p:cNvGrpSpPr/>
        <p:nvPr/>
      </p:nvGrpSpPr>
      <p:grpSpPr>
        <a:xfrm>
          <a:off x="0" y="0"/>
          <a:ext cx="0" cy="0"/>
          <a:chOff x="0" y="0"/>
          <a:chExt cx="0" cy="0"/>
        </a:xfrm>
      </p:grpSpPr>
      <p:sp>
        <p:nvSpPr>
          <p:cNvPr id="2" name="Text 0"/>
          <p:cNvSpPr/>
          <p:nvPr/>
        </p:nvSpPr>
        <p:spPr>
          <a:xfrm>
            <a:off x="1074420" y="3154680"/>
            <a:ext cx="10789920" cy="548640"/>
          </a:xfrm>
          <a:prstGeom prst="rect">
            <a:avLst/>
          </a:prstGeom>
          <a:noFill/>
          <a:ln/>
        </p:spPr>
        <p:txBody>
          <a:bodyPr wrap="square" lIns="0" tIns="0" rIns="0" bIns="0" rtlCol="0" anchor="ctr"/>
          <a:lstStyle/>
          <a:p>
            <a:pPr marL="0" indent="0" algn="ctr">
              <a:buNone/>
            </a:pPr>
            <a:r>
              <a:rPr lang="en-US" sz="3000" b="1" dirty="0">
                <a:solidFill>
                  <a:srgbClr val="FFFFFF"/>
                </a:solidFill>
              </a:rPr>
              <a:t>Xin cảm ơn thầy/cô và hội đồng đã lắng nghe</a:t>
            </a:r>
            <a:endParaRPr lang="en-US" sz="3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6593</TotalTime>
  <Words>9499</Words>
  <Application>Microsoft Office PowerPoint</Application>
  <PresentationFormat>Widescreen</PresentationFormat>
  <Paragraphs>723</Paragraphs>
  <Slides>32</Slides>
  <Notes>32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32</vt:i4>
      </vt:variant>
    </vt:vector>
  </HeadingPairs>
  <TitlesOfParts>
    <vt:vector size="3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VNU-UET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ứng dụng viễn thám và học máy trong thành lập bản đồ độ sâu ngập lụt tại Thừa Thiên Huế</dc:title>
  <dc:subject>DATN - Flood depth mapping Hue</dc:subject>
  <dc:creator>ChatGPT</dc:creator>
  <cp:lastModifiedBy>Sơn Nguyễn Tư</cp:lastModifiedBy>
  <cp:revision>2</cp:revision>
  <dcterms:created xsi:type="dcterms:W3CDTF">2026-05-29T16:48:06Z</dcterms:created>
  <dcterms:modified xsi:type="dcterms:W3CDTF">2026-06-04T03:07:11Z</dcterms:modified>
</cp:coreProperties>
</file>